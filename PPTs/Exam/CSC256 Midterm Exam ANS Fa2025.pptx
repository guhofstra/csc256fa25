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4"/>
  </p:notesMasterIdLst>
  <p:handoutMasterIdLst>
    <p:handoutMasterId r:id="rId25"/>
  </p:handoutMasterIdLst>
  <p:sldIdLst>
    <p:sldId id="256" r:id="rId2"/>
    <p:sldId id="1510" r:id="rId3"/>
    <p:sldId id="257" r:id="rId4"/>
    <p:sldId id="258" r:id="rId5"/>
    <p:sldId id="259" r:id="rId6"/>
    <p:sldId id="1944" r:id="rId7"/>
    <p:sldId id="1941" r:id="rId8"/>
    <p:sldId id="1942" r:id="rId9"/>
    <p:sldId id="1951" r:id="rId10"/>
    <p:sldId id="1945" r:id="rId11"/>
    <p:sldId id="830" r:id="rId12"/>
    <p:sldId id="828" r:id="rId13"/>
    <p:sldId id="1514" r:id="rId14"/>
    <p:sldId id="1520" r:id="rId15"/>
    <p:sldId id="1521" r:id="rId16"/>
    <p:sldId id="1519" r:id="rId17"/>
    <p:sldId id="1388" r:id="rId18"/>
    <p:sldId id="1943" r:id="rId19"/>
    <p:sldId id="1955" r:id="rId20"/>
    <p:sldId id="1953" r:id="rId21"/>
    <p:sldId id="1518" r:id="rId22"/>
    <p:sldId id="1954" r:id="rId23"/>
  </p:sldIdLst>
  <p:sldSz cx="12192000" cy="6858000"/>
  <p:notesSz cx="9296400" cy="70104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CFFBC"/>
    <a:srgbClr val="FFFFAA"/>
    <a:srgbClr val="FF0000"/>
    <a:srgbClr val="2A40E2"/>
    <a:srgbClr val="F430AB"/>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F51AA5-3D47-4A46-A90D-AD83A45BAE63}" v="16" dt="2025-11-07T01:54:05.8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60" autoAdjust="0"/>
    <p:restoredTop sz="92680" autoAdjust="0"/>
  </p:normalViewPr>
  <p:slideViewPr>
    <p:cSldViewPr>
      <p:cViewPr varScale="1">
        <p:scale>
          <a:sx n="74" d="100"/>
          <a:sy n="74" d="100"/>
        </p:scale>
        <p:origin x="1195" y="5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modSld">
      <pc:chgData name="Zonghua Gu" userId="9a7e1853e1951ef5" providerId="LiveId" clId="{CF1FAA12-072C-4ED5-BA76-0FFFAEFDB88A}" dt="2025-11-07T01:54:40.409" v="749" actId="20577"/>
      <pc:docMkLst>
        <pc:docMk/>
      </pc:docMkLst>
      <pc:sldChg chg="modSp mod">
        <pc:chgData name="Zonghua Gu" userId="9a7e1853e1951ef5" providerId="LiveId" clId="{CF1FAA12-072C-4ED5-BA76-0FFFAEFDB88A}" dt="2025-11-07T01:29:31.975" v="43" actId="20577"/>
        <pc:sldMkLst>
          <pc:docMk/>
          <pc:sldMk cId="9792113" sldId="828"/>
        </pc:sldMkLst>
        <pc:spChg chg="mod">
          <ac:chgData name="Zonghua Gu" userId="9a7e1853e1951ef5" providerId="LiveId" clId="{CF1FAA12-072C-4ED5-BA76-0FFFAEFDB88A}" dt="2025-11-07T01:29:31.975" v="43" actId="20577"/>
          <ac:spMkLst>
            <pc:docMk/>
            <pc:sldMk cId="9792113" sldId="828"/>
            <ac:spMk id="3" creationId="{9BAD4A21-F929-CC23-D968-3DA8ADD1DDCB}"/>
          </ac:spMkLst>
        </pc:spChg>
      </pc:sldChg>
      <pc:sldChg chg="modAnim">
        <pc:chgData name="Zonghua Gu" userId="9a7e1853e1951ef5" providerId="LiveId" clId="{CF1FAA12-072C-4ED5-BA76-0FFFAEFDB88A}" dt="2025-11-07T01:34:57.730" v="47"/>
        <pc:sldMkLst>
          <pc:docMk/>
          <pc:sldMk cId="212751999" sldId="1519"/>
        </pc:sldMkLst>
      </pc:sldChg>
      <pc:sldChg chg="modSp mod modAnim">
        <pc:chgData name="Zonghua Gu" userId="9a7e1853e1951ef5" providerId="LiveId" clId="{CF1FAA12-072C-4ED5-BA76-0FFFAEFDB88A}" dt="2025-11-07T01:34:33.633" v="46" actId="20577"/>
        <pc:sldMkLst>
          <pc:docMk/>
          <pc:sldMk cId="3363036423" sldId="1521"/>
        </pc:sldMkLst>
        <pc:graphicFrameChg chg="modGraphic">
          <ac:chgData name="Zonghua Gu" userId="9a7e1853e1951ef5" providerId="LiveId" clId="{CF1FAA12-072C-4ED5-BA76-0FFFAEFDB88A}" dt="2025-11-07T01:34:33.633" v="46" actId="20577"/>
          <ac:graphicFrameMkLst>
            <pc:docMk/>
            <pc:sldMk cId="3363036423" sldId="1521"/>
            <ac:graphicFrameMk id="4" creationId="{CC37D77F-3A63-7624-0A7B-7739CA265D3A}"/>
          </ac:graphicFrameMkLst>
        </pc:graphicFrameChg>
      </pc:sldChg>
      <pc:sldChg chg="modSp modAnim">
        <pc:chgData name="Zonghua Gu" userId="9a7e1853e1951ef5" providerId="LiveId" clId="{CF1FAA12-072C-4ED5-BA76-0FFFAEFDB88A}" dt="2025-11-07T01:19:22.153" v="2" actId="20577"/>
        <pc:sldMkLst>
          <pc:docMk/>
          <pc:sldMk cId="377256174" sldId="1941"/>
        </pc:sldMkLst>
        <pc:spChg chg="mod">
          <ac:chgData name="Zonghua Gu" userId="9a7e1853e1951ef5" providerId="LiveId" clId="{CF1FAA12-072C-4ED5-BA76-0FFFAEFDB88A}" dt="2025-11-07T01:19:22.153" v="2" actId="20577"/>
          <ac:spMkLst>
            <pc:docMk/>
            <pc:sldMk cId="377256174" sldId="1941"/>
            <ac:spMk id="3" creationId="{A2D4A8DF-2551-B17A-1DFD-236C7D20D06C}"/>
          </ac:spMkLst>
        </pc:spChg>
      </pc:sldChg>
      <pc:sldChg chg="modSp modAnim">
        <pc:chgData name="Zonghua Gu" userId="9a7e1853e1951ef5" providerId="LiveId" clId="{CF1FAA12-072C-4ED5-BA76-0FFFAEFDB88A}" dt="2025-11-07T01:23:04.243" v="6" actId="20577"/>
        <pc:sldMkLst>
          <pc:docMk/>
          <pc:sldMk cId="3099694428" sldId="1942"/>
        </pc:sldMkLst>
        <pc:spChg chg="mod">
          <ac:chgData name="Zonghua Gu" userId="9a7e1853e1951ef5" providerId="LiveId" clId="{CF1FAA12-072C-4ED5-BA76-0FFFAEFDB88A}" dt="2025-11-07T01:23:04.243" v="6" actId="20577"/>
          <ac:spMkLst>
            <pc:docMk/>
            <pc:sldMk cId="3099694428" sldId="1942"/>
            <ac:spMk id="3" creationId="{0AF0BEC8-B3C8-C86A-BBB9-6ED783266165}"/>
          </ac:spMkLst>
        </pc:spChg>
      </pc:sldChg>
      <pc:sldChg chg="modAnim">
        <pc:chgData name="Zonghua Gu" userId="9a7e1853e1951ef5" providerId="LiveId" clId="{CF1FAA12-072C-4ED5-BA76-0FFFAEFDB88A}" dt="2025-11-07T01:16:17.181" v="0"/>
        <pc:sldMkLst>
          <pc:docMk/>
          <pc:sldMk cId="643803386" sldId="1944"/>
        </pc:sldMkLst>
      </pc:sldChg>
      <pc:sldChg chg="modAnim">
        <pc:chgData name="Zonghua Gu" userId="9a7e1853e1951ef5" providerId="LiveId" clId="{CF1FAA12-072C-4ED5-BA76-0FFFAEFDB88A}" dt="2025-11-07T01:23:17.165" v="7"/>
        <pc:sldMkLst>
          <pc:docMk/>
          <pc:sldMk cId="128449390" sldId="1945"/>
        </pc:sldMkLst>
      </pc:sldChg>
      <pc:sldChg chg="modSp modAnim">
        <pc:chgData name="Zonghua Gu" userId="9a7e1853e1951ef5" providerId="LiveId" clId="{CF1FAA12-072C-4ED5-BA76-0FFFAEFDB88A}" dt="2025-11-07T01:23:00.972" v="5" actId="20577"/>
        <pc:sldMkLst>
          <pc:docMk/>
          <pc:sldMk cId="469440066" sldId="1951"/>
        </pc:sldMkLst>
        <pc:spChg chg="mod">
          <ac:chgData name="Zonghua Gu" userId="9a7e1853e1951ef5" providerId="LiveId" clId="{CF1FAA12-072C-4ED5-BA76-0FFFAEFDB88A}" dt="2025-11-07T01:23:00.972" v="5" actId="20577"/>
          <ac:spMkLst>
            <pc:docMk/>
            <pc:sldMk cId="469440066" sldId="1951"/>
            <ac:spMk id="3" creationId="{BD3FAF22-F71B-A614-2E83-A7F9A646E0AE}"/>
          </ac:spMkLst>
        </pc:spChg>
      </pc:sldChg>
      <pc:sldChg chg="modSp mod">
        <pc:chgData name="Zonghua Gu" userId="9a7e1853e1951ef5" providerId="LiveId" clId="{CF1FAA12-072C-4ED5-BA76-0FFFAEFDB88A}" dt="2025-11-07T01:47:31.654" v="360" actId="27636"/>
        <pc:sldMkLst>
          <pc:docMk/>
          <pc:sldMk cId="1704277223" sldId="1953"/>
        </pc:sldMkLst>
        <pc:spChg chg="mod">
          <ac:chgData name="Zonghua Gu" userId="9a7e1853e1951ef5" providerId="LiveId" clId="{CF1FAA12-072C-4ED5-BA76-0FFFAEFDB88A}" dt="2025-11-07T01:47:31.654" v="360" actId="27636"/>
          <ac:spMkLst>
            <pc:docMk/>
            <pc:sldMk cId="1704277223" sldId="1953"/>
            <ac:spMk id="3" creationId="{5A883D79-8122-7198-2D3F-3542E5CF6178}"/>
          </ac:spMkLst>
        </pc:spChg>
      </pc:sldChg>
      <pc:sldChg chg="addSp modSp mod">
        <pc:chgData name="Zonghua Gu" userId="9a7e1853e1951ef5" providerId="LiveId" clId="{CF1FAA12-072C-4ED5-BA76-0FFFAEFDB88A}" dt="2025-11-07T01:54:40.409" v="749" actId="20577"/>
        <pc:sldMkLst>
          <pc:docMk/>
          <pc:sldMk cId="2674671021" sldId="1954"/>
        </pc:sldMkLst>
        <pc:spChg chg="add mod">
          <ac:chgData name="Zonghua Gu" userId="9a7e1853e1951ef5" providerId="LiveId" clId="{CF1FAA12-072C-4ED5-BA76-0FFFAEFDB88A}" dt="2025-11-07T01:49:24.672" v="498" actId="1076"/>
          <ac:spMkLst>
            <pc:docMk/>
            <pc:sldMk cId="2674671021" sldId="1954"/>
            <ac:spMk id="4" creationId="{1E23A79A-3096-38CE-08A4-5B746271BE83}"/>
          </ac:spMkLst>
        </pc:spChg>
        <pc:spChg chg="add mod">
          <ac:chgData name="Zonghua Gu" userId="9a7e1853e1951ef5" providerId="LiveId" clId="{CF1FAA12-072C-4ED5-BA76-0FFFAEFDB88A}" dt="2025-11-07T01:49:32.065" v="499" actId="1076"/>
          <ac:spMkLst>
            <pc:docMk/>
            <pc:sldMk cId="2674671021" sldId="1954"/>
            <ac:spMk id="5" creationId="{7DC09C7E-4CBC-7DA4-65A9-EF61F29AA416}"/>
          </ac:spMkLst>
        </pc:spChg>
        <pc:spChg chg="add mod">
          <ac:chgData name="Zonghua Gu" userId="9a7e1853e1951ef5" providerId="LiveId" clId="{CF1FAA12-072C-4ED5-BA76-0FFFAEFDB88A}" dt="2025-11-07T01:54:40.409" v="749" actId="20577"/>
          <ac:spMkLst>
            <pc:docMk/>
            <pc:sldMk cId="2674671021" sldId="1954"/>
            <ac:spMk id="6" creationId="{BD5991E3-0953-E334-7692-004F98B1D833}"/>
          </ac:spMkLst>
        </pc:spChg>
        <pc:spChg chg="mod">
          <ac:chgData name="Zonghua Gu" userId="9a7e1853e1951ef5" providerId="LiveId" clId="{CF1FAA12-072C-4ED5-BA76-0FFFAEFDB88A}" dt="2025-11-07T01:47:11.665" v="338" actId="1076"/>
          <ac:spMkLst>
            <pc:docMk/>
            <pc:sldMk cId="2674671021" sldId="1954"/>
            <ac:spMk id="14" creationId="{8AA475B4-24A2-FFDB-53DA-A6534D6E7642}"/>
          </ac:spMkLst>
        </pc:spChg>
        <pc:spChg chg="mod">
          <ac:chgData name="Zonghua Gu" userId="9a7e1853e1951ef5" providerId="LiveId" clId="{CF1FAA12-072C-4ED5-BA76-0FFFAEFDB88A}" dt="2025-11-07T01:47:11.665" v="338" actId="1076"/>
          <ac:spMkLst>
            <pc:docMk/>
            <pc:sldMk cId="2674671021" sldId="1954"/>
            <ac:spMk id="17" creationId="{53F6BE98-B83D-8442-5C28-CCC08E086D8E}"/>
          </ac:spMkLst>
        </pc:spChg>
        <pc:spChg chg="mod">
          <ac:chgData name="Zonghua Gu" userId="9a7e1853e1951ef5" providerId="LiveId" clId="{CF1FAA12-072C-4ED5-BA76-0FFFAEFDB88A}" dt="2025-11-07T01:47:11.665" v="338" actId="1076"/>
          <ac:spMkLst>
            <pc:docMk/>
            <pc:sldMk cId="2674671021" sldId="1954"/>
            <ac:spMk id="19" creationId="{E3DD1287-6808-5E1A-23B7-8E605DB4CB0E}"/>
          </ac:spMkLst>
        </pc:spChg>
        <pc:graphicFrameChg chg="mod">
          <ac:chgData name="Zonghua Gu" userId="9a7e1853e1951ef5" providerId="LiveId" clId="{CF1FAA12-072C-4ED5-BA76-0FFFAEFDB88A}" dt="2025-11-07T01:47:11.665" v="338" actId="1076"/>
          <ac:graphicFrameMkLst>
            <pc:docMk/>
            <pc:sldMk cId="2674671021" sldId="1954"/>
            <ac:graphicFrameMk id="11" creationId="{7FB6ABB4-F394-9365-1E50-8AFF76E225B4}"/>
          </ac:graphicFrameMkLst>
        </pc:graphicFrameChg>
        <pc:graphicFrameChg chg="mod">
          <ac:chgData name="Zonghua Gu" userId="9a7e1853e1951ef5" providerId="LiveId" clId="{CF1FAA12-072C-4ED5-BA76-0FFFAEFDB88A}" dt="2025-11-07T01:47:11.665" v="338" actId="1076"/>
          <ac:graphicFrameMkLst>
            <pc:docMk/>
            <pc:sldMk cId="2674671021" sldId="1954"/>
            <ac:graphicFrameMk id="20" creationId="{0B943D28-0486-3CAA-0604-2BCA4878ACBC}"/>
          </ac:graphicFrameMkLst>
        </pc:graphicFrameChg>
        <pc:cxnChg chg="mod">
          <ac:chgData name="Zonghua Gu" userId="9a7e1853e1951ef5" providerId="LiveId" clId="{CF1FAA12-072C-4ED5-BA76-0FFFAEFDB88A}" dt="2025-11-07T01:47:11.665" v="338" actId="1076"/>
          <ac:cxnSpMkLst>
            <pc:docMk/>
            <pc:sldMk cId="2674671021" sldId="1954"/>
            <ac:cxnSpMk id="16" creationId="{7EF8165A-00FD-30D8-28B5-043F86788A9F}"/>
          </ac:cxnSpMkLst>
        </pc:cxnChg>
        <pc:cxnChg chg="mod">
          <ac:chgData name="Zonghua Gu" userId="9a7e1853e1951ef5" providerId="LiveId" clId="{CF1FAA12-072C-4ED5-BA76-0FFFAEFDB88A}" dt="2025-11-07T01:47:11.665" v="338" actId="1076"/>
          <ac:cxnSpMkLst>
            <pc:docMk/>
            <pc:sldMk cId="2674671021" sldId="1954"/>
            <ac:cxnSpMk id="18" creationId="{098BF308-8A42-99B4-F426-050286971C47}"/>
          </ac:cxnSpMkLst>
        </pc:cxnChg>
      </pc:sldChg>
      <pc:sldChg chg="addSp delSp modSp add mod">
        <pc:chgData name="Zonghua Gu" userId="9a7e1853e1951ef5" providerId="LiveId" clId="{CF1FAA12-072C-4ED5-BA76-0FFFAEFDB88A}" dt="2025-11-07T01:43:20.910" v="336" actId="20577"/>
        <pc:sldMkLst>
          <pc:docMk/>
          <pc:sldMk cId="1841931049" sldId="1955"/>
        </pc:sldMkLst>
        <pc:spChg chg="add del mod">
          <ac:chgData name="Zonghua Gu" userId="9a7e1853e1951ef5" providerId="LiveId" clId="{CF1FAA12-072C-4ED5-BA76-0FFFAEFDB88A}" dt="2025-11-07T01:39:58.968" v="65" actId="20577"/>
          <ac:spMkLst>
            <pc:docMk/>
            <pc:sldMk cId="1841931049" sldId="1955"/>
            <ac:spMk id="22" creationId="{638E6BCC-237F-D668-396A-7051E90FB5D0}"/>
          </ac:spMkLst>
        </pc:spChg>
        <pc:spChg chg="mod">
          <ac:chgData name="Zonghua Gu" userId="9a7e1853e1951ef5" providerId="LiveId" clId="{CF1FAA12-072C-4ED5-BA76-0FFFAEFDB88A}" dt="2025-11-07T01:43:20.910" v="336" actId="20577"/>
          <ac:spMkLst>
            <pc:docMk/>
            <pc:sldMk cId="1841931049" sldId="1955"/>
            <ac:spMk id="26" creationId="{BFD5663A-834B-4090-4508-EC0E895501D1}"/>
          </ac:spMkLst>
        </pc:spChg>
        <pc:spChg chg="mod">
          <ac:chgData name="Zonghua Gu" userId="9a7e1853e1951ef5" providerId="LiveId" clId="{CF1FAA12-072C-4ED5-BA76-0FFFAEFDB88A}" dt="2025-11-07T01:40:19.486" v="88" actId="20577"/>
          <ac:spMkLst>
            <pc:docMk/>
            <pc:sldMk cId="1841931049" sldId="1955"/>
            <ac:spMk id="1032" creationId="{E8490C81-871A-6D0B-E103-DCE52E7C2912}"/>
          </ac:spMkLst>
        </pc:spChg>
        <pc:graphicFrameChg chg="modGraphic">
          <ac:chgData name="Zonghua Gu" userId="9a7e1853e1951ef5" providerId="LiveId" clId="{CF1FAA12-072C-4ED5-BA76-0FFFAEFDB88A}" dt="2025-11-07T01:42:06.357" v="209" actId="20577"/>
          <ac:graphicFrameMkLst>
            <pc:docMk/>
            <pc:sldMk cId="1841931049" sldId="1955"/>
            <ac:graphicFrameMk id="24" creationId="{D6D0F683-5E21-AD6E-EFCF-10D8DFD8D1CC}"/>
          </ac:graphicFrameMkLst>
        </pc:graphicFrameChg>
        <pc:graphicFrameChg chg="modGraphic">
          <ac:chgData name="Zonghua Gu" userId="9a7e1853e1951ef5" providerId="LiveId" clId="{CF1FAA12-072C-4ED5-BA76-0FFFAEFDB88A}" dt="2025-11-07T01:39:38.427" v="56" actId="20577"/>
          <ac:graphicFrameMkLst>
            <pc:docMk/>
            <pc:sldMk cId="1841931049" sldId="1955"/>
            <ac:graphicFrameMk id="27" creationId="{F5AFA191-7349-B507-1F03-D21ACD798C9E}"/>
          </ac:graphicFrameMkLst>
        </pc:graphicFrameChg>
        <pc:graphicFrameChg chg="modGraphic">
          <ac:chgData name="Zonghua Gu" userId="9a7e1853e1951ef5" providerId="LiveId" clId="{CF1FAA12-072C-4ED5-BA76-0FFFAEFDB88A}" dt="2025-11-07T01:39:46.389" v="60" actId="20577"/>
          <ac:graphicFrameMkLst>
            <pc:docMk/>
            <pc:sldMk cId="1841931049" sldId="1955"/>
            <ac:graphicFrameMk id="28" creationId="{1AE3F343-DAD1-FD58-B428-B0D6349E2EE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288260" y="6666576"/>
            <a:ext cx="721426" cy="272389"/>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88937" tIns="45279" rIns="88937" bIns="45279">
            <a:spAutoFit/>
          </a:bodyPr>
          <a:lstStyle/>
          <a:p>
            <a:pPr algn="ctr" defTabSz="884005">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884005">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224140" y="6666576"/>
            <a:ext cx="849666" cy="27149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88937" tIns="45279" rIns="88937" bIns="45279">
            <a:spAutoFit/>
          </a:bodyPr>
          <a:lstStyle/>
          <a:p>
            <a:pPr algn="ctr" defTabSz="884005">
              <a:lnSpc>
                <a:spcPct val="90000"/>
              </a:lnSpc>
            </a:pPr>
            <a:r>
              <a:rPr lang="en-US" sz="1300" b="0"/>
              <a:t>Page </a:t>
            </a:r>
            <a:fld id="{6D259941-7246-4245-A40C-55C6F952DF9E}" type="slidenum">
              <a:rPr lang="en-US" sz="1300" b="0"/>
              <a:pPr algn="ctr" defTabSz="884005">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09813" y="525463"/>
            <a:ext cx="4676775" cy="2630487"/>
          </a:xfrm>
          <a:prstGeom prst="rect">
            <a:avLst/>
          </a:prstGeom>
          <a:noFill/>
          <a:ln w="12700">
            <a:solidFill>
              <a:schemeClr val="tx1"/>
            </a:solidFill>
            <a:miter lim="800000"/>
            <a:headEnd/>
            <a:tailEnd/>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2052" name="Rectangle 4"/>
          <p:cNvSpPr>
            <a:spLocks noGrp="1" noChangeArrowheads="1"/>
          </p:cNvSpPr>
          <p:nvPr>
            <p:ph type="body" sz="quarter" idx="3"/>
          </p:nvPr>
        </p:nvSpPr>
        <p:spPr bwMode="auto">
          <a:xfrm>
            <a:off x="1240445" y="3330250"/>
            <a:ext cx="6815515" cy="3155289"/>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2170" tIns="45279" rIns="92170" bIns="45279"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qnx.com/developers/docs/6.5.0SP1.update/com.qnx.doc.neutrino_lib_ref/e/execv.html"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ppl-ai-file-upload.s3.amazonaws.com/web/direct-files/attachments/92151853/7ded0639-f820-465d-b4cb-e840a9929379/CSC112-Additional-Review-Questions.pdf"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09813" y="525463"/>
            <a:ext cx="4676775" cy="2630487"/>
          </a:xfrm>
          <a:ln/>
        </p:spPr>
      </p:sp>
      <p:sp>
        <p:nvSpPr>
          <p:cNvPr id="66563"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00780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What is the output of the program below? If there may be multiple possible outputs, list ALL possible outputs, and explain why.</a:t>
            </a:r>
          </a:p>
          <a:p>
            <a:endParaRPr lang="en-US" dirty="0"/>
          </a:p>
        </p:txBody>
      </p:sp>
    </p:spTree>
    <p:extLst>
      <p:ext uri="{BB962C8B-B14F-4D97-AF65-F5344CB8AC3E}">
        <p14:creationId xmlns:p14="http://schemas.microsoft.com/office/powerpoint/2010/main" val="22564077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these questions, assume there is no error, i.e., all fork calls succeed, and the return value of fork() is never negative.</a:t>
            </a:r>
          </a:p>
          <a:p>
            <a:r>
              <a:rPr lang="en-GB" dirty="0"/>
              <a:t>1. Will the parent and child print the same value for a?</a:t>
            </a:r>
          </a:p>
          <a:p>
            <a:r>
              <a:rPr lang="en-GB" dirty="0"/>
              <a:t>ANS: No. Processes do not share the same memory space, so a is 1+1=2 in parent, and 1-1=0 in child.</a:t>
            </a:r>
          </a:p>
          <a:p>
            <a:r>
              <a:rPr lang="en-GB" dirty="0"/>
              <a:t>2. Will they print the same memory address &amp;a?</a:t>
            </a:r>
          </a:p>
          <a:p>
            <a:r>
              <a:rPr lang="en-GB" dirty="0"/>
              <a:t>ANS: Yes. Fork copies the address space of the parent to the child.</a:t>
            </a:r>
          </a:p>
          <a:p>
            <a:r>
              <a:rPr lang="en-GB" dirty="0"/>
              <a:t>3. Will they write to the same STDOUT?</a:t>
            </a:r>
          </a:p>
          <a:p>
            <a:r>
              <a:rPr lang="en-GB" dirty="0"/>
              <a:t>ANS: Yes. File descriptors are copied over to the new process, so both STDOUTs will reference the same ”file”.</a:t>
            </a:r>
          </a:p>
          <a:p>
            <a:endParaRPr lang="en-SE" dirty="0"/>
          </a:p>
          <a:p>
            <a:endParaRPr lang="en-US" dirty="0"/>
          </a:p>
        </p:txBody>
      </p:sp>
    </p:spTree>
    <p:extLst>
      <p:ext uri="{BB962C8B-B14F-4D97-AF65-F5344CB8AC3E}">
        <p14:creationId xmlns:p14="http://schemas.microsoft.com/office/powerpoint/2010/main" val="6839272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err="1"/>
              <a:t>argv</a:t>
            </a:r>
            <a:r>
              <a:rPr lang="en-US" dirty="0"/>
              <a:t>[0] is conventionally the name of the program itself (/bin/ls). </a:t>
            </a:r>
            <a:r>
              <a:rPr lang="en-US" dirty="0" err="1"/>
              <a:t>argv</a:t>
            </a:r>
            <a:r>
              <a:rPr lang="en-US" dirty="0"/>
              <a:t>[1] is the first actual argument you pass to the program, and the . (dot) is a special character that represents the current working directory.</a:t>
            </a:r>
          </a:p>
          <a:p>
            <a:r>
              <a:rPr lang="en-US" sz="1200" b="1" i="0" kern="1200" dirty="0">
                <a:solidFill>
                  <a:schemeClr val="tx1"/>
                </a:solidFill>
                <a:effectLst/>
                <a:latin typeface="Comic Sans MS" pitchFamily="66" charset="0"/>
                <a:ea typeface="ＭＳ Ｐゴシック" charset="0"/>
                <a:cs typeface="ＭＳ Ｐゴシック" charset="0"/>
              </a:rPr>
              <a:t>Why is it necessary to have both?</a:t>
            </a:r>
            <a:endParaRPr lang="en-US" sz="1200" b="0" i="0" kern="1200" dirty="0">
              <a:solidFill>
                <a:schemeClr val="tx1"/>
              </a:solidFill>
              <a:effectLst/>
              <a:latin typeface="Comic Sans MS" pitchFamily="66" charset="0"/>
              <a:ea typeface="ＭＳ Ｐゴシック" charset="0"/>
              <a:cs typeface="ＭＳ Ｐゴシック" charset="0"/>
            </a:endParaRPr>
          </a:p>
          <a:p>
            <a:r>
              <a:rPr lang="en-US" sz="1200" b="0" i="0" kern="1200" dirty="0">
                <a:solidFill>
                  <a:schemeClr val="tx1"/>
                </a:solidFill>
                <a:effectLst/>
                <a:latin typeface="Comic Sans MS" pitchFamily="66" charset="0"/>
                <a:ea typeface="ＭＳ Ｐゴシック" charset="0"/>
                <a:cs typeface="ＭＳ Ｐゴシック" charset="0"/>
              </a:rPr>
              <a:t>The </a:t>
            </a:r>
            <a:r>
              <a:rPr lang="en-US" sz="1200" b="0" i="0" kern="1200" dirty="0" err="1">
                <a:solidFill>
                  <a:schemeClr val="tx1"/>
                </a:solidFill>
                <a:effectLst/>
                <a:latin typeface="Comic Sans MS" pitchFamily="66" charset="0"/>
                <a:ea typeface="ＭＳ Ｐゴシック" charset="0"/>
                <a:cs typeface="ＭＳ Ｐゴシック" charset="0"/>
              </a:rPr>
              <a:t>execv</a:t>
            </a:r>
            <a:r>
              <a:rPr lang="en-US" sz="1200" b="0" i="0" kern="1200" dirty="0">
                <a:solidFill>
                  <a:schemeClr val="tx1"/>
                </a:solidFill>
                <a:effectLst/>
                <a:latin typeface="Comic Sans MS" pitchFamily="66" charset="0"/>
                <a:ea typeface="ＭＳ Ｐゴシック" charset="0"/>
                <a:cs typeface="ＭＳ Ｐゴシック" charset="0"/>
              </a:rPr>
              <a:t> function doesn't automatically use its first argument as </a:t>
            </a:r>
            <a:r>
              <a:rPr lang="en-US" sz="1200" b="0" i="0" kern="1200" dirty="0" err="1">
                <a:solidFill>
                  <a:schemeClr val="tx1"/>
                </a:solidFill>
                <a:effectLst/>
                <a:latin typeface="Comic Sans MS" pitchFamily="66" charset="0"/>
                <a:ea typeface="ＭＳ Ｐゴシック" charset="0"/>
                <a:cs typeface="ＭＳ Ｐゴシック" charset="0"/>
              </a:rPr>
              <a:t>argv</a:t>
            </a:r>
            <a:r>
              <a:rPr lang="en-US" sz="1200" b="0" i="0" kern="1200" dirty="0">
                <a:solidFill>
                  <a:schemeClr val="tx1"/>
                </a:solidFill>
                <a:effectLst/>
                <a:latin typeface="Comic Sans MS" pitchFamily="66" charset="0"/>
                <a:ea typeface="ＭＳ Ｐゴシック" charset="0"/>
                <a:cs typeface="ＭＳ Ｐゴシック" charset="0"/>
              </a:rPr>
              <a:t>[0]. It keeps the two separate to give the programmer full control. You are responsible for constructing the </a:t>
            </a:r>
            <a:r>
              <a:rPr lang="en-US" sz="1200" b="0" i="0" kern="1200" dirty="0" err="1">
                <a:solidFill>
                  <a:schemeClr val="tx1"/>
                </a:solidFill>
                <a:effectLst/>
                <a:latin typeface="Comic Sans MS" pitchFamily="66" charset="0"/>
                <a:ea typeface="ＭＳ Ｐゴシック" charset="0"/>
                <a:cs typeface="ＭＳ Ｐゴシック" charset="0"/>
              </a:rPr>
              <a:t>argv</a:t>
            </a:r>
            <a:r>
              <a:rPr lang="en-US" sz="1200" b="0" i="0" kern="1200" dirty="0">
                <a:solidFill>
                  <a:schemeClr val="tx1"/>
                </a:solidFill>
                <a:effectLst/>
                <a:latin typeface="Comic Sans MS" pitchFamily="66" charset="0"/>
                <a:ea typeface="ＭＳ Ｐゴシック" charset="0"/>
                <a:cs typeface="ＭＳ Ｐゴシック" charset="0"/>
              </a:rPr>
              <a:t> array exactly as the new program expects it, and that includes setting </a:t>
            </a:r>
            <a:r>
              <a:rPr lang="en-US" sz="1200" b="0" i="0" kern="1200" dirty="0" err="1">
                <a:solidFill>
                  <a:schemeClr val="tx1"/>
                </a:solidFill>
                <a:effectLst/>
                <a:latin typeface="Comic Sans MS" pitchFamily="66" charset="0"/>
                <a:ea typeface="ＭＳ Ｐゴシック" charset="0"/>
                <a:cs typeface="ＭＳ Ｐゴシック" charset="0"/>
              </a:rPr>
              <a:t>argv</a:t>
            </a:r>
            <a:r>
              <a:rPr lang="en-US" sz="1200" b="0" i="0" kern="1200" dirty="0">
                <a:solidFill>
                  <a:schemeClr val="tx1"/>
                </a:solidFill>
                <a:effectLst/>
                <a:latin typeface="Comic Sans MS" pitchFamily="66" charset="0"/>
                <a:ea typeface="ＭＳ Ｐゴシック" charset="0"/>
                <a:cs typeface="ＭＳ Ｐゴシック" charset="0"/>
              </a:rPr>
              <a:t>[0] to the program's name.stackoverflow+1​</a:t>
            </a:r>
          </a:p>
          <a:p>
            <a:r>
              <a:rPr lang="en-US" sz="1200" b="0" i="0" kern="1200" dirty="0">
                <a:solidFill>
                  <a:schemeClr val="tx1"/>
                </a:solidFill>
                <a:effectLst/>
                <a:latin typeface="Comic Sans MS" pitchFamily="66" charset="0"/>
                <a:ea typeface="ＭＳ Ｐゴシック" charset="0"/>
                <a:cs typeface="ＭＳ Ｐゴシック" charset="0"/>
              </a:rPr>
              <a:t>So, while it looks like you're specifying /bin/ls twice, you're actually doing two different things:</a:t>
            </a:r>
          </a:p>
          <a:p>
            <a:r>
              <a:rPr lang="en-US" sz="1200" b="1" i="0" kern="1200" dirty="0">
                <a:solidFill>
                  <a:schemeClr val="tx1"/>
                </a:solidFill>
                <a:effectLst/>
                <a:latin typeface="Comic Sans MS" pitchFamily="66" charset="0"/>
                <a:ea typeface="ＭＳ Ｐゴシック" charset="0"/>
                <a:cs typeface="ＭＳ Ｐゴシック" charset="0"/>
              </a:rPr>
              <a:t>Telling </a:t>
            </a:r>
            <a:r>
              <a:rPr lang="en-US" sz="1200" b="0" i="0" kern="1200" dirty="0" err="1">
                <a:solidFill>
                  <a:schemeClr val="tx1"/>
                </a:solidFill>
                <a:effectLst/>
                <a:latin typeface="Comic Sans MS" pitchFamily="66" charset="0"/>
                <a:ea typeface="ＭＳ Ｐゴシック" charset="0"/>
                <a:cs typeface="ＭＳ Ｐゴシック" charset="0"/>
              </a:rPr>
              <a:t>execv</a:t>
            </a:r>
            <a:r>
              <a:rPr lang="en-US" sz="1200" b="1" i="0" kern="1200" dirty="0">
                <a:solidFill>
                  <a:schemeClr val="tx1"/>
                </a:solidFill>
                <a:effectLst/>
                <a:latin typeface="Comic Sans MS" pitchFamily="66" charset="0"/>
                <a:ea typeface="ＭＳ Ｐゴシック" charset="0"/>
                <a:cs typeface="ＭＳ Ｐゴシック" charset="0"/>
              </a:rPr>
              <a:t> which program to run.</a:t>
            </a:r>
            <a:endParaRPr lang="en-US" sz="1200" b="0" i="0" kern="1200" dirty="0">
              <a:solidFill>
                <a:schemeClr val="tx1"/>
              </a:solidFill>
              <a:effectLst/>
              <a:latin typeface="Comic Sans MS" pitchFamily="66" charset="0"/>
              <a:ea typeface="ＭＳ Ｐゴシック" charset="0"/>
              <a:cs typeface="ＭＳ Ｐゴシック" charset="0"/>
            </a:endParaRPr>
          </a:p>
          <a:p>
            <a:r>
              <a:rPr lang="en-US" sz="1200" b="1" i="0" kern="1200" dirty="0">
                <a:solidFill>
                  <a:schemeClr val="tx1"/>
                </a:solidFill>
                <a:effectLst/>
                <a:latin typeface="Comic Sans MS" pitchFamily="66" charset="0"/>
                <a:ea typeface="ＭＳ Ｐゴシック" charset="0"/>
                <a:cs typeface="ＭＳ Ｐゴシック" charset="0"/>
              </a:rPr>
              <a:t>Telling the new program (</a:t>
            </a:r>
            <a:r>
              <a:rPr lang="en-US" sz="1200" b="0" i="0" kern="1200" dirty="0">
                <a:solidFill>
                  <a:schemeClr val="tx1"/>
                </a:solidFill>
                <a:effectLst/>
                <a:latin typeface="Comic Sans MS" pitchFamily="66" charset="0"/>
                <a:ea typeface="ＭＳ Ｐゴシック" charset="0"/>
                <a:cs typeface="ＭＳ Ｐゴシック" charset="0"/>
              </a:rPr>
              <a:t>ls</a:t>
            </a:r>
            <a:r>
              <a:rPr lang="en-US" sz="1200" b="1" i="0" kern="1200" dirty="0">
                <a:solidFill>
                  <a:schemeClr val="tx1"/>
                </a:solidFill>
                <a:effectLst/>
                <a:latin typeface="Comic Sans MS" pitchFamily="66" charset="0"/>
                <a:ea typeface="ＭＳ Ｐゴシック" charset="0"/>
                <a:cs typeface="ＭＳ Ｐゴシック" charset="0"/>
              </a:rPr>
              <a:t>) what its name is.</a:t>
            </a:r>
            <a:endParaRPr lang="en-US" sz="1200" b="0" i="0" kern="1200" dirty="0">
              <a:solidFill>
                <a:schemeClr val="tx1"/>
              </a:solidFill>
              <a:effectLst/>
              <a:latin typeface="Comic Sans MS" pitchFamily="66" charset="0"/>
              <a:ea typeface="ＭＳ Ｐゴシック" charset="0"/>
              <a:cs typeface="ＭＳ Ｐゴシック" charset="0"/>
            </a:endParaRPr>
          </a:p>
          <a:p>
            <a:r>
              <a:rPr lang="en-US" sz="1200" b="0" i="0" kern="1200" dirty="0">
                <a:solidFill>
                  <a:schemeClr val="tx1"/>
                </a:solidFill>
                <a:effectLst/>
                <a:latin typeface="Comic Sans MS" pitchFamily="66" charset="0"/>
                <a:ea typeface="ＭＳ Ｐゴシック" charset="0"/>
                <a:cs typeface="ＭＳ Ｐゴシック" charset="0"/>
              </a:rPr>
              <a:t>You could technically lie to the ls program by setting </a:t>
            </a:r>
            <a:r>
              <a:rPr lang="en-US" sz="1200" b="0" i="0" kern="1200" dirty="0" err="1">
                <a:solidFill>
                  <a:schemeClr val="tx1"/>
                </a:solidFill>
                <a:effectLst/>
                <a:latin typeface="Comic Sans MS" pitchFamily="66" charset="0"/>
                <a:ea typeface="ＭＳ Ｐゴシック" charset="0"/>
                <a:cs typeface="ＭＳ Ｐゴシック" charset="0"/>
              </a:rPr>
              <a:t>argv</a:t>
            </a:r>
            <a:r>
              <a:rPr lang="en-US" sz="1200" b="0" i="0" kern="1200" dirty="0">
                <a:solidFill>
                  <a:schemeClr val="tx1"/>
                </a:solidFill>
                <a:effectLst/>
                <a:latin typeface="Comic Sans MS" pitchFamily="66" charset="0"/>
                <a:ea typeface="ＭＳ Ｐゴシック" charset="0"/>
                <a:cs typeface="ＭＳ Ｐゴシック" charset="0"/>
              </a:rPr>
              <a:t>[0] to something else, like:</a:t>
            </a:r>
          </a:p>
          <a:p>
            <a:r>
              <a:rPr lang="en-US" sz="1200" b="0" i="0" kern="1200" dirty="0">
                <a:solidFill>
                  <a:schemeClr val="tx1"/>
                </a:solidFill>
                <a:effectLst/>
                <a:latin typeface="Comic Sans MS" pitchFamily="66" charset="0"/>
                <a:ea typeface="ＭＳ Ｐゴシック" charset="0"/>
                <a:cs typeface="ＭＳ Ｐゴシック" charset="0"/>
              </a:rPr>
              <a:t>c</a:t>
            </a:r>
          </a:p>
          <a:p>
            <a:r>
              <a:rPr lang="en-US" sz="1200" b="0" i="0" kern="1200" dirty="0" err="1">
                <a:solidFill>
                  <a:schemeClr val="tx1"/>
                </a:solidFill>
                <a:effectLst/>
                <a:latin typeface="Comic Sans MS" pitchFamily="66" charset="0"/>
                <a:ea typeface="ＭＳ Ｐゴシック" charset="0"/>
                <a:cs typeface="ＭＳ Ｐゴシック" charset="0"/>
              </a:rPr>
              <a:t>argv</a:t>
            </a:r>
            <a:r>
              <a:rPr lang="en-US" sz="1200" b="0" i="0" kern="1200" dirty="0">
                <a:solidFill>
                  <a:schemeClr val="tx1"/>
                </a:solidFill>
                <a:effectLst/>
                <a:latin typeface="Comic Sans MS" pitchFamily="66" charset="0"/>
                <a:ea typeface="ＭＳ Ｐゴシック" charset="0"/>
                <a:cs typeface="ＭＳ Ｐゴシック" charset="0"/>
              </a:rPr>
              <a:t>[0] = "</a:t>
            </a:r>
            <a:r>
              <a:rPr lang="en-US" sz="1200" b="0" i="0" kern="1200" dirty="0" err="1">
                <a:solidFill>
                  <a:schemeClr val="tx1"/>
                </a:solidFill>
                <a:effectLst/>
                <a:latin typeface="Comic Sans MS" pitchFamily="66" charset="0"/>
                <a:ea typeface="ＭＳ Ｐゴシック" charset="0"/>
                <a:cs typeface="ＭＳ Ｐゴシック" charset="0"/>
              </a:rPr>
              <a:t>my_silly_program</a:t>
            </a:r>
            <a:r>
              <a:rPr lang="en-US" sz="1200" b="0" i="0" kern="1200" dirty="0">
                <a:solidFill>
                  <a:schemeClr val="tx1"/>
                </a:solidFill>
                <a:effectLst/>
                <a:latin typeface="Comic Sans MS" pitchFamily="66" charset="0"/>
                <a:ea typeface="ＭＳ Ｐゴシック" charset="0"/>
                <a:cs typeface="ＭＳ Ｐゴシック" charset="0"/>
              </a:rPr>
              <a:t>";</a:t>
            </a:r>
          </a:p>
          <a:p>
            <a:r>
              <a:rPr lang="en-US" sz="1200" b="0" i="0" kern="1200" dirty="0">
                <a:solidFill>
                  <a:schemeClr val="tx1"/>
                </a:solidFill>
                <a:effectLst/>
                <a:latin typeface="Comic Sans MS" pitchFamily="66" charset="0"/>
                <a:ea typeface="ＭＳ Ｐゴシック" charset="0"/>
                <a:cs typeface="ＭＳ Ｐゴシック" charset="0"/>
              </a:rPr>
              <a:t>The </a:t>
            </a:r>
            <a:r>
              <a:rPr lang="en-US" sz="1200" b="0" i="0" kern="1200" dirty="0" err="1">
                <a:solidFill>
                  <a:schemeClr val="tx1"/>
                </a:solidFill>
                <a:effectLst/>
                <a:latin typeface="Comic Sans MS" pitchFamily="66" charset="0"/>
                <a:ea typeface="ＭＳ Ｐゴシック" charset="0"/>
                <a:cs typeface="ＭＳ Ｐゴシック" charset="0"/>
              </a:rPr>
              <a:t>execv</a:t>
            </a:r>
            <a:r>
              <a:rPr lang="en-US" sz="1200" b="0" i="0" kern="1200" dirty="0">
                <a:solidFill>
                  <a:schemeClr val="tx1"/>
                </a:solidFill>
                <a:effectLst/>
                <a:latin typeface="Comic Sans MS" pitchFamily="66" charset="0"/>
                <a:ea typeface="ＭＳ Ｐゴシック" charset="0"/>
                <a:cs typeface="ＭＳ Ｐゴシック" charset="0"/>
              </a:rPr>
              <a:t> call would still run /bin/ls, but if ls tried to print an error, it might say "</a:t>
            </a:r>
            <a:r>
              <a:rPr lang="en-US" sz="1200" b="0" i="0" kern="1200" dirty="0" err="1">
                <a:solidFill>
                  <a:schemeClr val="tx1"/>
                </a:solidFill>
                <a:effectLst/>
                <a:latin typeface="Comic Sans MS" pitchFamily="66" charset="0"/>
                <a:ea typeface="ＭＳ Ｐゴシック" charset="0"/>
                <a:cs typeface="ＭＳ Ｐゴシック" charset="0"/>
              </a:rPr>
              <a:t>my_silly_program</a:t>
            </a:r>
            <a:r>
              <a:rPr lang="en-US" sz="1200" b="0" i="0" kern="1200" dirty="0">
                <a:solidFill>
                  <a:schemeClr val="tx1"/>
                </a:solidFill>
                <a:effectLst/>
                <a:latin typeface="Comic Sans MS" pitchFamily="66" charset="0"/>
                <a:ea typeface="ＭＳ Ｐゴシック" charset="0"/>
                <a:cs typeface="ＭＳ Ｐゴシック" charset="0"/>
              </a:rPr>
              <a:t>: error..." instead of "ls: error...". However, breaking this convention can lead to confusing or undefined behavior, so it's always best to follow it.</a:t>
            </a:r>
          </a:p>
          <a:p>
            <a:r>
              <a:rPr lang="en-US" sz="1200" b="0" i="0" kern="1200" dirty="0" err="1">
                <a:solidFill>
                  <a:schemeClr val="tx1"/>
                </a:solidFill>
                <a:effectLst/>
                <a:latin typeface="Comic Sans MS" pitchFamily="66" charset="0"/>
                <a:ea typeface="ＭＳ Ｐゴシック" charset="0"/>
                <a:cs typeface="ＭＳ Ｐゴシック" charset="0"/>
                <a:hlinkClick r:id="rId3"/>
              </a:rPr>
              <a:t>qnx</a:t>
            </a:r>
            <a:endParaRPr lang="en-US" sz="1200" b="0" i="0" kern="1200" dirty="0">
              <a:solidFill>
                <a:schemeClr val="tx1"/>
              </a:solidFill>
              <a:effectLst/>
              <a:latin typeface="Comic Sans MS" pitchFamily="66" charset="0"/>
              <a:ea typeface="ＭＳ Ｐゴシック" charset="0"/>
              <a:cs typeface="ＭＳ Ｐゴシック" charset="0"/>
              <a:hlinkClick r:id="rId3"/>
            </a:endParaRPr>
          </a:p>
          <a:p>
            <a:endParaRPr lang="en-SE" dirty="0"/>
          </a:p>
          <a:p>
            <a:endParaRPr lang="en-US" dirty="0"/>
          </a:p>
        </p:txBody>
      </p:sp>
    </p:spTree>
    <p:extLst>
      <p:ext uri="{BB962C8B-B14F-4D97-AF65-F5344CB8AC3E}">
        <p14:creationId xmlns:p14="http://schemas.microsoft.com/office/powerpoint/2010/main" val="14016218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US" dirty="0"/>
          </a:p>
          <a:p>
            <a:endParaRPr lang="en-US" dirty="0"/>
          </a:p>
          <a:p>
            <a:r>
              <a:rPr lang="en-US" dirty="0"/>
              <a:t>ANS: The parent process will print from 0 to 9. The child process will print the full output of ls command, with any possible interleaving with the parents printing of 0 to 9.</a:t>
            </a:r>
          </a:p>
          <a:p>
            <a:r>
              <a:rPr lang="en-US" dirty="0"/>
              <a:t>Explanation: The parent process creates a child when </a:t>
            </a:r>
            <a:r>
              <a:rPr lang="en-US" dirty="0" err="1"/>
              <a:t>i</a:t>
            </a:r>
            <a:r>
              <a:rPr lang="en-US" dirty="0"/>
              <a:t> is 3. The parent continues its loop to print numbers up to 9. The child process independently executes the ls command. Since both processes run concurrently without synchronization, their outputs can be mixed (interleaved) in the terminal.</a:t>
            </a:r>
          </a:p>
          <a:p>
            <a:endParaRPr lang="en-US" dirty="0"/>
          </a:p>
          <a:p>
            <a:r>
              <a:rPr lang="en-US" dirty="0"/>
              <a:t>Based on an analysis of the provided Computer Science review questions, here is a correctness check for the answers.</a:t>
            </a:r>
          </a:p>
          <a:p>
            <a:r>
              <a:rPr lang="en-US" b="1" dirty="0"/>
              <a:t>Question 2: First </a:t>
            </a:r>
            <a:r>
              <a:rPr lang="en-US" sz="1200" b="1" kern="1200" dirty="0">
                <a:solidFill>
                  <a:schemeClr val="tx1"/>
                </a:solidFill>
                <a:latin typeface="Comic Sans MS" pitchFamily="66" charset="0"/>
                <a:ea typeface="ＭＳ Ｐゴシック" charset="0"/>
                <a:cs typeface="ＭＳ Ｐゴシック" charset="0"/>
              </a:rPr>
              <a:t>fork()</a:t>
            </a:r>
            <a:r>
              <a:rPr lang="en-US" b="1" dirty="0"/>
              <a:t> Example</a:t>
            </a:r>
          </a:p>
          <a:p>
            <a:r>
              <a:rPr lang="en-US" dirty="0"/>
              <a:t>The code for this question is:</a:t>
            </a:r>
          </a:p>
          <a:p>
            <a:r>
              <a:rPr lang="en-US" sz="1200" kern="1200" dirty="0">
                <a:solidFill>
                  <a:schemeClr val="tx1"/>
                </a:solidFill>
                <a:latin typeface="Comic Sans MS" pitchFamily="66" charset="0"/>
                <a:ea typeface="ＭＳ Ｐゴシック" charset="0"/>
                <a:cs typeface="ＭＳ Ｐゴシック" charset="0"/>
              </a:rPr>
              <a:t>c</a:t>
            </a:r>
          </a:p>
          <a:p>
            <a:r>
              <a:rPr lang="en-US" sz="1200" b="1" kern="1200" dirty="0">
                <a:solidFill>
                  <a:schemeClr val="tx1"/>
                </a:solidFill>
                <a:effectLst/>
                <a:latin typeface="Comic Sans MS" pitchFamily="66" charset="0"/>
                <a:ea typeface="ＭＳ Ｐゴシック" charset="0"/>
                <a:cs typeface="ＭＳ Ｐゴシック" charset="0"/>
              </a:rPr>
              <a:t>int</a:t>
            </a:r>
            <a:r>
              <a:rPr lang="en-US" sz="1200" kern="1200" dirty="0">
                <a:solidFill>
                  <a:schemeClr val="tx1"/>
                </a:solidFill>
                <a:effectLst/>
                <a:latin typeface="Comic Sans MS" pitchFamily="66" charset="0"/>
                <a:ea typeface="ＭＳ Ｐゴシック" charset="0"/>
                <a:cs typeface="ＭＳ Ｐゴシック" charset="0"/>
              </a:rPr>
              <a:t> a = 1;</a:t>
            </a:r>
          </a:p>
          <a:p>
            <a:r>
              <a:rPr lang="en-US" sz="1200" kern="1200" dirty="0" err="1">
                <a:solidFill>
                  <a:schemeClr val="tx1"/>
                </a:solidFill>
                <a:effectLst/>
                <a:latin typeface="Comic Sans MS" pitchFamily="66" charset="0"/>
                <a:ea typeface="ＭＳ Ｐゴシック" charset="0"/>
                <a:cs typeface="ＭＳ Ｐゴシック" charset="0"/>
              </a:rPr>
              <a:t>pid_t</a:t>
            </a:r>
            <a:r>
              <a:rPr lang="en-US" sz="1200" kern="1200" dirty="0">
                <a:solidFill>
                  <a:schemeClr val="tx1"/>
                </a:solidFill>
                <a:effectLst/>
                <a:latin typeface="Comic Sans MS" pitchFamily="66" charset="0"/>
                <a:ea typeface="ＭＳ Ｐゴシック" charset="0"/>
                <a:cs typeface="ＭＳ Ｐゴシック" charset="0"/>
              </a:rPr>
              <a:t> </a:t>
            </a:r>
            <a:r>
              <a:rPr lang="en-US" sz="1200" kern="1200" dirty="0" err="1">
                <a:solidFill>
                  <a:schemeClr val="tx1"/>
                </a:solidFill>
                <a:effectLst/>
                <a:latin typeface="Comic Sans MS" pitchFamily="66" charset="0"/>
                <a:ea typeface="ＭＳ Ｐゴシック" charset="0"/>
                <a:cs typeface="ＭＳ Ｐゴシック" charset="0"/>
              </a:rPr>
              <a:t>fork_ret</a:t>
            </a:r>
            <a:r>
              <a:rPr lang="en-US" sz="1200" kern="1200" dirty="0">
                <a:solidFill>
                  <a:schemeClr val="tx1"/>
                </a:solidFill>
                <a:effectLst/>
                <a:latin typeface="Comic Sans MS" pitchFamily="66" charset="0"/>
                <a:ea typeface="ＭＳ Ｐゴシック" charset="0"/>
                <a:cs typeface="ＭＳ Ｐゴシック" charset="0"/>
              </a:rPr>
              <a:t> = fork();</a:t>
            </a:r>
          </a:p>
          <a:p>
            <a:r>
              <a:rPr lang="en-US" sz="1200" b="1" kern="1200" dirty="0">
                <a:solidFill>
                  <a:schemeClr val="tx1"/>
                </a:solidFill>
                <a:effectLst/>
                <a:latin typeface="Comic Sans MS" pitchFamily="66" charset="0"/>
                <a:ea typeface="ＭＳ Ｐゴシック" charset="0"/>
                <a:cs typeface="ＭＳ Ｐゴシック" charset="0"/>
              </a:rPr>
              <a:t>if</a:t>
            </a:r>
            <a:r>
              <a:rPr lang="en-US" sz="1200" kern="1200" dirty="0">
                <a:solidFill>
                  <a:schemeClr val="tx1"/>
                </a:solidFill>
                <a:effectLst/>
                <a:latin typeface="Comic Sans MS" pitchFamily="66" charset="0"/>
                <a:ea typeface="ＭＳ Ｐゴシック" charset="0"/>
                <a:cs typeface="ＭＳ Ｐゴシック" charset="0"/>
              </a:rPr>
              <a:t> (</a:t>
            </a:r>
            <a:r>
              <a:rPr lang="en-US" sz="1200" kern="1200" dirty="0" err="1">
                <a:solidFill>
                  <a:schemeClr val="tx1"/>
                </a:solidFill>
                <a:effectLst/>
                <a:latin typeface="Comic Sans MS" pitchFamily="66" charset="0"/>
                <a:ea typeface="ＭＳ Ｐゴシック" charset="0"/>
                <a:cs typeface="ＭＳ Ｐゴシック" charset="0"/>
              </a:rPr>
              <a:t>fork_ret</a:t>
            </a:r>
            <a:r>
              <a:rPr lang="en-US" sz="1200" kern="1200" dirty="0">
                <a:solidFill>
                  <a:schemeClr val="tx1"/>
                </a:solidFill>
                <a:effectLst/>
                <a:latin typeface="Comic Sans MS" pitchFamily="66" charset="0"/>
                <a:ea typeface="ＭＳ Ｐゴシック" charset="0"/>
                <a:cs typeface="ＭＳ Ｐゴシック" charset="0"/>
              </a:rPr>
              <a:t> &gt; 0) { </a:t>
            </a:r>
            <a:r>
              <a:rPr lang="en-US" sz="1200" i="1" kern="1200" dirty="0">
                <a:solidFill>
                  <a:schemeClr val="tx1"/>
                </a:solidFill>
                <a:effectLst/>
                <a:latin typeface="Comic Sans MS" pitchFamily="66" charset="0"/>
                <a:ea typeface="ＭＳ Ｐゴシック" charset="0"/>
                <a:cs typeface="ＭＳ Ｐゴシック" charset="0"/>
              </a:rPr>
              <a:t>// Parent</a:t>
            </a:r>
            <a:endParaRPr lang="en-US" sz="1200" kern="1200" dirty="0">
              <a:solidFill>
                <a:schemeClr val="tx1"/>
              </a:solidFill>
              <a:effectLst/>
              <a:latin typeface="Comic Sans MS" pitchFamily="66" charset="0"/>
              <a:ea typeface="ＭＳ Ｐゴシック" charset="0"/>
              <a:cs typeface="ＭＳ Ｐゴシック" charset="0"/>
            </a:endParaRPr>
          </a:p>
          <a:p>
            <a:r>
              <a:rPr lang="en-US" sz="1200" kern="1200" dirty="0">
                <a:solidFill>
                  <a:schemeClr val="tx1"/>
                </a:solidFill>
                <a:effectLst/>
                <a:latin typeface="Comic Sans MS" pitchFamily="66" charset="0"/>
                <a:ea typeface="ＭＳ Ｐゴシック" charset="0"/>
                <a:cs typeface="ＭＳ Ｐゴシック" charset="0"/>
              </a:rPr>
              <a:t>    a++;</a:t>
            </a:r>
          </a:p>
          <a:p>
            <a:r>
              <a:rPr lang="en-US" sz="1200" kern="1200" dirty="0">
                <a:solidFill>
                  <a:schemeClr val="tx1"/>
                </a:solidFill>
                <a:effectLst/>
                <a:latin typeface="Comic Sans MS" pitchFamily="66" charset="0"/>
                <a:ea typeface="ＭＳ Ｐゴシック" charset="0"/>
                <a:cs typeface="ＭＳ Ｐゴシック" charset="0"/>
              </a:rPr>
              <a:t>    </a:t>
            </a:r>
            <a:r>
              <a:rPr lang="en-US" sz="1200" kern="1200" dirty="0" err="1">
                <a:solidFill>
                  <a:schemeClr val="tx1"/>
                </a:solidFill>
                <a:effectLst/>
                <a:latin typeface="Comic Sans MS" pitchFamily="66" charset="0"/>
                <a:ea typeface="ＭＳ Ｐゴシック" charset="0"/>
                <a:cs typeface="ＭＳ Ｐゴシック" charset="0"/>
              </a:rPr>
              <a:t>fprintf</a:t>
            </a:r>
            <a:r>
              <a:rPr lang="en-US" sz="1200" kern="1200" dirty="0">
                <a:solidFill>
                  <a:schemeClr val="tx1"/>
                </a:solidFill>
                <a:effectLst/>
                <a:latin typeface="Comic Sans MS" pitchFamily="66" charset="0"/>
                <a:ea typeface="ＭＳ Ｐゴシック" charset="0"/>
                <a:cs typeface="ＭＳ Ｐゴシック" charset="0"/>
              </a:rPr>
              <a:t>(</a:t>
            </a:r>
            <a:r>
              <a:rPr lang="en-US" sz="1200" kern="1200" dirty="0" err="1">
                <a:solidFill>
                  <a:schemeClr val="tx1"/>
                </a:solidFill>
                <a:effectLst/>
                <a:latin typeface="Comic Sans MS" pitchFamily="66" charset="0"/>
                <a:ea typeface="ＭＳ Ｐゴシック" charset="0"/>
                <a:cs typeface="ＭＳ Ｐゴシック" charset="0"/>
              </a:rPr>
              <a:t>stdout</a:t>
            </a:r>
            <a:r>
              <a:rPr lang="en-US" sz="1200" kern="1200" dirty="0">
                <a:solidFill>
                  <a:schemeClr val="tx1"/>
                </a:solidFill>
                <a:effectLst/>
                <a:latin typeface="Comic Sans MS" pitchFamily="66" charset="0"/>
                <a:ea typeface="ＭＳ Ｐゴシック" charset="0"/>
                <a:cs typeface="ＭＳ Ｐゴシック" charset="0"/>
              </a:rPr>
              <a:t>, "Parent: int a is %d at %p\n", a, &amp;a);</a:t>
            </a:r>
          </a:p>
          <a:p>
            <a:r>
              <a:rPr lang="en-US" sz="1200" kern="1200" dirty="0">
                <a:solidFill>
                  <a:schemeClr val="tx1"/>
                </a:solidFill>
                <a:effectLst/>
                <a:latin typeface="Comic Sans MS" pitchFamily="66" charset="0"/>
                <a:ea typeface="ＭＳ Ｐゴシック" charset="0"/>
                <a:cs typeface="ＭＳ Ｐゴシック" charset="0"/>
              </a:rPr>
              <a:t>} </a:t>
            </a:r>
            <a:r>
              <a:rPr lang="en-US" sz="1200" b="1" kern="1200" dirty="0">
                <a:solidFill>
                  <a:schemeClr val="tx1"/>
                </a:solidFill>
                <a:effectLst/>
                <a:latin typeface="Comic Sans MS" pitchFamily="66" charset="0"/>
                <a:ea typeface="ＭＳ Ｐゴシック" charset="0"/>
                <a:cs typeface="ＭＳ Ｐゴシック" charset="0"/>
              </a:rPr>
              <a:t>else</a:t>
            </a:r>
            <a:r>
              <a:rPr lang="en-US" sz="1200" kern="1200" dirty="0">
                <a:solidFill>
                  <a:schemeClr val="tx1"/>
                </a:solidFill>
                <a:effectLst/>
                <a:latin typeface="Comic Sans MS" pitchFamily="66" charset="0"/>
                <a:ea typeface="ＭＳ Ｐゴシック" charset="0"/>
                <a:cs typeface="ＭＳ Ｐゴシック" charset="0"/>
              </a:rPr>
              <a:t> </a:t>
            </a:r>
            <a:r>
              <a:rPr lang="en-US" sz="1200" b="1" kern="1200" dirty="0">
                <a:solidFill>
                  <a:schemeClr val="tx1"/>
                </a:solidFill>
                <a:effectLst/>
                <a:latin typeface="Comic Sans MS" pitchFamily="66" charset="0"/>
                <a:ea typeface="ＭＳ Ｐゴシック" charset="0"/>
                <a:cs typeface="ＭＳ Ｐゴシック" charset="0"/>
              </a:rPr>
              <a:t>if</a:t>
            </a:r>
            <a:r>
              <a:rPr lang="en-US" sz="1200" kern="1200" dirty="0">
                <a:solidFill>
                  <a:schemeClr val="tx1"/>
                </a:solidFill>
                <a:effectLst/>
                <a:latin typeface="Comic Sans MS" pitchFamily="66" charset="0"/>
                <a:ea typeface="ＭＳ Ｐゴシック" charset="0"/>
                <a:cs typeface="ＭＳ Ｐゴシック" charset="0"/>
              </a:rPr>
              <a:t> (</a:t>
            </a:r>
            <a:r>
              <a:rPr lang="en-US" sz="1200" kern="1200" dirty="0" err="1">
                <a:solidFill>
                  <a:schemeClr val="tx1"/>
                </a:solidFill>
                <a:effectLst/>
                <a:latin typeface="Comic Sans MS" pitchFamily="66" charset="0"/>
                <a:ea typeface="ＭＳ Ｐゴシック" charset="0"/>
                <a:cs typeface="ＭＳ Ｐゴシック" charset="0"/>
              </a:rPr>
              <a:t>fork_ret</a:t>
            </a:r>
            <a:r>
              <a:rPr lang="en-US" sz="1200" kern="1200" dirty="0">
                <a:solidFill>
                  <a:schemeClr val="tx1"/>
                </a:solidFill>
                <a:effectLst/>
                <a:latin typeface="Comic Sans MS" pitchFamily="66" charset="0"/>
                <a:ea typeface="ＭＳ Ｐゴシック" charset="0"/>
                <a:cs typeface="ＭＳ Ｐゴシック" charset="0"/>
              </a:rPr>
              <a:t> == 0) { </a:t>
            </a:r>
            <a:r>
              <a:rPr lang="en-US" sz="1200" i="1" kern="1200" dirty="0">
                <a:solidFill>
                  <a:schemeClr val="tx1"/>
                </a:solidFill>
                <a:effectLst/>
                <a:latin typeface="Comic Sans MS" pitchFamily="66" charset="0"/>
                <a:ea typeface="ＭＳ Ｐゴシック" charset="0"/>
                <a:cs typeface="ＭＳ Ｐゴシック" charset="0"/>
              </a:rPr>
              <a:t>// Child</a:t>
            </a:r>
            <a:endParaRPr lang="en-US" sz="1200" kern="1200" dirty="0">
              <a:solidFill>
                <a:schemeClr val="tx1"/>
              </a:solidFill>
              <a:effectLst/>
              <a:latin typeface="Comic Sans MS" pitchFamily="66" charset="0"/>
              <a:ea typeface="ＭＳ Ｐゴシック" charset="0"/>
              <a:cs typeface="ＭＳ Ｐゴシック" charset="0"/>
            </a:endParaRPr>
          </a:p>
          <a:p>
            <a:r>
              <a:rPr lang="en-US" sz="1200" kern="1200" dirty="0">
                <a:solidFill>
                  <a:schemeClr val="tx1"/>
                </a:solidFill>
                <a:effectLst/>
                <a:latin typeface="Comic Sans MS" pitchFamily="66" charset="0"/>
                <a:ea typeface="ＭＳ Ｐゴシック" charset="0"/>
                <a:cs typeface="ＭＳ Ｐゴシック" charset="0"/>
              </a:rPr>
              <a:t>    a++;</a:t>
            </a:r>
          </a:p>
          <a:p>
            <a:r>
              <a:rPr lang="en-US" sz="1200" kern="1200" dirty="0">
                <a:solidFill>
                  <a:schemeClr val="tx1"/>
                </a:solidFill>
                <a:effectLst/>
                <a:latin typeface="Comic Sans MS" pitchFamily="66" charset="0"/>
                <a:ea typeface="ＭＳ Ｐゴシック" charset="0"/>
                <a:cs typeface="ＭＳ Ｐゴシック" charset="0"/>
              </a:rPr>
              <a:t>    </a:t>
            </a:r>
            <a:r>
              <a:rPr lang="en-US" sz="1200" kern="1200" dirty="0" err="1">
                <a:solidFill>
                  <a:schemeClr val="tx1"/>
                </a:solidFill>
                <a:effectLst/>
                <a:latin typeface="Comic Sans MS" pitchFamily="66" charset="0"/>
                <a:ea typeface="ＭＳ Ｐゴシック" charset="0"/>
                <a:cs typeface="ＭＳ Ｐゴシック" charset="0"/>
              </a:rPr>
              <a:t>fprintf</a:t>
            </a:r>
            <a:r>
              <a:rPr lang="en-US" sz="1200" kern="1200" dirty="0">
                <a:solidFill>
                  <a:schemeClr val="tx1"/>
                </a:solidFill>
                <a:effectLst/>
                <a:latin typeface="Comic Sans MS" pitchFamily="66" charset="0"/>
                <a:ea typeface="ＭＳ Ｐゴシック" charset="0"/>
                <a:cs typeface="ＭＳ Ｐゴシック" charset="0"/>
              </a:rPr>
              <a:t>(</a:t>
            </a:r>
            <a:r>
              <a:rPr lang="en-US" sz="1200" kern="1200" dirty="0" err="1">
                <a:solidFill>
                  <a:schemeClr val="tx1"/>
                </a:solidFill>
                <a:effectLst/>
                <a:latin typeface="Comic Sans MS" pitchFamily="66" charset="0"/>
                <a:ea typeface="ＭＳ Ｐゴシック" charset="0"/>
                <a:cs typeface="ＭＳ Ｐゴシック" charset="0"/>
              </a:rPr>
              <a:t>stdout</a:t>
            </a:r>
            <a:r>
              <a:rPr lang="en-US" sz="1200" kern="1200" dirty="0">
                <a:solidFill>
                  <a:schemeClr val="tx1"/>
                </a:solidFill>
                <a:effectLst/>
                <a:latin typeface="Comic Sans MS" pitchFamily="66" charset="0"/>
                <a:ea typeface="ＭＳ Ｐゴシック" charset="0"/>
                <a:cs typeface="ＭＳ Ｐゴシック" charset="0"/>
              </a:rPr>
              <a:t>, "Child: int a is %d at %p\n", a, &amp;a);</a:t>
            </a:r>
          </a:p>
          <a:p>
            <a:r>
              <a:rPr lang="en-US" sz="1200" kern="1200" dirty="0">
                <a:solidFill>
                  <a:schemeClr val="tx1"/>
                </a:solidFill>
                <a:effectLst/>
                <a:latin typeface="Comic Sans MS" pitchFamily="66" charset="0"/>
                <a:ea typeface="ＭＳ Ｐゴシック" charset="0"/>
                <a:cs typeface="ＭＳ Ｐゴシック" charset="0"/>
              </a:rPr>
              <a:t>}</a:t>
            </a:r>
          </a:p>
          <a:p>
            <a:r>
              <a:rPr lang="en-US" b="1" dirty="0"/>
              <a:t>Will the parent and child print the same value for </a:t>
            </a:r>
            <a:r>
              <a:rPr lang="en-US" sz="1200" b="1" kern="1200" dirty="0">
                <a:solidFill>
                  <a:schemeClr val="tx1"/>
                </a:solidFill>
                <a:latin typeface="Comic Sans MS" pitchFamily="66" charset="0"/>
                <a:ea typeface="ＭＳ Ｐゴシック" charset="0"/>
                <a:cs typeface="ＭＳ Ｐゴシック" charset="0"/>
              </a:rPr>
              <a:t>a</a:t>
            </a:r>
            <a:r>
              <a:rPr lang="en-US" b="1" dirty="0"/>
              <a:t>?</a:t>
            </a:r>
            <a:endParaRPr lang="en-US" dirty="0"/>
          </a:p>
          <a:p>
            <a:pPr lvl="1"/>
            <a:r>
              <a:rPr lang="en-US" b="1" dirty="0"/>
              <a:t>Provided Answer:</a:t>
            </a:r>
            <a:r>
              <a:rPr lang="en-US" dirty="0"/>
              <a:t> "Yes. Processes do not share the same memory space, so a is 2 for both."</a:t>
            </a:r>
          </a:p>
          <a:p>
            <a:pPr lvl="1"/>
            <a:r>
              <a:rPr lang="en-US" b="1" dirty="0"/>
              <a:t>Verification:</a:t>
            </a:r>
            <a:r>
              <a:rPr lang="en-US" dirty="0"/>
              <a:t> The conclusion is </a:t>
            </a:r>
            <a:r>
              <a:rPr lang="en-US" b="1" dirty="0"/>
              <a:t>correct</a:t>
            </a:r>
            <a:r>
              <a:rPr lang="en-US" dirty="0"/>
              <a:t>, but the reasoning is stated in a confusing way.</a:t>
            </a:r>
          </a:p>
          <a:p>
            <a:pPr lvl="1"/>
            <a:r>
              <a:rPr lang="en-US" b="1" dirty="0"/>
              <a:t>Explanation:</a:t>
            </a:r>
            <a:r>
              <a:rPr lang="en-US" dirty="0"/>
              <a:t> Both parent and child will print </a:t>
            </a:r>
            <a:r>
              <a:rPr lang="en-US" sz="1200" kern="1200" dirty="0">
                <a:solidFill>
                  <a:schemeClr val="tx1"/>
                </a:solidFill>
                <a:latin typeface="Comic Sans MS" pitchFamily="66" charset="0"/>
                <a:ea typeface="ＭＳ Ｐゴシック" charset="0"/>
                <a:cs typeface="+mn-cs"/>
              </a:rPr>
              <a:t>2</a:t>
            </a:r>
            <a:r>
              <a:rPr lang="en-US" dirty="0"/>
              <a:t>. After the </a:t>
            </a:r>
            <a:r>
              <a:rPr lang="en-US" sz="1200" kern="1200" dirty="0">
                <a:solidFill>
                  <a:schemeClr val="tx1"/>
                </a:solidFill>
                <a:latin typeface="Comic Sans MS" pitchFamily="66" charset="0"/>
                <a:ea typeface="ＭＳ Ｐゴシック" charset="0"/>
                <a:cs typeface="+mn-cs"/>
              </a:rPr>
              <a:t>fork()</a:t>
            </a:r>
            <a:r>
              <a:rPr lang="en-US" dirty="0"/>
              <a:t> call, both processes have their own independent copy of the variable </a:t>
            </a:r>
            <a:r>
              <a:rPr lang="en-US" sz="1200" kern="1200" dirty="0">
                <a:solidFill>
                  <a:schemeClr val="tx1"/>
                </a:solidFill>
                <a:latin typeface="Comic Sans MS" pitchFamily="66" charset="0"/>
                <a:ea typeface="ＭＳ Ｐゴシック" charset="0"/>
                <a:cs typeface="+mn-cs"/>
              </a:rPr>
              <a:t>a</a:t>
            </a:r>
            <a:r>
              <a:rPr lang="en-US" dirty="0"/>
              <a:t>, which is initialized to </a:t>
            </a:r>
            <a:r>
              <a:rPr lang="en-US" sz="1200" kern="1200" dirty="0">
                <a:solidFill>
                  <a:schemeClr val="tx1"/>
                </a:solidFill>
                <a:latin typeface="Comic Sans MS" pitchFamily="66" charset="0"/>
                <a:ea typeface="ＭＳ Ｐゴシック" charset="0"/>
                <a:cs typeface="+mn-cs"/>
              </a:rPr>
              <a:t>1</a:t>
            </a:r>
            <a:r>
              <a:rPr lang="en-US" dirty="0"/>
              <a:t>. Since both the parent's code block and the child's code block execute </a:t>
            </a:r>
            <a:r>
              <a:rPr lang="en-US" sz="1200" kern="1200" dirty="0">
                <a:solidFill>
                  <a:schemeClr val="tx1"/>
                </a:solidFill>
                <a:latin typeface="Comic Sans MS" pitchFamily="66" charset="0"/>
                <a:ea typeface="ＭＳ Ｐゴシック" charset="0"/>
                <a:cs typeface="+mn-cs"/>
              </a:rPr>
              <a:t>a++</a:t>
            </a:r>
            <a:r>
              <a:rPr lang="en-US" dirty="0"/>
              <a:t>, both variables are incremented to </a:t>
            </a:r>
            <a:r>
              <a:rPr lang="en-US" sz="1200" kern="1200" dirty="0">
                <a:solidFill>
                  <a:schemeClr val="tx1"/>
                </a:solidFill>
                <a:latin typeface="Comic Sans MS" pitchFamily="66" charset="0"/>
                <a:ea typeface="ＭＳ Ｐゴシック" charset="0"/>
                <a:cs typeface="+mn-cs"/>
              </a:rPr>
              <a:t>2</a:t>
            </a:r>
            <a:r>
              <a:rPr lang="en-US" dirty="0"/>
              <a:t> in their respective memory spaces.</a:t>
            </a:r>
          </a:p>
          <a:p>
            <a:r>
              <a:rPr lang="en-US" b="1" dirty="0"/>
              <a:t>Will they print the same memory address for </a:t>
            </a:r>
            <a:r>
              <a:rPr lang="en-US" sz="1200" b="1" kern="1200" dirty="0">
                <a:solidFill>
                  <a:schemeClr val="tx1"/>
                </a:solidFill>
                <a:latin typeface="Comic Sans MS" pitchFamily="66" charset="0"/>
                <a:ea typeface="ＭＳ Ｐゴシック" charset="0"/>
                <a:cs typeface="ＭＳ Ｐゴシック" charset="0"/>
              </a:rPr>
              <a:t>a</a:t>
            </a:r>
            <a:r>
              <a:rPr lang="en-US" b="1" dirty="0"/>
              <a:t>?</a:t>
            </a:r>
            <a:endParaRPr lang="en-US" dirty="0"/>
          </a:p>
          <a:p>
            <a:pPr lvl="1"/>
            <a:r>
              <a:rPr lang="en-US" b="1" dirty="0"/>
              <a:t>Provided Answer:</a:t>
            </a:r>
            <a:r>
              <a:rPr lang="en-US" dirty="0"/>
              <a:t> "Yes. Fork copies the address space of the parent to the child."</a:t>
            </a:r>
          </a:p>
          <a:p>
            <a:pPr lvl="1"/>
            <a:r>
              <a:rPr lang="en-US" b="1" dirty="0"/>
              <a:t>Verification:</a:t>
            </a:r>
            <a:r>
              <a:rPr lang="en-US" dirty="0"/>
              <a:t> </a:t>
            </a:r>
            <a:r>
              <a:rPr lang="en-US" b="1" dirty="0"/>
              <a:t>Correct</a:t>
            </a:r>
            <a:r>
              <a:rPr lang="en-US" dirty="0"/>
              <a:t>.</a:t>
            </a:r>
          </a:p>
          <a:p>
            <a:pPr lvl="1"/>
            <a:r>
              <a:rPr lang="en-US" b="1" dirty="0"/>
              <a:t>Explanation:</a:t>
            </a:r>
            <a:r>
              <a:rPr lang="en-US" dirty="0"/>
              <a:t> The child process receives a copy of the parent's virtual address space. Therefore, the variable </a:t>
            </a:r>
            <a:r>
              <a:rPr lang="en-US" sz="1200" kern="1200" dirty="0">
                <a:solidFill>
                  <a:schemeClr val="tx1"/>
                </a:solidFill>
                <a:latin typeface="Comic Sans MS" pitchFamily="66" charset="0"/>
                <a:ea typeface="ＭＳ Ｐゴシック" charset="0"/>
                <a:cs typeface="+mn-cs"/>
              </a:rPr>
              <a:t>a</a:t>
            </a:r>
            <a:r>
              <a:rPr lang="en-US" dirty="0"/>
              <a:t> will have the same virtual address in both processes.</a:t>
            </a:r>
          </a:p>
          <a:p>
            <a:r>
              <a:rPr lang="en-US" b="1" dirty="0"/>
              <a:t>Will they write to the same STDOUT?</a:t>
            </a:r>
            <a:endParaRPr lang="en-US" dirty="0"/>
          </a:p>
          <a:p>
            <a:pPr lvl="1"/>
            <a:r>
              <a:rPr lang="en-US" b="1" dirty="0"/>
              <a:t>Provided Answer:</a:t>
            </a:r>
            <a:r>
              <a:rPr lang="en-US" dirty="0"/>
              <a:t> "Yes. File descriptors are copied over to the new process, so both STDOUTs will reference the same file."</a:t>
            </a:r>
          </a:p>
          <a:p>
            <a:pPr lvl="1"/>
            <a:r>
              <a:rPr lang="en-US" b="1" dirty="0"/>
              <a:t>Verification:</a:t>
            </a:r>
            <a:r>
              <a:rPr lang="en-US" dirty="0"/>
              <a:t> </a:t>
            </a:r>
            <a:r>
              <a:rPr lang="en-US" b="1" dirty="0"/>
              <a:t>Correct</a:t>
            </a:r>
            <a:r>
              <a:rPr lang="en-US" dirty="0"/>
              <a:t>.</a:t>
            </a:r>
          </a:p>
          <a:p>
            <a:pPr lvl="1"/>
            <a:r>
              <a:rPr lang="en-US" b="1" dirty="0"/>
              <a:t>Explanation:</a:t>
            </a:r>
            <a:r>
              <a:rPr lang="en-US" dirty="0"/>
              <a:t> The child inherits copies of the parent's file descriptors. Both the parent's and child's standard output file descriptors will point to the same entry in the system's open file table.</a:t>
            </a:r>
          </a:p>
          <a:p>
            <a:r>
              <a:rPr lang="en-US" b="1" dirty="0"/>
              <a:t>Question 3: Second </a:t>
            </a:r>
            <a:r>
              <a:rPr lang="en-US" sz="1200" b="1" kern="1200" dirty="0">
                <a:solidFill>
                  <a:schemeClr val="tx1"/>
                </a:solidFill>
                <a:latin typeface="Comic Sans MS" pitchFamily="66" charset="0"/>
                <a:ea typeface="ＭＳ Ｐゴシック" charset="0"/>
                <a:cs typeface="ＭＳ Ｐゴシック" charset="0"/>
              </a:rPr>
              <a:t>fork()</a:t>
            </a:r>
            <a:r>
              <a:rPr lang="en-US" b="1" dirty="0"/>
              <a:t> Example</a:t>
            </a:r>
          </a:p>
          <a:p>
            <a:r>
              <a:rPr lang="en-US" dirty="0"/>
              <a:t>The code for this question modifies the operations on </a:t>
            </a:r>
            <a:r>
              <a:rPr lang="en-US" sz="1200" kern="1200" dirty="0">
                <a:solidFill>
                  <a:schemeClr val="tx1"/>
                </a:solidFill>
                <a:latin typeface="Comic Sans MS" pitchFamily="66" charset="0"/>
                <a:ea typeface="ＭＳ Ｐゴシック" charset="0"/>
                <a:cs typeface="ＭＳ Ｐゴシック" charset="0"/>
              </a:rPr>
              <a:t>a</a:t>
            </a:r>
            <a:r>
              <a:rPr lang="en-US" dirty="0"/>
              <a:t>:</a:t>
            </a:r>
          </a:p>
          <a:p>
            <a:r>
              <a:rPr lang="en-US" sz="1200" kern="1200" dirty="0">
                <a:solidFill>
                  <a:schemeClr val="tx1"/>
                </a:solidFill>
                <a:latin typeface="Comic Sans MS" pitchFamily="66" charset="0"/>
                <a:ea typeface="ＭＳ Ｐゴシック" charset="0"/>
                <a:cs typeface="ＭＳ Ｐゴシック" charset="0"/>
              </a:rPr>
              <a:t>c</a:t>
            </a:r>
          </a:p>
          <a:p>
            <a:r>
              <a:rPr lang="en-US" sz="1200" b="1" kern="1200" dirty="0">
                <a:solidFill>
                  <a:schemeClr val="tx1"/>
                </a:solidFill>
                <a:effectLst/>
                <a:latin typeface="Comic Sans MS" pitchFamily="66" charset="0"/>
                <a:ea typeface="ＭＳ Ｐゴシック" charset="0"/>
                <a:cs typeface="ＭＳ Ｐゴシック" charset="0"/>
              </a:rPr>
              <a:t>int</a:t>
            </a:r>
            <a:r>
              <a:rPr lang="en-US" sz="1200" kern="1200" dirty="0">
                <a:solidFill>
                  <a:schemeClr val="tx1"/>
                </a:solidFill>
                <a:effectLst/>
                <a:latin typeface="Comic Sans MS" pitchFamily="66" charset="0"/>
                <a:ea typeface="ＭＳ Ｐゴシック" charset="0"/>
                <a:cs typeface="ＭＳ Ｐゴシック" charset="0"/>
              </a:rPr>
              <a:t> a = 1;</a:t>
            </a:r>
          </a:p>
          <a:p>
            <a:r>
              <a:rPr lang="en-US" sz="1200" kern="1200" dirty="0" err="1">
                <a:solidFill>
                  <a:schemeClr val="tx1"/>
                </a:solidFill>
                <a:effectLst/>
                <a:latin typeface="Comic Sans MS" pitchFamily="66" charset="0"/>
                <a:ea typeface="ＭＳ Ｐゴシック" charset="0"/>
                <a:cs typeface="ＭＳ Ｐゴシック" charset="0"/>
              </a:rPr>
              <a:t>pid_t</a:t>
            </a:r>
            <a:r>
              <a:rPr lang="en-US" sz="1200" kern="1200" dirty="0">
                <a:solidFill>
                  <a:schemeClr val="tx1"/>
                </a:solidFill>
                <a:effectLst/>
                <a:latin typeface="Comic Sans MS" pitchFamily="66" charset="0"/>
                <a:ea typeface="ＭＳ Ｐゴシック" charset="0"/>
                <a:cs typeface="ＭＳ Ｐゴシック" charset="0"/>
              </a:rPr>
              <a:t> </a:t>
            </a:r>
            <a:r>
              <a:rPr lang="en-US" sz="1200" kern="1200" dirty="0" err="1">
                <a:solidFill>
                  <a:schemeClr val="tx1"/>
                </a:solidFill>
                <a:effectLst/>
                <a:latin typeface="Comic Sans MS" pitchFamily="66" charset="0"/>
                <a:ea typeface="ＭＳ Ｐゴシック" charset="0"/>
                <a:cs typeface="ＭＳ Ｐゴシック" charset="0"/>
              </a:rPr>
              <a:t>fork_ret</a:t>
            </a:r>
            <a:r>
              <a:rPr lang="en-US" sz="1200" kern="1200" dirty="0">
                <a:solidFill>
                  <a:schemeClr val="tx1"/>
                </a:solidFill>
                <a:effectLst/>
                <a:latin typeface="Comic Sans MS" pitchFamily="66" charset="0"/>
                <a:ea typeface="ＭＳ Ｐゴシック" charset="0"/>
                <a:cs typeface="ＭＳ Ｐゴシック" charset="0"/>
              </a:rPr>
              <a:t> = fork();</a:t>
            </a:r>
          </a:p>
          <a:p>
            <a:r>
              <a:rPr lang="en-US" sz="1200" b="1" kern="1200" dirty="0">
                <a:solidFill>
                  <a:schemeClr val="tx1"/>
                </a:solidFill>
                <a:effectLst/>
                <a:latin typeface="Comic Sans MS" pitchFamily="66" charset="0"/>
                <a:ea typeface="ＭＳ Ｐゴシック" charset="0"/>
                <a:cs typeface="ＭＳ Ｐゴシック" charset="0"/>
              </a:rPr>
              <a:t>if</a:t>
            </a:r>
            <a:r>
              <a:rPr lang="en-US" sz="1200" kern="1200" dirty="0">
                <a:solidFill>
                  <a:schemeClr val="tx1"/>
                </a:solidFill>
                <a:effectLst/>
                <a:latin typeface="Comic Sans MS" pitchFamily="66" charset="0"/>
                <a:ea typeface="ＭＳ Ｐゴシック" charset="0"/>
                <a:cs typeface="ＭＳ Ｐゴシック" charset="0"/>
              </a:rPr>
              <a:t> (</a:t>
            </a:r>
            <a:r>
              <a:rPr lang="en-US" sz="1200" kern="1200" dirty="0" err="1">
                <a:solidFill>
                  <a:schemeClr val="tx1"/>
                </a:solidFill>
                <a:effectLst/>
                <a:latin typeface="Comic Sans MS" pitchFamily="66" charset="0"/>
                <a:ea typeface="ＭＳ Ｐゴシック" charset="0"/>
                <a:cs typeface="ＭＳ Ｐゴシック" charset="0"/>
              </a:rPr>
              <a:t>fork_ret</a:t>
            </a:r>
            <a:r>
              <a:rPr lang="en-US" sz="1200" kern="1200" dirty="0">
                <a:solidFill>
                  <a:schemeClr val="tx1"/>
                </a:solidFill>
                <a:effectLst/>
                <a:latin typeface="Comic Sans MS" pitchFamily="66" charset="0"/>
                <a:ea typeface="ＭＳ Ｐゴシック" charset="0"/>
                <a:cs typeface="ＭＳ Ｐゴシック" charset="0"/>
              </a:rPr>
              <a:t> &gt; 0) { </a:t>
            </a:r>
            <a:r>
              <a:rPr lang="en-US" sz="1200" i="1" kern="1200" dirty="0">
                <a:solidFill>
                  <a:schemeClr val="tx1"/>
                </a:solidFill>
                <a:effectLst/>
                <a:latin typeface="Comic Sans MS" pitchFamily="66" charset="0"/>
                <a:ea typeface="ＭＳ Ｐゴシック" charset="0"/>
                <a:cs typeface="ＭＳ Ｐゴシック" charset="0"/>
              </a:rPr>
              <a:t>// Parent</a:t>
            </a:r>
            <a:endParaRPr lang="en-US" sz="1200" kern="1200" dirty="0">
              <a:solidFill>
                <a:schemeClr val="tx1"/>
              </a:solidFill>
              <a:effectLst/>
              <a:latin typeface="Comic Sans MS" pitchFamily="66" charset="0"/>
              <a:ea typeface="ＭＳ Ｐゴシック" charset="0"/>
              <a:cs typeface="ＭＳ Ｐゴシック" charset="0"/>
            </a:endParaRPr>
          </a:p>
          <a:p>
            <a:r>
              <a:rPr lang="en-US" sz="1200" kern="1200" dirty="0">
                <a:solidFill>
                  <a:schemeClr val="tx1"/>
                </a:solidFill>
                <a:effectLst/>
                <a:latin typeface="Comic Sans MS" pitchFamily="66" charset="0"/>
                <a:ea typeface="ＭＳ Ｐゴシック" charset="0"/>
                <a:cs typeface="ＭＳ Ｐゴシック" charset="0"/>
              </a:rPr>
              <a:t>    a++;</a:t>
            </a:r>
          </a:p>
          <a:p>
            <a:r>
              <a:rPr lang="en-US" sz="1200" kern="1200" dirty="0">
                <a:solidFill>
                  <a:schemeClr val="tx1"/>
                </a:solidFill>
                <a:effectLst/>
                <a:latin typeface="Comic Sans MS" pitchFamily="66" charset="0"/>
                <a:ea typeface="ＭＳ Ｐゴシック" charset="0"/>
                <a:cs typeface="ＭＳ Ｐゴシック" charset="0"/>
              </a:rPr>
              <a:t>    </a:t>
            </a:r>
            <a:r>
              <a:rPr lang="en-US" sz="1200" kern="1200" dirty="0" err="1">
                <a:solidFill>
                  <a:schemeClr val="tx1"/>
                </a:solidFill>
                <a:effectLst/>
                <a:latin typeface="Comic Sans MS" pitchFamily="66" charset="0"/>
                <a:ea typeface="ＭＳ Ｐゴシック" charset="0"/>
                <a:cs typeface="ＭＳ Ｐゴシック" charset="0"/>
              </a:rPr>
              <a:t>fprintf</a:t>
            </a:r>
            <a:r>
              <a:rPr lang="en-US" sz="1200" kern="1200" dirty="0">
                <a:solidFill>
                  <a:schemeClr val="tx1"/>
                </a:solidFill>
                <a:effectLst/>
                <a:latin typeface="Comic Sans MS" pitchFamily="66" charset="0"/>
                <a:ea typeface="ＭＳ Ｐゴシック" charset="0"/>
                <a:cs typeface="ＭＳ Ｐゴシック" charset="0"/>
              </a:rPr>
              <a:t>(</a:t>
            </a:r>
            <a:r>
              <a:rPr lang="en-US" sz="1200" kern="1200" dirty="0" err="1">
                <a:solidFill>
                  <a:schemeClr val="tx1"/>
                </a:solidFill>
                <a:effectLst/>
                <a:latin typeface="Comic Sans MS" pitchFamily="66" charset="0"/>
                <a:ea typeface="ＭＳ Ｐゴシック" charset="0"/>
                <a:cs typeface="ＭＳ Ｐゴシック" charset="0"/>
              </a:rPr>
              <a:t>stdout</a:t>
            </a:r>
            <a:r>
              <a:rPr lang="en-US" sz="1200" kern="1200" dirty="0">
                <a:solidFill>
                  <a:schemeClr val="tx1"/>
                </a:solidFill>
                <a:effectLst/>
                <a:latin typeface="Comic Sans MS" pitchFamily="66" charset="0"/>
                <a:ea typeface="ＭＳ Ｐゴシック" charset="0"/>
                <a:cs typeface="ＭＳ Ｐゴシック" charset="0"/>
              </a:rPr>
              <a:t>, "Parent: int a is %d at %p\n", a, &amp;a);</a:t>
            </a:r>
          </a:p>
          <a:p>
            <a:r>
              <a:rPr lang="en-US" sz="1200" kern="1200" dirty="0">
                <a:solidFill>
                  <a:schemeClr val="tx1"/>
                </a:solidFill>
                <a:effectLst/>
                <a:latin typeface="Comic Sans MS" pitchFamily="66" charset="0"/>
                <a:ea typeface="ＭＳ Ｐゴシック" charset="0"/>
                <a:cs typeface="ＭＳ Ｐゴシック" charset="0"/>
              </a:rPr>
              <a:t>} </a:t>
            </a:r>
            <a:r>
              <a:rPr lang="en-US" sz="1200" b="1" kern="1200" dirty="0">
                <a:solidFill>
                  <a:schemeClr val="tx1"/>
                </a:solidFill>
                <a:effectLst/>
                <a:latin typeface="Comic Sans MS" pitchFamily="66" charset="0"/>
                <a:ea typeface="ＭＳ Ｐゴシック" charset="0"/>
                <a:cs typeface="ＭＳ Ｐゴシック" charset="0"/>
              </a:rPr>
              <a:t>else</a:t>
            </a:r>
            <a:r>
              <a:rPr lang="en-US" sz="1200" kern="1200" dirty="0">
                <a:solidFill>
                  <a:schemeClr val="tx1"/>
                </a:solidFill>
                <a:effectLst/>
                <a:latin typeface="Comic Sans MS" pitchFamily="66" charset="0"/>
                <a:ea typeface="ＭＳ Ｐゴシック" charset="0"/>
                <a:cs typeface="ＭＳ Ｐゴシック" charset="0"/>
              </a:rPr>
              <a:t> </a:t>
            </a:r>
            <a:r>
              <a:rPr lang="en-US" sz="1200" b="1" kern="1200" dirty="0">
                <a:solidFill>
                  <a:schemeClr val="tx1"/>
                </a:solidFill>
                <a:effectLst/>
                <a:latin typeface="Comic Sans MS" pitchFamily="66" charset="0"/>
                <a:ea typeface="ＭＳ Ｐゴシック" charset="0"/>
                <a:cs typeface="ＭＳ Ｐゴシック" charset="0"/>
              </a:rPr>
              <a:t>if</a:t>
            </a:r>
            <a:r>
              <a:rPr lang="en-US" sz="1200" kern="1200" dirty="0">
                <a:solidFill>
                  <a:schemeClr val="tx1"/>
                </a:solidFill>
                <a:effectLst/>
                <a:latin typeface="Comic Sans MS" pitchFamily="66" charset="0"/>
                <a:ea typeface="ＭＳ Ｐゴシック" charset="0"/>
                <a:cs typeface="ＭＳ Ｐゴシック" charset="0"/>
              </a:rPr>
              <a:t> (</a:t>
            </a:r>
            <a:r>
              <a:rPr lang="en-US" sz="1200" kern="1200" dirty="0" err="1">
                <a:solidFill>
                  <a:schemeClr val="tx1"/>
                </a:solidFill>
                <a:effectLst/>
                <a:latin typeface="Comic Sans MS" pitchFamily="66" charset="0"/>
                <a:ea typeface="ＭＳ Ｐゴシック" charset="0"/>
                <a:cs typeface="ＭＳ Ｐゴシック" charset="0"/>
              </a:rPr>
              <a:t>fork_ret</a:t>
            </a:r>
            <a:r>
              <a:rPr lang="en-US" sz="1200" kern="1200" dirty="0">
                <a:solidFill>
                  <a:schemeClr val="tx1"/>
                </a:solidFill>
                <a:effectLst/>
                <a:latin typeface="Comic Sans MS" pitchFamily="66" charset="0"/>
                <a:ea typeface="ＭＳ Ｐゴシック" charset="0"/>
                <a:cs typeface="ＭＳ Ｐゴシック" charset="0"/>
              </a:rPr>
              <a:t> == 0) { </a:t>
            </a:r>
            <a:r>
              <a:rPr lang="en-US" sz="1200" i="1" kern="1200" dirty="0">
                <a:solidFill>
                  <a:schemeClr val="tx1"/>
                </a:solidFill>
                <a:effectLst/>
                <a:latin typeface="Comic Sans MS" pitchFamily="66" charset="0"/>
                <a:ea typeface="ＭＳ Ｐゴシック" charset="0"/>
                <a:cs typeface="ＭＳ Ｐゴシック" charset="0"/>
              </a:rPr>
              <a:t>// Child</a:t>
            </a:r>
            <a:endParaRPr lang="en-US" sz="1200" kern="1200" dirty="0">
              <a:solidFill>
                <a:schemeClr val="tx1"/>
              </a:solidFill>
              <a:effectLst/>
              <a:latin typeface="Comic Sans MS" pitchFamily="66" charset="0"/>
              <a:ea typeface="ＭＳ Ｐゴシック" charset="0"/>
              <a:cs typeface="ＭＳ Ｐゴシック" charset="0"/>
            </a:endParaRPr>
          </a:p>
          <a:p>
            <a:r>
              <a:rPr lang="en-US" sz="1200" kern="1200" dirty="0">
                <a:solidFill>
                  <a:schemeClr val="tx1"/>
                </a:solidFill>
                <a:effectLst/>
                <a:latin typeface="Comic Sans MS" pitchFamily="66" charset="0"/>
                <a:ea typeface="ＭＳ Ｐゴシック" charset="0"/>
                <a:cs typeface="ＭＳ Ｐゴシック" charset="0"/>
              </a:rPr>
              <a:t>    a--;</a:t>
            </a:r>
          </a:p>
          <a:p>
            <a:r>
              <a:rPr lang="en-US" sz="1200" kern="1200" dirty="0">
                <a:solidFill>
                  <a:schemeClr val="tx1"/>
                </a:solidFill>
                <a:effectLst/>
                <a:latin typeface="Comic Sans MS" pitchFamily="66" charset="0"/>
                <a:ea typeface="ＭＳ Ｐゴシック" charset="0"/>
                <a:cs typeface="ＭＳ Ｐゴシック" charset="0"/>
              </a:rPr>
              <a:t>    </a:t>
            </a:r>
            <a:r>
              <a:rPr lang="en-US" sz="1200" kern="1200" dirty="0" err="1">
                <a:solidFill>
                  <a:schemeClr val="tx1"/>
                </a:solidFill>
                <a:effectLst/>
                <a:latin typeface="Comic Sans MS" pitchFamily="66" charset="0"/>
                <a:ea typeface="ＭＳ Ｐゴシック" charset="0"/>
                <a:cs typeface="ＭＳ Ｐゴシック" charset="0"/>
              </a:rPr>
              <a:t>fprintf</a:t>
            </a:r>
            <a:r>
              <a:rPr lang="en-US" sz="1200" kern="1200" dirty="0">
                <a:solidFill>
                  <a:schemeClr val="tx1"/>
                </a:solidFill>
                <a:effectLst/>
                <a:latin typeface="Comic Sans MS" pitchFamily="66" charset="0"/>
                <a:ea typeface="ＭＳ Ｐゴシック" charset="0"/>
                <a:cs typeface="ＭＳ Ｐゴシック" charset="0"/>
              </a:rPr>
              <a:t>(</a:t>
            </a:r>
            <a:r>
              <a:rPr lang="en-US" sz="1200" kern="1200" dirty="0" err="1">
                <a:solidFill>
                  <a:schemeClr val="tx1"/>
                </a:solidFill>
                <a:effectLst/>
                <a:latin typeface="Comic Sans MS" pitchFamily="66" charset="0"/>
                <a:ea typeface="ＭＳ Ｐゴシック" charset="0"/>
                <a:cs typeface="ＭＳ Ｐゴシック" charset="0"/>
              </a:rPr>
              <a:t>stdout</a:t>
            </a:r>
            <a:r>
              <a:rPr lang="en-US" sz="1200" kern="1200" dirty="0">
                <a:solidFill>
                  <a:schemeClr val="tx1"/>
                </a:solidFill>
                <a:effectLst/>
                <a:latin typeface="Comic Sans MS" pitchFamily="66" charset="0"/>
                <a:ea typeface="ＭＳ Ｐゴシック" charset="0"/>
                <a:cs typeface="ＭＳ Ｐゴシック" charset="0"/>
              </a:rPr>
              <a:t>, "Child: int a is %d at %p\n", a, &amp;a);</a:t>
            </a:r>
          </a:p>
          <a:p>
            <a:r>
              <a:rPr lang="en-US" sz="1200" kern="1200" dirty="0">
                <a:solidFill>
                  <a:schemeClr val="tx1"/>
                </a:solidFill>
                <a:effectLst/>
                <a:latin typeface="Comic Sans MS" pitchFamily="66" charset="0"/>
                <a:ea typeface="ＭＳ Ｐゴシック" charset="0"/>
                <a:cs typeface="ＭＳ Ｐゴシック" charset="0"/>
              </a:rPr>
              <a:t>}</a:t>
            </a:r>
          </a:p>
          <a:p>
            <a:r>
              <a:rPr lang="en-US" b="1" dirty="0"/>
              <a:t>Will the parent and child print the same value for </a:t>
            </a:r>
            <a:r>
              <a:rPr lang="en-US" sz="1200" b="1" kern="1200" dirty="0">
                <a:solidFill>
                  <a:schemeClr val="tx1"/>
                </a:solidFill>
                <a:latin typeface="Comic Sans MS" pitchFamily="66" charset="0"/>
                <a:ea typeface="ＭＳ Ｐゴシック" charset="0"/>
                <a:cs typeface="ＭＳ Ｐゴシック" charset="0"/>
              </a:rPr>
              <a:t>a</a:t>
            </a:r>
            <a:r>
              <a:rPr lang="en-US" b="1" dirty="0"/>
              <a:t>?</a:t>
            </a:r>
            <a:endParaRPr lang="en-US" dirty="0"/>
          </a:p>
          <a:p>
            <a:pPr lvl="1"/>
            <a:r>
              <a:rPr lang="en-US" b="1" dirty="0"/>
              <a:t>Provided Answer:</a:t>
            </a:r>
            <a:r>
              <a:rPr lang="en-US" dirty="0"/>
              <a:t> "No. Processes do not share the same memory space, so a is 2 in parent, and 0 in child."</a:t>
            </a:r>
          </a:p>
          <a:p>
            <a:pPr lvl="1"/>
            <a:r>
              <a:rPr lang="en-US" b="1" dirty="0"/>
              <a:t>Verification:</a:t>
            </a:r>
            <a:r>
              <a:rPr lang="en-US" dirty="0"/>
              <a:t> </a:t>
            </a:r>
            <a:r>
              <a:rPr lang="en-US" b="1" dirty="0"/>
              <a:t>Correct</a:t>
            </a:r>
            <a:r>
              <a:rPr lang="en-US" dirty="0"/>
              <a:t>.</a:t>
            </a:r>
            <a:r>
              <a:rPr lang="en-US" dirty="0">
                <a:effectLst/>
              </a:rPr>
              <a:t>CSC112-Additional-Review-Questions.pdf</a:t>
            </a:r>
            <a:r>
              <a:rPr lang="en-US" dirty="0"/>
              <a:t>​</a:t>
            </a:r>
          </a:p>
          <a:p>
            <a:pPr lvl="1"/>
            <a:r>
              <a:rPr lang="en-US" b="1" dirty="0"/>
              <a:t>Explanation:</a:t>
            </a:r>
            <a:r>
              <a:rPr lang="en-US" dirty="0"/>
              <a:t> The parent increments </a:t>
            </a:r>
            <a:r>
              <a:rPr lang="en-US" sz="1200" kern="1200" dirty="0">
                <a:solidFill>
                  <a:schemeClr val="tx1"/>
                </a:solidFill>
                <a:latin typeface="Comic Sans MS" pitchFamily="66" charset="0"/>
                <a:ea typeface="ＭＳ Ｐゴシック" charset="0"/>
                <a:cs typeface="+mn-cs"/>
              </a:rPr>
              <a:t>a</a:t>
            </a:r>
            <a:r>
              <a:rPr lang="en-US" dirty="0"/>
              <a:t> (from 1 to 2), while the child decrements its own copy of </a:t>
            </a:r>
            <a:r>
              <a:rPr lang="en-US" sz="1200" kern="1200" dirty="0">
                <a:solidFill>
                  <a:schemeClr val="tx1"/>
                </a:solidFill>
                <a:latin typeface="Comic Sans MS" pitchFamily="66" charset="0"/>
                <a:ea typeface="ＭＳ Ｐゴシック" charset="0"/>
                <a:cs typeface="+mn-cs"/>
              </a:rPr>
              <a:t>a</a:t>
            </a:r>
            <a:r>
              <a:rPr lang="en-US" dirty="0"/>
              <a:t> (from 1 to 0).</a:t>
            </a:r>
          </a:p>
          <a:p>
            <a:r>
              <a:rPr lang="en-US" b="1" dirty="0"/>
              <a:t>Will they print the same memory address </a:t>
            </a:r>
            <a:r>
              <a:rPr lang="en-US" sz="1200" b="1" kern="1200" dirty="0">
                <a:solidFill>
                  <a:schemeClr val="tx1"/>
                </a:solidFill>
                <a:latin typeface="Comic Sans MS" pitchFamily="66" charset="0"/>
                <a:ea typeface="ＭＳ Ｐゴシック" charset="0"/>
                <a:cs typeface="ＭＳ Ｐゴシック" charset="0"/>
              </a:rPr>
              <a:t>a</a:t>
            </a:r>
            <a:r>
              <a:rPr lang="en-US" b="1" dirty="0"/>
              <a:t>?</a:t>
            </a:r>
            <a:endParaRPr lang="en-US" dirty="0"/>
          </a:p>
          <a:p>
            <a:pPr lvl="1"/>
            <a:r>
              <a:rPr lang="en-US" b="1" dirty="0"/>
              <a:t>Provided Answer:</a:t>
            </a:r>
            <a:r>
              <a:rPr lang="en-US" dirty="0"/>
              <a:t> "Yes. Fork copies the address space of the parent to the child."</a:t>
            </a:r>
          </a:p>
          <a:p>
            <a:pPr lvl="1"/>
            <a:r>
              <a:rPr lang="en-US" b="1" dirty="0"/>
              <a:t>Verification:</a:t>
            </a:r>
            <a:r>
              <a:rPr lang="en-US" dirty="0"/>
              <a:t> </a:t>
            </a:r>
            <a:r>
              <a:rPr lang="en-US" b="1" dirty="0"/>
              <a:t>Correct</a:t>
            </a:r>
            <a:r>
              <a:rPr lang="en-US" dirty="0"/>
              <a:t>.</a:t>
            </a:r>
            <a:r>
              <a:rPr lang="en-US" dirty="0">
                <a:effectLst/>
              </a:rPr>
              <a:t>CSC112-Additional-Review-Questions.pdf</a:t>
            </a:r>
            <a:r>
              <a:rPr lang="en-US" dirty="0"/>
              <a:t>​</a:t>
            </a:r>
          </a:p>
          <a:p>
            <a:r>
              <a:rPr lang="en-US" b="1" dirty="0"/>
              <a:t>Will they write to the same STDOUT?</a:t>
            </a:r>
            <a:endParaRPr lang="en-US" dirty="0"/>
          </a:p>
          <a:p>
            <a:pPr lvl="1"/>
            <a:r>
              <a:rPr lang="en-US" b="1" dirty="0"/>
              <a:t>Provided Answer:</a:t>
            </a:r>
            <a:r>
              <a:rPr lang="en-US" dirty="0"/>
              <a:t> "Yes. File descriptors are copied over to the new process, so both STDOUTs will reference the same file."</a:t>
            </a:r>
          </a:p>
          <a:p>
            <a:pPr lvl="1"/>
            <a:r>
              <a:rPr lang="en-US" b="1" dirty="0"/>
              <a:t>Verification:</a:t>
            </a:r>
            <a:r>
              <a:rPr lang="en-US" dirty="0"/>
              <a:t> </a:t>
            </a:r>
            <a:r>
              <a:rPr lang="en-US" b="1" dirty="0"/>
              <a:t>Correct</a:t>
            </a:r>
            <a:r>
              <a:rPr lang="en-US" dirty="0"/>
              <a:t>.</a:t>
            </a:r>
            <a:r>
              <a:rPr lang="en-US" dirty="0">
                <a:effectLst/>
              </a:rPr>
              <a:t>CSC112-Additional-Review-Questions.pdf</a:t>
            </a:r>
            <a:r>
              <a:rPr lang="en-US" dirty="0"/>
              <a:t>​</a:t>
            </a:r>
          </a:p>
          <a:p>
            <a:r>
              <a:rPr lang="en-US" b="1" dirty="0"/>
              <a:t>Question 4: </a:t>
            </a:r>
            <a:r>
              <a:rPr lang="en-US" sz="1200" b="1" kern="1200" dirty="0" err="1">
                <a:solidFill>
                  <a:schemeClr val="tx1"/>
                </a:solidFill>
                <a:latin typeface="Comic Sans MS" pitchFamily="66" charset="0"/>
                <a:ea typeface="ＭＳ Ｐゴシック" charset="0"/>
                <a:cs typeface="ＭＳ Ｐゴシック" charset="0"/>
              </a:rPr>
              <a:t>execv</a:t>
            </a:r>
            <a:r>
              <a:rPr lang="en-US" b="1" dirty="0"/>
              <a:t> Example</a:t>
            </a:r>
          </a:p>
          <a:p>
            <a:r>
              <a:rPr lang="en-US" b="1" dirty="0"/>
              <a:t>What does this program print?</a:t>
            </a:r>
            <a:endParaRPr lang="en-US" dirty="0"/>
          </a:p>
          <a:p>
            <a:pPr lvl="1"/>
            <a:r>
              <a:rPr lang="en-US" b="1" dirty="0"/>
              <a:t>Provided Answer:</a:t>
            </a:r>
            <a:r>
              <a:rPr lang="en-US" dirty="0"/>
              <a:t> "Currently, the program stops after printing 3, giving an output of 0 1 2 3 Output of the ls command..."</a:t>
            </a:r>
          </a:p>
          <a:p>
            <a:pPr lvl="1"/>
            <a:r>
              <a:rPr lang="en-US" b="1" dirty="0"/>
              <a:t>Verification:</a:t>
            </a:r>
            <a:r>
              <a:rPr lang="en-US" dirty="0"/>
              <a:t> </a:t>
            </a:r>
            <a:r>
              <a:rPr lang="en-US" b="1" dirty="0"/>
              <a:t>Correct</a:t>
            </a:r>
            <a:r>
              <a:rPr lang="en-US" dirty="0"/>
              <a:t>.</a:t>
            </a:r>
          </a:p>
          <a:p>
            <a:pPr lvl="1"/>
            <a:r>
              <a:rPr lang="en-US" b="1" dirty="0"/>
              <a:t>Explanation:</a:t>
            </a:r>
            <a:r>
              <a:rPr lang="en-US" dirty="0"/>
              <a:t> The program loops and prints the numbers 0, 1, 2, and 3. When </a:t>
            </a:r>
            <a:r>
              <a:rPr lang="en-US" sz="1200" kern="1200" dirty="0" err="1">
                <a:solidFill>
                  <a:schemeClr val="tx1"/>
                </a:solidFill>
                <a:latin typeface="Comic Sans MS" pitchFamily="66" charset="0"/>
                <a:ea typeface="ＭＳ Ｐゴシック" charset="0"/>
                <a:cs typeface="+mn-cs"/>
              </a:rPr>
              <a:t>i</a:t>
            </a:r>
            <a:r>
              <a:rPr lang="en-US" dirty="0"/>
              <a:t> is 3, the </a:t>
            </a:r>
            <a:r>
              <a:rPr lang="en-US" sz="1200" kern="1200" dirty="0" err="1">
                <a:solidFill>
                  <a:schemeClr val="tx1"/>
                </a:solidFill>
                <a:latin typeface="Comic Sans MS" pitchFamily="66" charset="0"/>
                <a:ea typeface="ＭＳ Ｐゴシック" charset="0"/>
                <a:cs typeface="+mn-cs"/>
              </a:rPr>
              <a:t>execv</a:t>
            </a:r>
            <a:r>
              <a:rPr lang="en-US" dirty="0"/>
              <a:t> function is called, which replaces the current process's memory and code with the </a:t>
            </a:r>
            <a:r>
              <a:rPr lang="en-US" sz="1200" kern="1200" dirty="0">
                <a:solidFill>
                  <a:schemeClr val="tx1"/>
                </a:solidFill>
                <a:latin typeface="Comic Sans MS" pitchFamily="66" charset="0"/>
                <a:ea typeface="ＭＳ Ｐゴシック" charset="0"/>
                <a:cs typeface="+mn-cs"/>
              </a:rPr>
              <a:t>/bin/ls</a:t>
            </a:r>
            <a:r>
              <a:rPr lang="en-US" dirty="0"/>
              <a:t> program. The original program's execution is terminated at that point, and the output of the </a:t>
            </a:r>
            <a:r>
              <a:rPr lang="en-US" sz="1200" kern="1200" dirty="0">
                <a:solidFill>
                  <a:schemeClr val="tx1"/>
                </a:solidFill>
                <a:latin typeface="Comic Sans MS" pitchFamily="66" charset="0"/>
                <a:ea typeface="ＭＳ Ｐゴシック" charset="0"/>
                <a:cs typeface="+mn-cs"/>
              </a:rPr>
              <a:t>ls</a:t>
            </a:r>
            <a:r>
              <a:rPr lang="en-US" dirty="0"/>
              <a:t> command is printed instead.</a:t>
            </a:r>
          </a:p>
          <a:p>
            <a:r>
              <a:rPr lang="en-US" b="1" dirty="0"/>
              <a:t>Question 5: </a:t>
            </a:r>
            <a:r>
              <a:rPr lang="en-US" sz="1200" b="1" kern="1200" dirty="0">
                <a:solidFill>
                  <a:schemeClr val="tx1"/>
                </a:solidFill>
                <a:latin typeface="Comic Sans MS" pitchFamily="66" charset="0"/>
                <a:ea typeface="ＭＳ Ｐゴシック" charset="0"/>
                <a:cs typeface="ＭＳ Ｐゴシック" charset="0"/>
              </a:rPr>
              <a:t>fork()</a:t>
            </a:r>
            <a:r>
              <a:rPr lang="en-US" b="1" dirty="0"/>
              <a:t> and </a:t>
            </a:r>
            <a:r>
              <a:rPr lang="en-US" sz="1200" b="1" kern="1200" dirty="0" err="1">
                <a:solidFill>
                  <a:schemeClr val="tx1"/>
                </a:solidFill>
                <a:latin typeface="Comic Sans MS" pitchFamily="66" charset="0"/>
                <a:ea typeface="ＭＳ Ｐゴシック" charset="0"/>
                <a:cs typeface="ＭＳ Ｐゴシック" charset="0"/>
              </a:rPr>
              <a:t>execv</a:t>
            </a:r>
            <a:r>
              <a:rPr lang="en-US" b="1" dirty="0"/>
              <a:t> Example</a:t>
            </a:r>
          </a:p>
          <a:p>
            <a:r>
              <a:rPr lang="en-US" b="1" dirty="0"/>
              <a:t>What does this program print?</a:t>
            </a:r>
            <a:endParaRPr lang="en-US" dirty="0"/>
          </a:p>
          <a:p>
            <a:pPr lvl="1"/>
            <a:r>
              <a:rPr lang="en-US" b="1" dirty="0"/>
              <a:t>Provided Answer:</a:t>
            </a:r>
            <a:r>
              <a:rPr lang="en-US" dirty="0"/>
              <a:t> "The parent process will print from 0 to 9. The child process will print output of ls with any possible interleaving with the parents printing of 0 to 9."</a:t>
            </a:r>
          </a:p>
          <a:p>
            <a:pPr lvl="1"/>
            <a:r>
              <a:rPr lang="en-US" b="1" dirty="0"/>
              <a:t>Verification:</a:t>
            </a:r>
            <a:r>
              <a:rPr lang="en-US" dirty="0"/>
              <a:t> </a:t>
            </a:r>
            <a:r>
              <a:rPr lang="en-US" b="1" dirty="0"/>
              <a:t>Correct</a:t>
            </a:r>
            <a:r>
              <a:rPr lang="en-US" dirty="0"/>
              <a:t>.</a:t>
            </a:r>
          </a:p>
          <a:p>
            <a:pPr lvl="1"/>
            <a:r>
              <a:rPr lang="en-US" b="1" dirty="0"/>
              <a:t>Explanation:</a:t>
            </a:r>
            <a:r>
              <a:rPr lang="en-US" dirty="0"/>
              <a:t> The parent process creates a child when </a:t>
            </a:r>
            <a:r>
              <a:rPr lang="en-US" sz="1200" kern="1200" dirty="0" err="1">
                <a:solidFill>
                  <a:schemeClr val="tx1"/>
                </a:solidFill>
                <a:latin typeface="Comic Sans MS" pitchFamily="66" charset="0"/>
                <a:ea typeface="ＭＳ Ｐゴシック" charset="0"/>
                <a:cs typeface="+mn-cs"/>
              </a:rPr>
              <a:t>i</a:t>
            </a:r>
            <a:r>
              <a:rPr lang="en-US" dirty="0"/>
              <a:t> is 3. The parent continues its loop to print numbers up to 9. The child process independently executes the </a:t>
            </a:r>
            <a:r>
              <a:rPr lang="en-US" sz="1200" kern="1200" dirty="0">
                <a:solidFill>
                  <a:schemeClr val="tx1"/>
                </a:solidFill>
                <a:latin typeface="Comic Sans MS" pitchFamily="66" charset="0"/>
                <a:ea typeface="ＭＳ Ｐゴシック" charset="0"/>
                <a:cs typeface="+mn-cs"/>
              </a:rPr>
              <a:t>ls</a:t>
            </a:r>
            <a:r>
              <a:rPr lang="en-US" dirty="0"/>
              <a:t> command. Since both processes run concurrently without synchronization, their outputs can be mixed (interleaved) in the terminal.</a:t>
            </a:r>
          </a:p>
          <a:p>
            <a:r>
              <a:rPr lang="en-US" b="1" dirty="0"/>
              <a:t>Question 6: </a:t>
            </a:r>
            <a:r>
              <a:rPr lang="en-US" sz="1200" b="1" kern="1200" dirty="0">
                <a:solidFill>
                  <a:schemeClr val="tx1"/>
                </a:solidFill>
                <a:latin typeface="Comic Sans MS" pitchFamily="66" charset="0"/>
                <a:ea typeface="ＭＳ Ｐゴシック" charset="0"/>
                <a:cs typeface="ＭＳ Ｐゴシック" charset="0"/>
              </a:rPr>
              <a:t>fork()</a:t>
            </a:r>
            <a:r>
              <a:rPr lang="en-US" b="1" dirty="0"/>
              <a:t>, </a:t>
            </a:r>
            <a:r>
              <a:rPr lang="en-US" sz="1200" b="1" kern="1200" dirty="0" err="1">
                <a:solidFill>
                  <a:schemeClr val="tx1"/>
                </a:solidFill>
                <a:latin typeface="Comic Sans MS" pitchFamily="66" charset="0"/>
                <a:ea typeface="ＭＳ Ｐゴシック" charset="0"/>
                <a:cs typeface="ＭＳ Ｐゴシック" charset="0"/>
              </a:rPr>
              <a:t>execv</a:t>
            </a:r>
            <a:r>
              <a:rPr lang="en-US" sz="1200" b="1" kern="1200" dirty="0">
                <a:solidFill>
                  <a:schemeClr val="tx1"/>
                </a:solidFill>
                <a:latin typeface="Comic Sans MS" pitchFamily="66" charset="0"/>
                <a:ea typeface="ＭＳ Ｐゴシック" charset="0"/>
                <a:cs typeface="ＭＳ Ｐゴシック" charset="0"/>
              </a:rPr>
              <a:t>()</a:t>
            </a:r>
            <a:r>
              <a:rPr lang="en-US" b="1" dirty="0"/>
              <a:t>, and </a:t>
            </a:r>
            <a:r>
              <a:rPr lang="en-US" sz="1200" b="1" kern="1200" dirty="0">
                <a:solidFill>
                  <a:schemeClr val="tx1"/>
                </a:solidFill>
                <a:latin typeface="Comic Sans MS" pitchFamily="66" charset="0"/>
                <a:ea typeface="ＭＳ Ｐゴシック" charset="0"/>
                <a:cs typeface="ＭＳ Ｐゴシック" charset="0"/>
              </a:rPr>
              <a:t>wait()</a:t>
            </a:r>
            <a:r>
              <a:rPr lang="en-US" b="1" dirty="0"/>
              <a:t> Example</a:t>
            </a:r>
          </a:p>
          <a:p>
            <a:r>
              <a:rPr lang="en-US" dirty="0"/>
              <a:t>The code adds a </a:t>
            </a:r>
            <a:r>
              <a:rPr lang="en-US" sz="1200" kern="1200" dirty="0">
                <a:solidFill>
                  <a:schemeClr val="tx1"/>
                </a:solidFill>
                <a:latin typeface="Comic Sans MS" pitchFamily="66" charset="0"/>
                <a:ea typeface="ＭＳ Ｐゴシック" charset="0"/>
                <a:cs typeface="ＭＳ Ｐゴシック" charset="0"/>
              </a:rPr>
              <a:t>wait(NULL)</a:t>
            </a:r>
            <a:r>
              <a:rPr lang="en-US" dirty="0"/>
              <a:t> call in the parent process:</a:t>
            </a:r>
          </a:p>
          <a:p>
            <a:r>
              <a:rPr lang="en-US" sz="1200" kern="1200" dirty="0">
                <a:solidFill>
                  <a:schemeClr val="tx1"/>
                </a:solidFill>
                <a:latin typeface="Comic Sans MS" pitchFamily="66" charset="0"/>
                <a:ea typeface="ＭＳ Ｐゴシック" charset="0"/>
                <a:cs typeface="ＭＳ Ｐゴシック" charset="0"/>
              </a:rPr>
              <a:t>c</a:t>
            </a:r>
          </a:p>
          <a:p>
            <a:r>
              <a:rPr lang="en-US" sz="1200" b="1" kern="1200" dirty="0">
                <a:solidFill>
                  <a:schemeClr val="tx1"/>
                </a:solidFill>
                <a:effectLst/>
                <a:latin typeface="Comic Sans MS" pitchFamily="66" charset="0"/>
                <a:ea typeface="ＭＳ Ｐゴシック" charset="0"/>
                <a:cs typeface="ＭＳ Ｐゴシック" charset="0"/>
              </a:rPr>
              <a:t>if</a:t>
            </a:r>
            <a:r>
              <a:rPr lang="en-US" sz="1200" kern="1200" dirty="0">
                <a:solidFill>
                  <a:schemeClr val="tx1"/>
                </a:solidFill>
                <a:effectLst/>
                <a:latin typeface="Comic Sans MS" pitchFamily="66" charset="0"/>
                <a:ea typeface="ＭＳ Ｐゴシック" charset="0"/>
                <a:cs typeface="ＭＳ Ｐゴシック" charset="0"/>
              </a:rPr>
              <a:t> (</a:t>
            </a:r>
            <a:r>
              <a:rPr lang="en-US" sz="1200" kern="1200" dirty="0" err="1">
                <a:solidFill>
                  <a:schemeClr val="tx1"/>
                </a:solidFill>
                <a:effectLst/>
                <a:latin typeface="Comic Sans MS" pitchFamily="66" charset="0"/>
                <a:ea typeface="ＭＳ Ｐゴシック" charset="0"/>
                <a:cs typeface="ＭＳ Ｐゴシック" charset="0"/>
              </a:rPr>
              <a:t>fork_ret</a:t>
            </a:r>
            <a:r>
              <a:rPr lang="en-US" sz="1200" kern="1200" dirty="0">
                <a:solidFill>
                  <a:schemeClr val="tx1"/>
                </a:solidFill>
                <a:effectLst/>
                <a:latin typeface="Comic Sans MS" pitchFamily="66" charset="0"/>
                <a:ea typeface="ＭＳ Ｐゴシック" charset="0"/>
                <a:cs typeface="ＭＳ Ｐゴシック" charset="0"/>
              </a:rPr>
              <a:t> &gt; 0) { </a:t>
            </a:r>
            <a:r>
              <a:rPr lang="en-US" sz="1200" i="1" kern="1200" dirty="0">
                <a:solidFill>
                  <a:schemeClr val="tx1"/>
                </a:solidFill>
                <a:effectLst/>
                <a:latin typeface="Comic Sans MS" pitchFamily="66" charset="0"/>
                <a:ea typeface="ＭＳ Ｐゴシック" charset="0"/>
                <a:cs typeface="ＭＳ Ｐゴシック" charset="0"/>
              </a:rPr>
              <a:t>// Parent</a:t>
            </a:r>
            <a:endParaRPr lang="en-US" sz="1200" kern="1200" dirty="0">
              <a:solidFill>
                <a:schemeClr val="tx1"/>
              </a:solidFill>
              <a:effectLst/>
              <a:latin typeface="Comic Sans MS" pitchFamily="66" charset="0"/>
              <a:ea typeface="ＭＳ Ｐゴシック" charset="0"/>
              <a:cs typeface="ＭＳ Ｐゴシック" charset="0"/>
            </a:endParaRPr>
          </a:p>
          <a:p>
            <a:r>
              <a:rPr lang="en-US" sz="1200" kern="1200" dirty="0">
                <a:solidFill>
                  <a:schemeClr val="tx1"/>
                </a:solidFill>
                <a:effectLst/>
                <a:latin typeface="Comic Sans MS" pitchFamily="66" charset="0"/>
                <a:ea typeface="ＭＳ Ｐゴシック" charset="0"/>
                <a:cs typeface="ＭＳ Ｐゴシック" charset="0"/>
              </a:rPr>
              <a:t>    wait(NULL);</a:t>
            </a:r>
          </a:p>
          <a:p>
            <a:r>
              <a:rPr lang="en-US" sz="1200" kern="1200" dirty="0">
                <a:solidFill>
                  <a:schemeClr val="tx1"/>
                </a:solidFill>
                <a:effectLst/>
                <a:latin typeface="Comic Sans MS" pitchFamily="66" charset="0"/>
                <a:ea typeface="ＭＳ Ｐゴシック" charset="0"/>
                <a:cs typeface="ＭＳ Ｐゴシック" charset="0"/>
              </a:rPr>
              <a:t>}</a:t>
            </a:r>
          </a:p>
          <a:p>
            <a:r>
              <a:rPr lang="en-US" b="1" dirty="0"/>
              <a:t>What does this program print?</a:t>
            </a:r>
            <a:endParaRPr lang="en-US" dirty="0"/>
          </a:p>
          <a:p>
            <a:pPr lvl="1"/>
            <a:r>
              <a:rPr lang="en-US" b="1" dirty="0"/>
              <a:t>Provided Answer:</a:t>
            </a:r>
            <a:r>
              <a:rPr lang="en-US" dirty="0"/>
              <a:t> "The parent process will print from 0 to 9. The child process will print output of ls with any possible interleaving with the parents printing of 0 to 9."</a:t>
            </a:r>
          </a:p>
          <a:p>
            <a:pPr lvl="1"/>
            <a:r>
              <a:rPr lang="en-US" b="1" dirty="0"/>
              <a:t>Verification:</a:t>
            </a:r>
            <a:r>
              <a:rPr lang="en-US" dirty="0"/>
              <a:t> This answer is </a:t>
            </a:r>
            <a:r>
              <a:rPr lang="en-US" b="1" dirty="0"/>
              <a:t>incorrect</a:t>
            </a:r>
            <a:r>
              <a:rPr lang="en-US" dirty="0"/>
              <a:t>.</a:t>
            </a:r>
          </a:p>
          <a:p>
            <a:pPr lvl="1"/>
            <a:r>
              <a:rPr lang="en-US" b="1" dirty="0"/>
              <a:t>Correct Explanation:</a:t>
            </a:r>
            <a:r>
              <a:rPr lang="en-US" dirty="0"/>
              <a:t> The </a:t>
            </a:r>
            <a:r>
              <a:rPr lang="en-US" sz="1200" kern="1200" dirty="0">
                <a:solidFill>
                  <a:schemeClr val="tx1"/>
                </a:solidFill>
                <a:latin typeface="Comic Sans MS" pitchFamily="66" charset="0"/>
                <a:ea typeface="ＭＳ Ｐゴシック" charset="0"/>
                <a:cs typeface="+mn-cs"/>
              </a:rPr>
              <a:t>wait(NULL)</a:t>
            </a:r>
            <a:r>
              <a:rPr lang="en-US" dirty="0"/>
              <a:t> call forces the parent process to pause its execution until the child process has terminated. Therefore, there is </a:t>
            </a:r>
            <a:r>
              <a:rPr lang="en-US" b="1" dirty="0"/>
              <a:t>no interleaving</a:t>
            </a:r>
            <a:r>
              <a:rPr lang="en-US" dirty="0"/>
              <a:t> of output. The sequence of events is as follows:</a:t>
            </a:r>
          </a:p>
          <a:p>
            <a:pPr lvl="2"/>
            <a:r>
              <a:rPr lang="en-US" dirty="0"/>
              <a:t>The program prints "0 1 2 3 ".</a:t>
            </a:r>
          </a:p>
          <a:p>
            <a:pPr lvl="2"/>
            <a:r>
              <a:rPr lang="en-US" dirty="0"/>
              <a:t>A child process is created. The parent process calls </a:t>
            </a:r>
            <a:r>
              <a:rPr lang="en-US" sz="1200" kern="1200" dirty="0">
                <a:solidFill>
                  <a:schemeClr val="tx1"/>
                </a:solidFill>
                <a:latin typeface="Comic Sans MS" pitchFamily="66" charset="0"/>
                <a:ea typeface="ＭＳ Ｐゴシック" charset="0"/>
                <a:cs typeface="+mn-cs"/>
              </a:rPr>
              <a:t>wait(NULL)</a:t>
            </a:r>
            <a:r>
              <a:rPr lang="en-US" dirty="0"/>
              <a:t> and blocks.</a:t>
            </a:r>
          </a:p>
          <a:p>
            <a:pPr lvl="2"/>
            <a:r>
              <a:rPr lang="en-US" dirty="0"/>
              <a:t>The child process executes </a:t>
            </a:r>
            <a:r>
              <a:rPr lang="en-US" sz="1200" kern="1200" dirty="0" err="1">
                <a:solidFill>
                  <a:schemeClr val="tx1"/>
                </a:solidFill>
                <a:latin typeface="Comic Sans MS" pitchFamily="66" charset="0"/>
                <a:ea typeface="ＭＳ Ｐゴシック" charset="0"/>
                <a:cs typeface="+mn-cs"/>
              </a:rPr>
              <a:t>execv</a:t>
            </a:r>
            <a:r>
              <a:rPr lang="en-US" dirty="0"/>
              <a:t> and prints the output of the </a:t>
            </a:r>
            <a:r>
              <a:rPr lang="en-US" sz="1200" kern="1200" dirty="0">
                <a:solidFill>
                  <a:schemeClr val="tx1"/>
                </a:solidFill>
                <a:latin typeface="Comic Sans MS" pitchFamily="66" charset="0"/>
                <a:ea typeface="ＭＳ Ｐゴシック" charset="0"/>
                <a:cs typeface="+mn-cs"/>
              </a:rPr>
              <a:t>ls</a:t>
            </a:r>
            <a:r>
              <a:rPr lang="en-US" dirty="0"/>
              <a:t> command.</a:t>
            </a:r>
          </a:p>
          <a:p>
            <a:pPr lvl="2"/>
            <a:r>
              <a:rPr lang="en-US" dirty="0"/>
              <a:t>After the </a:t>
            </a:r>
            <a:r>
              <a:rPr lang="en-US" sz="1200" kern="1200" dirty="0">
                <a:solidFill>
                  <a:schemeClr val="tx1"/>
                </a:solidFill>
                <a:latin typeface="Comic Sans MS" pitchFamily="66" charset="0"/>
                <a:ea typeface="ＭＳ Ｐゴシック" charset="0"/>
                <a:cs typeface="+mn-cs"/>
              </a:rPr>
              <a:t>ls</a:t>
            </a:r>
            <a:r>
              <a:rPr lang="en-US" dirty="0"/>
              <a:t> command is finished, the child process terminates.</a:t>
            </a:r>
          </a:p>
          <a:p>
            <a:pPr lvl="2"/>
            <a:r>
              <a:rPr lang="en-US" dirty="0"/>
              <a:t>The parent process resumes execution and continues its loop, printing "4 5 6 7 8 9".</a:t>
            </a:r>
          </a:p>
          <a:p>
            <a:pPr lvl="1"/>
            <a:r>
              <a:rPr lang="en-US" b="1" dirty="0"/>
              <a:t>Correct Output:</a:t>
            </a:r>
            <a:r>
              <a:rPr lang="en-US" dirty="0"/>
              <a:t> The final output will be </a:t>
            </a:r>
            <a:r>
              <a:rPr lang="en-US" sz="1200" kern="1200" dirty="0">
                <a:solidFill>
                  <a:schemeClr val="tx1"/>
                </a:solidFill>
                <a:latin typeface="Comic Sans MS" pitchFamily="66" charset="0"/>
                <a:ea typeface="ＭＳ Ｐゴシック" charset="0"/>
                <a:cs typeface="+mn-cs"/>
              </a:rPr>
              <a:t>0 1 2 3 </a:t>
            </a:r>
            <a:r>
              <a:rPr lang="en-US" dirty="0"/>
              <a:t>, followed by the full output from the </a:t>
            </a:r>
            <a:r>
              <a:rPr lang="en-US" sz="1200" kern="1200" dirty="0">
                <a:solidFill>
                  <a:schemeClr val="tx1"/>
                </a:solidFill>
                <a:latin typeface="Comic Sans MS" pitchFamily="66" charset="0"/>
                <a:ea typeface="ＭＳ Ｐゴシック" charset="0"/>
                <a:cs typeface="+mn-cs"/>
              </a:rPr>
              <a:t>ls</a:t>
            </a:r>
            <a:r>
              <a:rPr lang="en-US" dirty="0"/>
              <a:t> command, and then </a:t>
            </a:r>
            <a:r>
              <a:rPr lang="en-US" sz="1200" kern="1200" dirty="0">
                <a:solidFill>
                  <a:schemeClr val="tx1"/>
                </a:solidFill>
                <a:latin typeface="Comic Sans MS" pitchFamily="66" charset="0"/>
                <a:ea typeface="ＭＳ Ｐゴシック" charset="0"/>
                <a:cs typeface="+mn-cs"/>
              </a:rPr>
              <a:t>4 5 6 7 8 9</a:t>
            </a:r>
            <a:r>
              <a:rPr lang="en-US" dirty="0"/>
              <a:t>.</a:t>
            </a:r>
          </a:p>
          <a:p>
            <a:r>
              <a:rPr lang="en-US" dirty="0" err="1">
                <a:effectLst/>
              </a:rPr>
              <a:t>添加到后续问题</a:t>
            </a:r>
            <a:endParaRPr lang="en-US" dirty="0">
              <a:effectLst/>
            </a:endParaRPr>
          </a:p>
          <a:p>
            <a:r>
              <a:rPr lang="en-US" dirty="0" err="1">
                <a:effectLst/>
              </a:rPr>
              <a:t>检查来源</a:t>
            </a:r>
            <a:endParaRPr lang="en-US" dirty="0">
              <a:effectLst/>
            </a:endParaRPr>
          </a:p>
          <a:p>
            <a:r>
              <a:rPr lang="en-US" dirty="0" err="1">
                <a:effectLst/>
              </a:rPr>
              <a:t>在文件中查看</a:t>
            </a:r>
            <a:endParaRPr lang="en-US" dirty="0">
              <a:effectLst/>
            </a:endParaRPr>
          </a:p>
          <a:p>
            <a:r>
              <a:rPr lang="en-US" dirty="0">
                <a:hlinkClick r:id="rId3"/>
              </a:rPr>
              <a:t>https://ppl-ai-file-upload.s3.amazonaws.com/web/direct-files/attachments/92151853/7ded0639-f820-465d-b4cb-e840a9929379/CSC112-Additional-Review-Questions.pdf</a:t>
            </a:r>
            <a:endParaRPr lang="en-US" dirty="0"/>
          </a:p>
        </p:txBody>
      </p:sp>
    </p:spTree>
    <p:extLst>
      <p:ext uri="{BB962C8B-B14F-4D97-AF65-F5344CB8AC3E}">
        <p14:creationId xmlns:p14="http://schemas.microsoft.com/office/powerpoint/2010/main" val="3865109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48ED0-BA9B-AFE7-2561-1EDABCFDB9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27AC83-9E29-4333-BFB3-5C380CAF0B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90389-01CD-F33F-4C33-DCE4C1EF88C8}"/>
              </a:ext>
            </a:extLst>
          </p:cNvPr>
          <p:cNvSpPr>
            <a:spLocks noGrp="1"/>
          </p:cNvSpPr>
          <p:nvPr>
            <p:ph type="body" idx="1"/>
          </p:nvPr>
        </p:nvSpPr>
        <p:spPr/>
        <p:txBody>
          <a:bodyPr/>
          <a:lstStyle/>
          <a:p>
            <a:r>
              <a:rPr lang="en-US" sz="1200" b="0" i="0" kern="1200" dirty="0">
                <a:solidFill>
                  <a:schemeClr val="tx1"/>
                </a:solidFill>
                <a:effectLst/>
                <a:latin typeface="Comic Sans MS" pitchFamily="66" charset="0"/>
                <a:ea typeface="ＭＳ Ｐゴシック" charset="0"/>
                <a:cs typeface="ＭＳ Ｐゴシック" charset="0"/>
              </a:rPr>
              <a:t>Parent/child values for a++ in the parent and a-- in the child produce 2 and 0 respectively; virtual addresses of a match, and STDOUT is shared via inherited FDs.OS-MidtermExam-ANS-Sp2025-1-12.pdf​</a:t>
            </a:r>
          </a:p>
          <a:p>
            <a:r>
              <a:rPr lang="en-US" sz="1200" b="0" i="0" kern="1200" dirty="0">
                <a:solidFill>
                  <a:schemeClr val="tx1"/>
                </a:solidFill>
                <a:effectLst/>
                <a:latin typeface="Comic Sans MS" pitchFamily="66" charset="0"/>
                <a:ea typeface="ＭＳ Ｐゴシック" charset="0"/>
                <a:cs typeface="ＭＳ Ｐゴシック" charset="0"/>
              </a:rPr>
              <a:t>The </a:t>
            </a:r>
            <a:r>
              <a:rPr lang="en-US" sz="1200" b="0" i="0" kern="1200" dirty="0" err="1">
                <a:solidFill>
                  <a:schemeClr val="tx1"/>
                </a:solidFill>
                <a:effectLst/>
                <a:latin typeface="Comic Sans MS" pitchFamily="66" charset="0"/>
                <a:ea typeface="ＭＳ Ｐゴシック" charset="0"/>
                <a:cs typeface="ＭＳ Ｐゴシック" charset="0"/>
              </a:rPr>
              <a:t>execv</a:t>
            </a:r>
            <a:r>
              <a:rPr lang="en-US" sz="1200" b="0" i="0" kern="1200" dirty="0">
                <a:solidFill>
                  <a:schemeClr val="tx1"/>
                </a:solidFill>
                <a:effectLst/>
                <a:latin typeface="Comic Sans MS" pitchFamily="66" charset="0"/>
                <a:ea typeface="ＭＳ Ｐゴシック" charset="0"/>
                <a:cs typeface="ＭＳ Ｐゴシック" charset="0"/>
              </a:rPr>
              <a:t> example that prints 0,1,2,3 then replaces the image with /bin/ls is correct.OS-MidtermExam-ANS-Sp2025-1-12.pdf​</a:t>
            </a:r>
          </a:p>
          <a:p>
            <a:r>
              <a:rPr lang="en-US" sz="1200" b="0" i="0" kern="1200" dirty="0">
                <a:solidFill>
                  <a:schemeClr val="tx1"/>
                </a:solidFill>
                <a:effectLst/>
                <a:latin typeface="Comic Sans MS" pitchFamily="66" charset="0"/>
                <a:ea typeface="ＭＳ Ｐゴシック" charset="0"/>
                <a:cs typeface="ＭＳ Ｐゴシック" charset="0"/>
              </a:rPr>
              <a:t>The loop with if (fork() == 0) </a:t>
            </a:r>
            <a:r>
              <a:rPr lang="en-US" sz="1200" b="0" i="0" kern="1200" dirty="0" err="1">
                <a:solidFill>
                  <a:schemeClr val="tx1"/>
                </a:solidFill>
                <a:effectLst/>
                <a:latin typeface="Comic Sans MS" pitchFamily="66" charset="0"/>
                <a:ea typeface="ＭＳ Ｐゴシック" charset="0"/>
                <a:cs typeface="ＭＳ Ｐゴシック" charset="0"/>
              </a:rPr>
              <a:t>execv</a:t>
            </a:r>
            <a:r>
              <a:rPr lang="en-US" sz="1200" b="0" i="0" kern="1200" dirty="0">
                <a:solidFill>
                  <a:schemeClr val="tx1"/>
                </a:solidFill>
                <a:effectLst/>
                <a:latin typeface="Comic Sans MS" pitchFamily="66" charset="0"/>
                <a:ea typeface="ＭＳ Ｐゴシック" charset="0"/>
                <a:cs typeface="ＭＳ Ｐゴシック" charset="0"/>
              </a:rPr>
              <a:t>(...) correctly has the child run ls and the parent continue printing 4–9 with interleaving.OS-MidtermExam-ANS-Sp2025-1-12.pdf​</a:t>
            </a:r>
          </a:p>
          <a:p>
            <a:r>
              <a:rPr lang="en-US" sz="1200" b="0" i="0" kern="1200" dirty="0">
                <a:solidFill>
                  <a:schemeClr val="tx1"/>
                </a:solidFill>
                <a:effectLst/>
                <a:latin typeface="Comic Sans MS" pitchFamily="66" charset="0"/>
                <a:ea typeface="ＭＳ Ｐゴシック" charset="0"/>
                <a:cs typeface="ＭＳ Ｐゴシック" charset="0"/>
              </a:rPr>
              <a:t>The loop with if (fork() &gt; 0) </a:t>
            </a:r>
            <a:r>
              <a:rPr lang="en-US" sz="1200" b="0" i="0" kern="1200" dirty="0" err="1">
                <a:solidFill>
                  <a:schemeClr val="tx1"/>
                </a:solidFill>
                <a:effectLst/>
                <a:latin typeface="Comic Sans MS" pitchFamily="66" charset="0"/>
                <a:ea typeface="ＭＳ Ｐゴシック" charset="0"/>
                <a:cs typeface="ＭＳ Ｐゴシック" charset="0"/>
              </a:rPr>
              <a:t>execv</a:t>
            </a:r>
            <a:r>
              <a:rPr lang="en-US" sz="1200" b="0" i="0" kern="1200" dirty="0">
                <a:solidFill>
                  <a:schemeClr val="tx1"/>
                </a:solidFill>
                <a:effectLst/>
                <a:latin typeface="Comic Sans MS" pitchFamily="66" charset="0"/>
                <a:ea typeface="ＭＳ Ｐゴシック" charset="0"/>
                <a:cs typeface="ＭＳ Ｐゴシック" charset="0"/>
              </a:rPr>
              <a:t>(...) correctly has the parent run ls and the child continue 4–9 with interleaving.OS-MidtermExam-ANS-Sp2025-1-12.pdf​</a:t>
            </a:r>
          </a:p>
          <a:p>
            <a:r>
              <a:rPr lang="en-US" sz="1200" b="0" i="0" kern="1200" dirty="0">
                <a:solidFill>
                  <a:schemeClr val="tx1"/>
                </a:solidFill>
                <a:effectLst/>
                <a:latin typeface="Comic Sans MS" pitchFamily="66" charset="0"/>
                <a:ea typeface="ＭＳ Ｐゴシック" charset="0"/>
                <a:cs typeface="ＭＳ Ｐゴシック" charset="0"/>
              </a:rPr>
              <a:t>The version with ret = fork(); child </a:t>
            </a:r>
            <a:r>
              <a:rPr lang="en-US" sz="1200" b="0" i="0" kern="1200" dirty="0" err="1">
                <a:solidFill>
                  <a:schemeClr val="tx1"/>
                </a:solidFill>
                <a:effectLst/>
                <a:latin typeface="Comic Sans MS" pitchFamily="66" charset="0"/>
                <a:ea typeface="ＭＳ Ｐゴシック" charset="0"/>
                <a:cs typeface="ＭＳ Ｐゴシック" charset="0"/>
              </a:rPr>
              <a:t>execv</a:t>
            </a:r>
            <a:r>
              <a:rPr lang="en-US" sz="1200" b="0" i="0" kern="1200" dirty="0">
                <a:solidFill>
                  <a:schemeClr val="tx1"/>
                </a:solidFill>
                <a:effectLst/>
                <a:latin typeface="Comic Sans MS" pitchFamily="66" charset="0"/>
                <a:ea typeface="ＭＳ Ｐゴシック" charset="0"/>
                <a:cs typeface="ＭＳ Ｐゴシック" charset="0"/>
              </a:rPr>
              <a:t>; parent wait(NULL); correctly serializes: numbers up to 3, ls output, then 4–9 with no interleaving.OS-MidtermExam-ANS-Sp2025-1-12.pdf​</a:t>
            </a:r>
          </a:p>
        </p:txBody>
      </p:sp>
    </p:spTree>
    <p:extLst>
      <p:ext uri="{BB962C8B-B14F-4D97-AF65-F5344CB8AC3E}">
        <p14:creationId xmlns:p14="http://schemas.microsoft.com/office/powerpoint/2010/main" val="9807679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will be 0 1 2 3 , followed by the full output from the ls command, and then 4 5 6 7 8 9. </a:t>
            </a:r>
          </a:p>
          <a:p>
            <a:r>
              <a:rPr lang="en-US" dirty="0"/>
              <a:t>Explanation: The sequence of events is as follows:</a:t>
            </a:r>
          </a:p>
          <a:p>
            <a:pPr lvl="1"/>
            <a:r>
              <a:rPr lang="en-US" dirty="0"/>
              <a:t>The program prints "0 1 2 3 ".</a:t>
            </a:r>
          </a:p>
          <a:p>
            <a:pPr lvl="1"/>
            <a:r>
              <a:rPr lang="en-US" dirty="0"/>
              <a:t>A child process is created. </a:t>
            </a:r>
          </a:p>
        </p:txBody>
      </p:sp>
    </p:spTree>
    <p:extLst>
      <p:ext uri="{BB962C8B-B14F-4D97-AF65-F5344CB8AC3E}">
        <p14:creationId xmlns:p14="http://schemas.microsoft.com/office/powerpoint/2010/main" val="1853494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T1 ➔ T2 ➔ T3 : (0+1=1) → (1-1=0) → (0×2=0) → Final x=0</a:t>
            </a:r>
          </a:p>
          <a:p>
            <a:r>
              <a:rPr lang="en-GB" dirty="0"/>
              <a:t>T3 ➔ T2 ➔ T1 : (0×2=0) → (0-1=-1) → (-1+1=0) → Final x=0</a:t>
            </a:r>
          </a:p>
          <a:p>
            <a:r>
              <a:rPr lang="en-GB" dirty="0"/>
              <a:t>T1 ➔ T3 ➔ T2 : (0+1=1) → (1×2=2) → (2-1=1) → Final x=1</a:t>
            </a:r>
          </a:p>
          <a:p>
            <a:r>
              <a:rPr lang="en-GB" dirty="0"/>
              <a:t>T2 ➔ T1 ➔ T3 : (0-1=-1) → (-1+1=0) → (0×2=0) → Final x=0</a:t>
            </a:r>
          </a:p>
          <a:p>
            <a:r>
              <a:rPr lang="en-GB" dirty="0"/>
              <a:t>T2 ➔ T3 ➔ T1 : (0-1=-1) → (-1×2=-2) → (-2+1=-1) → Final x=-1</a:t>
            </a:r>
          </a:p>
          <a:p>
            <a:endParaRPr lang="en-GB" dirty="0"/>
          </a:p>
          <a:p>
            <a:endParaRPr lang="en-SE" dirty="0"/>
          </a:p>
        </p:txBody>
      </p:sp>
    </p:spTree>
    <p:extLst>
      <p:ext uri="{BB962C8B-B14F-4D97-AF65-F5344CB8AC3E}">
        <p14:creationId xmlns:p14="http://schemas.microsoft.com/office/powerpoint/2010/main" val="16226163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942E5-A190-E034-BFC3-B8BA10ADB7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FCF3B5-7DC5-6F71-B60F-813129A18B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ABF36D-A26A-F0E6-C760-0A292E426FD5}"/>
              </a:ext>
            </a:extLst>
          </p:cNvPr>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5274916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85463-CE71-9F42-7016-4910654B53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FBDE97-C605-1B67-9638-A98D83C6A2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154C3-3937-4A0D-9369-C10BC6DDB38F}"/>
              </a:ext>
            </a:extLst>
          </p:cNvPr>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10407684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800" b="0" i="0">
                <a:latin typeface="Gill Sans" panose="020B0502020104020203"/>
                <a:ea typeface="Gill Sans" panose="020B0502020104020203"/>
                <a:cs typeface="Gill Sans" panose="020B0502020104020203"/>
              </a:defRPr>
            </a:lvl1pPr>
            <a:lvl2pPr>
              <a:defRPr sz="2400" b="0" i="0">
                <a:latin typeface="Gill Sans" panose="020B0502020104020203"/>
                <a:ea typeface="Gill Sans" panose="020B0502020104020203"/>
                <a:cs typeface="Gill Sans" panose="020B0502020104020203"/>
              </a:defRPr>
            </a:lvl2pPr>
            <a:lvl3pPr>
              <a:defRPr sz="2400" b="0" i="0">
                <a:latin typeface="Gill Sans" panose="020B0502020104020203"/>
                <a:ea typeface="Gill Sans" panose="020B0502020104020203"/>
                <a:cs typeface="Gill Sans" panose="020B0502020104020203"/>
              </a:defRPr>
            </a:lvl3pPr>
            <a:lvl4pPr>
              <a:defRPr sz="2400" b="0" i="0">
                <a:latin typeface="Gill Sans" panose="020B0502020104020203"/>
                <a:ea typeface="Gill Sans" panose="020B0502020104020203"/>
                <a:cs typeface="Gill Sans" panose="020B0502020104020203"/>
              </a:defRPr>
            </a:lvl4pPr>
            <a:lvl5pPr>
              <a:defRPr sz="2400" b="0" i="0">
                <a:latin typeface="Gill Sans" panose="020B0502020104020203"/>
                <a:ea typeface="Gill Sans" panose="020B0502020104020203"/>
                <a:cs typeface="Gill Sans" panose="020B050202010402020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tel og innhold">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A15C49A1-BC26-B840-8B82-5FC8C44A8183}"/>
              </a:ext>
            </a:extLst>
          </p:cNvPr>
          <p:cNvSpPr>
            <a:spLocks noGrp="1"/>
          </p:cNvSpPr>
          <p:nvPr>
            <p:ph type="title"/>
          </p:nvPr>
        </p:nvSpPr>
        <p:spPr>
          <a:xfrm>
            <a:off x="419449" y="274639"/>
            <a:ext cx="11336392" cy="532956"/>
          </a:xfrm>
        </p:spPr>
        <p:txBody>
          <a:bodyPr wrap="square" anchor="t" anchorCtr="0">
            <a:spAutoFit/>
          </a:bodyPr>
          <a:lstStyle/>
          <a:p>
            <a:r>
              <a:rPr lang="nb-NO" dirty="0"/>
              <a:t>Klikk for å redigere tittelstil</a:t>
            </a:r>
          </a:p>
        </p:txBody>
      </p:sp>
      <p:sp>
        <p:nvSpPr>
          <p:cNvPr id="6" name="Plassholder for innhold 2">
            <a:extLst>
              <a:ext uri="{FF2B5EF4-FFF2-40B4-BE49-F238E27FC236}">
                <a16:creationId xmlns:a16="http://schemas.microsoft.com/office/drawing/2014/main" id="{1DE0F04C-E32E-A34D-9B7C-4A11215E7ABC}"/>
              </a:ext>
            </a:extLst>
          </p:cNvPr>
          <p:cNvSpPr>
            <a:spLocks noGrp="1"/>
          </p:cNvSpPr>
          <p:nvPr>
            <p:ph idx="1"/>
          </p:nvPr>
        </p:nvSpPr>
        <p:spPr>
          <a:xfrm>
            <a:off x="419449" y="1073427"/>
            <a:ext cx="11336392" cy="5138531"/>
          </a:xfrm>
        </p:spPr>
        <p:txBody>
          <a:bodyPr/>
          <a:lstStyle/>
          <a:p>
            <a:pPr lvl="0"/>
            <a:r>
              <a:rPr lang="nb-NO" dirty="0"/>
              <a:t>Klikk for å redigere tekststiler i malen</a:t>
            </a:r>
          </a:p>
          <a:p>
            <a:pPr lvl="1"/>
            <a:r>
              <a:rPr lang="nb-NO" dirty="0"/>
              <a:t>Andre nivå</a:t>
            </a:r>
          </a:p>
          <a:p>
            <a:pPr lvl="2"/>
            <a:r>
              <a:rPr lang="nb-NO" dirty="0"/>
              <a:t>Tredje nivå</a:t>
            </a:r>
          </a:p>
          <a:p>
            <a:pPr lvl="3"/>
            <a:r>
              <a:rPr lang="nb-NO" dirty="0"/>
              <a:t>Fjerde nivå</a:t>
            </a:r>
          </a:p>
          <a:p>
            <a:pPr lvl="4"/>
            <a:r>
              <a:rPr lang="nb-NO" dirty="0"/>
              <a:t>Femte nivå</a:t>
            </a:r>
          </a:p>
        </p:txBody>
      </p:sp>
      <p:sp>
        <p:nvSpPr>
          <p:cNvPr id="2" name="灯片编号占位符 1">
            <a:extLst>
              <a:ext uri="{FF2B5EF4-FFF2-40B4-BE49-F238E27FC236}">
                <a16:creationId xmlns:a16="http://schemas.microsoft.com/office/drawing/2014/main" id="{49D93981-1003-384F-20B4-7F0154532D08}"/>
              </a:ext>
            </a:extLst>
          </p:cNvPr>
          <p:cNvSpPr>
            <a:spLocks noGrp="1"/>
          </p:cNvSpPr>
          <p:nvPr>
            <p:ph type="sldNum" sz="quarter" idx="10"/>
          </p:nvPr>
        </p:nvSpPr>
        <p:spPr/>
        <p:txBody>
          <a:bodyPr/>
          <a:lstStyle/>
          <a:p>
            <a:pPr algn="r"/>
            <a:fld id="{91853A39-49B3-554A-AE82-85611CEBD8E3}" type="slidenum">
              <a:rPr lang="nb-NO" smtClean="0">
                <a:latin typeface="Arial"/>
                <a:cs typeface="Arial"/>
              </a:rPr>
              <a:pPr algn="r"/>
              <a:t>‹#›</a:t>
            </a:fld>
            <a:endParaRPr lang="nb-NO" dirty="0">
              <a:latin typeface="Arial"/>
              <a:cs typeface="Arial"/>
            </a:endParaRPr>
          </a:p>
        </p:txBody>
      </p:sp>
    </p:spTree>
    <p:extLst>
      <p:ext uri="{BB962C8B-B14F-4D97-AF65-F5344CB8AC3E}">
        <p14:creationId xmlns:p14="http://schemas.microsoft.com/office/powerpoint/2010/main" val="10614642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533400"/>
            <a:ext cx="10972800" cy="1143000"/>
          </a:xfrm>
        </p:spPr>
        <p:txBody>
          <a:bodyPr/>
          <a:lstStyle/>
          <a:p>
            <a:r>
              <a:rPr lang="en-US"/>
              <a:t>Click to edit Master title style</a:t>
            </a:r>
            <a:endParaRPr lang="en-CA"/>
          </a:p>
        </p:txBody>
      </p:sp>
      <p:sp>
        <p:nvSpPr>
          <p:cNvPr id="3" name="Content Placeholder 2"/>
          <p:cNvSpPr>
            <a:spLocks noGrp="1"/>
          </p:cNvSpPr>
          <p:nvPr>
            <p:ph sz="quarter" idx="1"/>
          </p:nvPr>
        </p:nvSpPr>
        <p:spPr>
          <a:xfrm>
            <a:off x="609600" y="1917701"/>
            <a:ext cx="5435600" cy="207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quarter" idx="2"/>
          </p:nvPr>
        </p:nvSpPr>
        <p:spPr>
          <a:xfrm>
            <a:off x="6248400" y="1917701"/>
            <a:ext cx="5435600" cy="207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4"/>
          <p:cNvSpPr>
            <a:spLocks noGrp="1"/>
          </p:cNvSpPr>
          <p:nvPr>
            <p:ph sz="quarter" idx="3"/>
          </p:nvPr>
        </p:nvSpPr>
        <p:spPr>
          <a:xfrm>
            <a:off x="609600" y="4144963"/>
            <a:ext cx="5435600" cy="2074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Content Placeholder 5"/>
          <p:cNvSpPr>
            <a:spLocks noGrp="1"/>
          </p:cNvSpPr>
          <p:nvPr>
            <p:ph sz="quarter" idx="4"/>
          </p:nvPr>
        </p:nvSpPr>
        <p:spPr>
          <a:xfrm>
            <a:off x="6248400" y="4144963"/>
            <a:ext cx="5435600" cy="2074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Rectangle 6"/>
          <p:cNvSpPr>
            <a:spLocks noGrp="1" noChangeArrowheads="1"/>
          </p:cNvSpPr>
          <p:nvPr>
            <p:ph type="sldNum" sz="quarter" idx="10"/>
          </p:nvPr>
        </p:nvSpPr>
        <p:spPr bwMode="auto">
          <a:xfrm>
            <a:off x="9042400" y="6364288"/>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atin typeface="Arial" charset="0"/>
                <a:ea typeface="宋体" charset="-122"/>
              </a:defRPr>
            </a:lvl1pPr>
          </a:lstStyle>
          <a:p>
            <a:pPr>
              <a:defRPr/>
            </a:pPr>
            <a:fld id="{827A0A33-D1BC-4593-884F-3C34146062BE}" type="slidenum">
              <a:rPr lang="en-US" altLang="zh-CN"/>
              <a:pPr>
                <a:defRPr/>
              </a:pPr>
              <a:t>‹#›</a:t>
            </a:fld>
            <a:endParaRPr lang="en-US" altLang="zh-CN"/>
          </a:p>
        </p:txBody>
      </p:sp>
      <p:sp>
        <p:nvSpPr>
          <p:cNvPr id="10" name="Rectangle 4"/>
          <p:cNvSpPr>
            <a:spLocks noGrp="1" noChangeArrowheads="1"/>
          </p:cNvSpPr>
          <p:nvPr>
            <p:ph type="dt" sz="half" idx="11"/>
          </p:nvPr>
        </p:nvSpPr>
        <p:spPr>
          <a:xfrm>
            <a:off x="609600" y="6364288"/>
            <a:ext cx="5852584" cy="457200"/>
          </a:xfrm>
          <a:prstGeom prst="rect">
            <a:avLst/>
          </a:prstGeom>
          <a:ln/>
        </p:spPr>
        <p:txBody>
          <a:bodyPr/>
          <a:lstStyle>
            <a:lvl1pPr>
              <a:defRPr/>
            </a:lvl1pPr>
          </a:lstStyle>
          <a:p>
            <a:pPr>
              <a:defRPr/>
            </a:pPr>
            <a:r>
              <a:rPr lang="en-US"/>
              <a:t> © </a:t>
            </a:r>
            <a:r>
              <a:rPr lang="en-US" err="1"/>
              <a:t>Zonghua</a:t>
            </a:r>
            <a:r>
              <a:rPr lang="en-US"/>
              <a:t> </a:t>
            </a:r>
            <a:r>
              <a:rPr lang="en-US" err="1"/>
              <a:t>Gu</a:t>
            </a:r>
            <a:r>
              <a:rPr lang="en-US"/>
              <a:t>, CMPT 300, Fall 2011 </a:t>
            </a:r>
          </a:p>
        </p:txBody>
      </p:sp>
    </p:spTree>
    <p:extLst>
      <p:ext uri="{BB962C8B-B14F-4D97-AF65-F5344CB8AC3E}">
        <p14:creationId xmlns:p14="http://schemas.microsoft.com/office/powerpoint/2010/main" val="2242146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4"/>
          <p:cNvSpPr>
            <a:spLocks noChangeArrowheads="1"/>
          </p:cNvSpPr>
          <p:nvPr userDrawn="1"/>
        </p:nvSpPr>
        <p:spPr bwMode="auto">
          <a:xfrm>
            <a:off x="11797680" y="6552798"/>
            <a:ext cx="394320" cy="30520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p>
            <a:pPr algn="ctr"/>
            <a:fld id="{8B82DB86-37F9-954E-8F10-00623E1FD261}" type="slidenum">
              <a:rPr lang="en-US" sz="1400" b="0" smtClean="0">
                <a:solidFill>
                  <a:schemeClr val="tx1"/>
                </a:solidFill>
                <a:latin typeface="Gill Sans" charset="0"/>
                <a:cs typeface="Gill Sans" charset="0"/>
              </a:rPr>
              <a:pPr algn="ctr"/>
              <a:t>‹#›</a:t>
            </a:fld>
            <a:endParaRPr lang="en-US" sz="1400" b="0" dirty="0">
              <a:solidFill>
                <a:schemeClr val="tx1"/>
              </a:solidFill>
              <a:latin typeface="Gill Sans" charset="0"/>
              <a:cs typeface="Gill Sans" charset="0"/>
            </a:endParaRP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9" r:id="rId13"/>
    <p:sldLayoutId id="2147483740" r:id="rId14"/>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8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r>
              <a:rPr lang="en-US" sz="3000" dirty="0"/>
              <a:t>Computer Operating Systems</a:t>
            </a:r>
            <a:br>
              <a:rPr lang="en-US" sz="3000" dirty="0"/>
            </a:br>
            <a:br>
              <a:rPr lang="en-US" sz="3000" dirty="0"/>
            </a:br>
            <a:br>
              <a:rPr lang="en-US" sz="3000" dirty="0"/>
            </a:br>
            <a:r>
              <a:rPr lang="en-US" sz="3000" dirty="0"/>
              <a:t>Midterm Exam Spring 2025</a:t>
            </a:r>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CC1CB-087D-7B65-0719-F213DEED7CA9}"/>
              </a:ext>
            </a:extLst>
          </p:cNvPr>
          <p:cNvSpPr>
            <a:spLocks noGrp="1"/>
          </p:cNvSpPr>
          <p:nvPr>
            <p:ph type="title"/>
          </p:nvPr>
        </p:nvSpPr>
        <p:spPr>
          <a:xfrm>
            <a:off x="762000" y="152400"/>
            <a:ext cx="10591800" cy="533400"/>
          </a:xfrm>
        </p:spPr>
        <p:txBody>
          <a:bodyPr/>
          <a:lstStyle/>
          <a:p>
            <a:r>
              <a:rPr lang="en-GB" dirty="0"/>
              <a:t>Q1 Multiple-choice questions: enter your answer keys here</a:t>
            </a:r>
            <a:endParaRPr lang="en-SE" dirty="0"/>
          </a:p>
        </p:txBody>
      </p:sp>
      <p:graphicFrame>
        <p:nvGraphicFramePr>
          <p:cNvPr id="6" name="Content Placeholder 5">
            <a:extLst>
              <a:ext uri="{FF2B5EF4-FFF2-40B4-BE49-F238E27FC236}">
                <a16:creationId xmlns:a16="http://schemas.microsoft.com/office/drawing/2014/main" id="{801D9557-6E36-D48F-63C9-9C64A62525DE}"/>
              </a:ext>
            </a:extLst>
          </p:cNvPr>
          <p:cNvGraphicFramePr>
            <a:graphicFrameLocks noGrp="1"/>
          </p:cNvGraphicFramePr>
          <p:nvPr>
            <p:ph idx="1"/>
            <p:extLst>
              <p:ext uri="{D42A27DB-BD31-4B8C-83A1-F6EECF244321}">
                <p14:modId xmlns:p14="http://schemas.microsoft.com/office/powerpoint/2010/main" val="875357038"/>
              </p:ext>
            </p:extLst>
          </p:nvPr>
        </p:nvGraphicFramePr>
        <p:xfrm>
          <a:off x="3255010" y="1219200"/>
          <a:ext cx="5681980" cy="2122932"/>
        </p:xfrm>
        <a:graphic>
          <a:graphicData uri="http://schemas.openxmlformats.org/drawingml/2006/table">
            <a:tbl>
              <a:tblPr firstRow="1" firstCol="1" bandRow="1"/>
              <a:tblGrid>
                <a:gridCol w="567787">
                  <a:extLst>
                    <a:ext uri="{9D8B030D-6E8A-4147-A177-3AD203B41FA5}">
                      <a16:colId xmlns:a16="http://schemas.microsoft.com/office/drawing/2014/main" val="2074993323"/>
                    </a:ext>
                  </a:extLst>
                </a:gridCol>
                <a:gridCol w="567787">
                  <a:extLst>
                    <a:ext uri="{9D8B030D-6E8A-4147-A177-3AD203B41FA5}">
                      <a16:colId xmlns:a16="http://schemas.microsoft.com/office/drawing/2014/main" val="1782331709"/>
                    </a:ext>
                  </a:extLst>
                </a:gridCol>
                <a:gridCol w="567787">
                  <a:extLst>
                    <a:ext uri="{9D8B030D-6E8A-4147-A177-3AD203B41FA5}">
                      <a16:colId xmlns:a16="http://schemas.microsoft.com/office/drawing/2014/main" val="1818219313"/>
                    </a:ext>
                  </a:extLst>
                </a:gridCol>
                <a:gridCol w="567787">
                  <a:extLst>
                    <a:ext uri="{9D8B030D-6E8A-4147-A177-3AD203B41FA5}">
                      <a16:colId xmlns:a16="http://schemas.microsoft.com/office/drawing/2014/main" val="1170299318"/>
                    </a:ext>
                  </a:extLst>
                </a:gridCol>
                <a:gridCol w="568472">
                  <a:extLst>
                    <a:ext uri="{9D8B030D-6E8A-4147-A177-3AD203B41FA5}">
                      <a16:colId xmlns:a16="http://schemas.microsoft.com/office/drawing/2014/main" val="1822928501"/>
                    </a:ext>
                  </a:extLst>
                </a:gridCol>
                <a:gridCol w="568472">
                  <a:extLst>
                    <a:ext uri="{9D8B030D-6E8A-4147-A177-3AD203B41FA5}">
                      <a16:colId xmlns:a16="http://schemas.microsoft.com/office/drawing/2014/main" val="3311085552"/>
                    </a:ext>
                  </a:extLst>
                </a:gridCol>
                <a:gridCol w="568472">
                  <a:extLst>
                    <a:ext uri="{9D8B030D-6E8A-4147-A177-3AD203B41FA5}">
                      <a16:colId xmlns:a16="http://schemas.microsoft.com/office/drawing/2014/main" val="942710800"/>
                    </a:ext>
                  </a:extLst>
                </a:gridCol>
                <a:gridCol w="568472">
                  <a:extLst>
                    <a:ext uri="{9D8B030D-6E8A-4147-A177-3AD203B41FA5}">
                      <a16:colId xmlns:a16="http://schemas.microsoft.com/office/drawing/2014/main" val="4134446424"/>
                    </a:ext>
                  </a:extLst>
                </a:gridCol>
                <a:gridCol w="568472">
                  <a:extLst>
                    <a:ext uri="{9D8B030D-6E8A-4147-A177-3AD203B41FA5}">
                      <a16:colId xmlns:a16="http://schemas.microsoft.com/office/drawing/2014/main" val="37735225"/>
                    </a:ext>
                  </a:extLst>
                </a:gridCol>
                <a:gridCol w="568472">
                  <a:extLst>
                    <a:ext uri="{9D8B030D-6E8A-4147-A177-3AD203B41FA5}">
                      <a16:colId xmlns:a16="http://schemas.microsoft.com/office/drawing/2014/main" val="1536162119"/>
                    </a:ext>
                  </a:extLst>
                </a:gridCol>
              </a:tblGrid>
              <a:tr h="530733">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1</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2</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3</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4</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5</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6</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7</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8</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9</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10</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56134867"/>
                  </a:ext>
                </a:extLst>
              </a:tr>
              <a:tr h="530733">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B</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B</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C </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C</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A </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C</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B</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B</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B </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C</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7899721"/>
                  </a:ext>
                </a:extLst>
              </a:tr>
              <a:tr h="530733">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11</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12</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13</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14</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15</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16</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17</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18</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19</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b="1">
                          <a:effectLst/>
                          <a:latin typeface="Times New Roman" panose="02020603050405020304" pitchFamily="18" charset="0"/>
                          <a:ea typeface="SimSun" panose="02010600030101010101" pitchFamily="2" charset="-122"/>
                        </a:rPr>
                        <a:t>20</a:t>
                      </a:r>
                      <a:endParaRPr lang="en-SE" sz="240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1041872"/>
                  </a:ext>
                </a:extLst>
              </a:tr>
              <a:tr h="530733">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C</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B</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B</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C</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C</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C</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C</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C</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 B</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ts val="3000"/>
                        </a:lnSpc>
                        <a:spcAft>
                          <a:spcPts val="360"/>
                        </a:spcAft>
                        <a:buNone/>
                      </a:pPr>
                      <a:r>
                        <a:rPr lang="en-US" sz="2000" dirty="0">
                          <a:effectLst/>
                          <a:latin typeface="Times New Roman" panose="02020603050405020304" pitchFamily="18" charset="0"/>
                          <a:ea typeface="SimSun" panose="02010600030101010101" pitchFamily="2" charset="-122"/>
                        </a:rPr>
                        <a:t>A </a:t>
                      </a:r>
                      <a:endParaRPr lang="en-SE" sz="2400" dirty="0">
                        <a:effectLst/>
                        <a:latin typeface="Times New Roman" panose="02020603050405020304" pitchFamily="18" charset="0"/>
                        <a:ea typeface="SimSun"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67633158"/>
                  </a:ext>
                </a:extLst>
              </a:tr>
            </a:tbl>
          </a:graphicData>
        </a:graphic>
      </p:graphicFrame>
      <p:sp>
        <p:nvSpPr>
          <p:cNvPr id="7" name="Rectangle 2">
            <a:extLst>
              <a:ext uri="{FF2B5EF4-FFF2-40B4-BE49-F238E27FC236}">
                <a16:creationId xmlns:a16="http://schemas.microsoft.com/office/drawing/2014/main" id="{0759EAD4-30EB-8420-9D58-DE8ECB4072D7}"/>
              </a:ext>
            </a:extLst>
          </p:cNvPr>
          <p:cNvSpPr>
            <a:spLocks noChangeArrowheads="1"/>
          </p:cNvSpPr>
          <p:nvPr/>
        </p:nvSpPr>
        <p:spPr bwMode="auto">
          <a:xfrm>
            <a:off x="3255010" y="702541"/>
            <a:ext cx="552958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SE"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9795880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5590B-6D90-629D-80B6-3D8DA0390A49}"/>
              </a:ext>
            </a:extLst>
          </p:cNvPr>
          <p:cNvSpPr>
            <a:spLocks noGrp="1"/>
          </p:cNvSpPr>
          <p:nvPr>
            <p:ph type="title"/>
          </p:nvPr>
        </p:nvSpPr>
        <p:spPr/>
        <p:txBody>
          <a:bodyPr/>
          <a:lstStyle/>
          <a:p>
            <a:r>
              <a:rPr lang="en-US" dirty="0"/>
              <a:t>Q1. Multiple-choice. (20 pts)</a:t>
            </a:r>
            <a:endParaRPr lang="en-SE" dirty="0"/>
          </a:p>
        </p:txBody>
      </p:sp>
      <p:sp>
        <p:nvSpPr>
          <p:cNvPr id="3" name="Content Placeholder 2">
            <a:extLst>
              <a:ext uri="{FF2B5EF4-FFF2-40B4-BE49-F238E27FC236}">
                <a16:creationId xmlns:a16="http://schemas.microsoft.com/office/drawing/2014/main" id="{F56FD100-EB30-C0F2-A223-2CDFA7A23848}"/>
              </a:ext>
            </a:extLst>
          </p:cNvPr>
          <p:cNvSpPr>
            <a:spLocks noGrp="1"/>
          </p:cNvSpPr>
          <p:nvPr>
            <p:ph idx="1"/>
          </p:nvPr>
        </p:nvSpPr>
        <p:spPr>
          <a:xfrm>
            <a:off x="533400" y="858078"/>
            <a:ext cx="5562600" cy="5867400"/>
          </a:xfrm>
        </p:spPr>
        <p:txBody>
          <a:bodyPr>
            <a:normAutofit fontScale="40000" lnSpcReduction="20000"/>
          </a:bodyPr>
          <a:lstStyle/>
          <a:p>
            <a:pPr marL="0" indent="0">
              <a:buNone/>
            </a:pPr>
            <a:r>
              <a:rPr lang="en-US" dirty="0"/>
              <a:t>1. What is the "kernel" in an operating system?</a:t>
            </a:r>
          </a:p>
          <a:p>
            <a:pPr marL="0" indent="0">
              <a:buNone/>
            </a:pPr>
            <a:r>
              <a:rPr lang="en-US" dirty="0"/>
              <a:t>A) The hardware component managing memory  </a:t>
            </a:r>
          </a:p>
          <a:p>
            <a:pPr marL="0" indent="0">
              <a:buNone/>
            </a:pPr>
            <a:r>
              <a:rPr lang="en-US" dirty="0"/>
              <a:t>B) The one program running at all times on a computer  </a:t>
            </a:r>
          </a:p>
          <a:p>
            <a:pPr marL="0" indent="0">
              <a:buNone/>
            </a:pPr>
            <a:r>
              <a:rPr lang="en-US" dirty="0"/>
              <a:t>C) A user interface for applications  </a:t>
            </a:r>
          </a:p>
          <a:p>
            <a:pPr marL="0" indent="0">
              <a:buNone/>
            </a:pPr>
            <a:r>
              <a:rPr lang="en-US" dirty="0"/>
              <a:t>D) A type of application program  </a:t>
            </a:r>
          </a:p>
          <a:p>
            <a:pPr marL="0" indent="0">
              <a:buNone/>
            </a:pPr>
            <a:r>
              <a:rPr lang="en-US" dirty="0"/>
              <a:t>Answer: B</a:t>
            </a:r>
          </a:p>
          <a:p>
            <a:pPr marL="0" indent="0">
              <a:buNone/>
            </a:pPr>
            <a:r>
              <a:rPr lang="en-US" dirty="0"/>
              <a:t> </a:t>
            </a:r>
          </a:p>
          <a:p>
            <a:pPr marL="0" indent="0">
              <a:buNone/>
            </a:pPr>
            <a:r>
              <a:rPr lang="en-US" dirty="0"/>
              <a:t>2. What is dual-mode operation in an operating system?</a:t>
            </a:r>
          </a:p>
          <a:p>
            <a:pPr marL="0" indent="0">
              <a:buNone/>
            </a:pPr>
            <a:r>
              <a:rPr lang="en-US" dirty="0"/>
              <a:t>A) Running two operating systems simultaneously  </a:t>
            </a:r>
          </a:p>
          <a:p>
            <a:pPr marL="0" indent="0">
              <a:buNone/>
            </a:pPr>
            <a:r>
              <a:rPr lang="en-US" dirty="0"/>
              <a:t>B) Providing two modes: kernel mode and user mode  </a:t>
            </a:r>
          </a:p>
          <a:p>
            <a:pPr marL="0" indent="0">
              <a:buNone/>
            </a:pPr>
            <a:r>
              <a:rPr lang="en-US" dirty="0"/>
              <a:t>C) Allowing two users to access the same process  </a:t>
            </a:r>
          </a:p>
          <a:p>
            <a:pPr marL="0" indent="0">
              <a:buNone/>
            </a:pPr>
            <a:r>
              <a:rPr lang="en-US" dirty="0"/>
              <a:t>D) Switching between two CPUs dynamically  </a:t>
            </a:r>
          </a:p>
          <a:p>
            <a:pPr marL="0" indent="0">
              <a:buNone/>
            </a:pPr>
            <a:r>
              <a:rPr lang="en-US" dirty="0"/>
              <a:t>Answer: B</a:t>
            </a:r>
          </a:p>
          <a:p>
            <a:pPr marL="0" indent="0">
              <a:buNone/>
            </a:pPr>
            <a:r>
              <a:rPr lang="en-US" dirty="0"/>
              <a:t> </a:t>
            </a:r>
          </a:p>
          <a:p>
            <a:pPr marL="0" indent="0">
              <a:buNone/>
            </a:pPr>
            <a:r>
              <a:rPr lang="en-US" dirty="0"/>
              <a:t>3. Which system call replaces the current process image with a new one?</a:t>
            </a:r>
          </a:p>
          <a:p>
            <a:pPr marL="0" indent="0">
              <a:buNone/>
            </a:pPr>
            <a:r>
              <a:rPr lang="en-US" dirty="0"/>
              <a:t>a) `fork()`  </a:t>
            </a:r>
          </a:p>
          <a:p>
            <a:pPr marL="0" indent="0">
              <a:buNone/>
            </a:pPr>
            <a:r>
              <a:rPr lang="en-US" dirty="0"/>
              <a:t>b) `wait()`  </a:t>
            </a:r>
          </a:p>
          <a:p>
            <a:pPr marL="0" indent="0">
              <a:buNone/>
            </a:pPr>
            <a:r>
              <a:rPr lang="en-US" dirty="0"/>
              <a:t>c) `exec()`  </a:t>
            </a:r>
          </a:p>
          <a:p>
            <a:pPr marL="0" indent="0">
              <a:buNone/>
            </a:pPr>
            <a:r>
              <a:rPr lang="en-US" dirty="0"/>
              <a:t>d) `exit()`  </a:t>
            </a:r>
          </a:p>
          <a:p>
            <a:pPr marL="0" indent="0">
              <a:buNone/>
            </a:pPr>
            <a:r>
              <a:rPr lang="en-US" dirty="0"/>
              <a:t>Answer: C</a:t>
            </a:r>
          </a:p>
          <a:p>
            <a:pPr marL="0" indent="0">
              <a:buNone/>
            </a:pPr>
            <a:r>
              <a:rPr lang="en-US" dirty="0"/>
              <a:t> </a:t>
            </a:r>
          </a:p>
          <a:p>
            <a:pPr marL="0" indent="0">
              <a:buNone/>
            </a:pPr>
            <a:r>
              <a:rPr lang="en-US" dirty="0"/>
              <a:t>4. What is the purpose of the `wait()` system call?</a:t>
            </a:r>
          </a:p>
          <a:p>
            <a:pPr marL="0" indent="0">
              <a:buNone/>
            </a:pPr>
            <a:r>
              <a:rPr lang="en-US" dirty="0"/>
              <a:t>a) To create a new process  </a:t>
            </a:r>
          </a:p>
          <a:p>
            <a:pPr marL="0" indent="0">
              <a:buNone/>
            </a:pPr>
            <a:r>
              <a:rPr lang="en-US" dirty="0"/>
              <a:t>b) To wait for I/O operations to complete  </a:t>
            </a:r>
          </a:p>
          <a:p>
            <a:pPr marL="0" indent="0">
              <a:buNone/>
            </a:pPr>
            <a:r>
              <a:rPr lang="en-US" dirty="0"/>
              <a:t>c) To suspend the parent process until a child process terminates  </a:t>
            </a:r>
          </a:p>
          <a:p>
            <a:pPr marL="0" indent="0">
              <a:buNone/>
            </a:pPr>
            <a:r>
              <a:rPr lang="en-US" dirty="0"/>
              <a:t>d) To destroy a process  </a:t>
            </a:r>
          </a:p>
          <a:p>
            <a:pPr marL="0" indent="0">
              <a:buNone/>
            </a:pPr>
            <a:r>
              <a:rPr lang="en-US" dirty="0"/>
              <a:t>Answer: C</a:t>
            </a:r>
          </a:p>
          <a:p>
            <a:pPr marL="0" indent="0">
              <a:buNone/>
            </a:pPr>
            <a:r>
              <a:rPr lang="en-US" dirty="0"/>
              <a:t> </a:t>
            </a:r>
          </a:p>
          <a:p>
            <a:pPr marL="0" indent="0">
              <a:buNone/>
            </a:pPr>
            <a:r>
              <a:rPr lang="en-US" dirty="0"/>
              <a:t>5. What is the difference between `wait()` and `</a:t>
            </a:r>
            <a:r>
              <a:rPr lang="en-US" dirty="0" err="1"/>
              <a:t>waitpid</a:t>
            </a:r>
            <a:r>
              <a:rPr lang="en-US" dirty="0"/>
              <a:t>()`?</a:t>
            </a:r>
          </a:p>
          <a:p>
            <a:pPr marL="0" indent="0">
              <a:buNone/>
            </a:pPr>
            <a:r>
              <a:rPr lang="en-US" dirty="0"/>
              <a:t>a) `</a:t>
            </a:r>
            <a:r>
              <a:rPr lang="en-US" dirty="0" err="1"/>
              <a:t>waitpid</a:t>
            </a:r>
            <a:r>
              <a:rPr lang="en-US" dirty="0"/>
              <a:t>()` allows specifying which child process to wait for, while `wait()` does not.  </a:t>
            </a:r>
          </a:p>
          <a:p>
            <a:pPr marL="0" indent="0">
              <a:buNone/>
            </a:pPr>
            <a:r>
              <a:rPr lang="en-US" dirty="0"/>
              <a:t>b) `wait()` waits for all processes, while `</a:t>
            </a:r>
            <a:r>
              <a:rPr lang="en-US" dirty="0" err="1"/>
              <a:t>waitpid</a:t>
            </a:r>
            <a:r>
              <a:rPr lang="en-US" dirty="0"/>
              <a:t>()` waits only for threads.  </a:t>
            </a:r>
          </a:p>
          <a:p>
            <a:pPr marL="0" indent="0">
              <a:buNone/>
            </a:pPr>
            <a:r>
              <a:rPr lang="en-US" dirty="0"/>
              <a:t>c) Both are identical in functionality.  </a:t>
            </a:r>
          </a:p>
          <a:p>
            <a:pPr marL="0" indent="0">
              <a:buNone/>
            </a:pPr>
            <a:r>
              <a:rPr lang="en-US" dirty="0"/>
              <a:t>d) `</a:t>
            </a:r>
            <a:r>
              <a:rPr lang="en-US" dirty="0" err="1"/>
              <a:t>waitpid</a:t>
            </a:r>
            <a:r>
              <a:rPr lang="en-US" dirty="0"/>
              <a:t>()` suspends processes, while `wait()` terminates them.  </a:t>
            </a:r>
          </a:p>
          <a:p>
            <a:pPr marL="0" indent="0">
              <a:buNone/>
            </a:pPr>
            <a:r>
              <a:rPr lang="en-US" dirty="0"/>
              <a:t>Answer: A</a:t>
            </a:r>
          </a:p>
          <a:p>
            <a:pPr marL="0" indent="0">
              <a:buNone/>
            </a:pPr>
            <a:endParaRPr lang="en-SE" dirty="0"/>
          </a:p>
        </p:txBody>
      </p:sp>
      <p:sp>
        <p:nvSpPr>
          <p:cNvPr id="4" name="Content Placeholder 2">
            <a:extLst>
              <a:ext uri="{FF2B5EF4-FFF2-40B4-BE49-F238E27FC236}">
                <a16:creationId xmlns:a16="http://schemas.microsoft.com/office/drawing/2014/main" id="{5A55F1D0-DD70-69ED-0F05-EC076414C748}"/>
              </a:ext>
            </a:extLst>
          </p:cNvPr>
          <p:cNvSpPr txBox="1">
            <a:spLocks/>
          </p:cNvSpPr>
          <p:nvPr/>
        </p:nvSpPr>
        <p:spPr bwMode="auto">
          <a:xfrm>
            <a:off x="6324600" y="838200"/>
            <a:ext cx="5562600" cy="5867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40000" lnSpcReduction="20000"/>
          </a:bodyPr>
          <a:lstStyle>
            <a:lvl1pPr marL="285750" indent="-285750" algn="l" rtl="0" eaLnBrk="0" fontAlgn="base" hangingPunct="0">
              <a:lnSpc>
                <a:spcPct val="90000"/>
              </a:lnSpc>
              <a:spcBef>
                <a:spcPct val="30000"/>
              </a:spcBef>
              <a:spcAft>
                <a:spcPct val="0"/>
              </a:spcAft>
              <a:buSzPct val="100000"/>
              <a:buChar char="•"/>
              <a:defRPr sz="2800" b="0" i="0">
                <a:solidFill>
                  <a:schemeClr val="tx1"/>
                </a:solidFill>
                <a:latin typeface="Gill Sans" panose="020B0502020104020203"/>
                <a:ea typeface="Gill Sans" panose="020B0502020104020203"/>
                <a:cs typeface="Gill Sans" panose="020B0502020104020203"/>
              </a:defRPr>
            </a:lvl1pPr>
            <a:lvl2pPr marL="6858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2pPr>
            <a:lvl3pPr marL="11430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3pPr>
            <a:lvl4pPr marL="15430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4pPr>
            <a:lvl5pPr marL="20002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dirty="0"/>
              <a:t>6. In which state is a process when it is waiting for an I/O operation to complete?</a:t>
            </a:r>
          </a:p>
          <a:p>
            <a:pPr marL="0" indent="0">
              <a:buNone/>
            </a:pPr>
            <a:r>
              <a:rPr lang="en-US" dirty="0"/>
              <a:t>a) READY  </a:t>
            </a:r>
          </a:p>
          <a:p>
            <a:pPr marL="0" indent="0">
              <a:buNone/>
            </a:pPr>
            <a:r>
              <a:rPr lang="en-US" dirty="0"/>
              <a:t>b) RUNNING  </a:t>
            </a:r>
          </a:p>
          <a:p>
            <a:pPr marL="0" indent="0">
              <a:buNone/>
            </a:pPr>
            <a:r>
              <a:rPr lang="en-US" dirty="0"/>
              <a:t>c) BLOCKED  </a:t>
            </a:r>
          </a:p>
          <a:p>
            <a:pPr marL="0" indent="0">
              <a:buNone/>
            </a:pPr>
            <a:r>
              <a:rPr lang="en-US" dirty="0"/>
              <a:t>d) TERMINATED  </a:t>
            </a:r>
          </a:p>
          <a:p>
            <a:pPr marL="0" indent="0">
              <a:buNone/>
            </a:pPr>
            <a:r>
              <a:rPr lang="en-US" dirty="0"/>
              <a:t>Answer: C</a:t>
            </a:r>
          </a:p>
          <a:p>
            <a:pPr marL="0" indent="0">
              <a:buNone/>
            </a:pPr>
            <a:r>
              <a:rPr lang="en-US" dirty="0"/>
              <a:t> </a:t>
            </a:r>
          </a:p>
          <a:p>
            <a:pPr marL="0" indent="0">
              <a:buNone/>
            </a:pPr>
            <a:r>
              <a:rPr lang="en-US" dirty="0"/>
              <a:t>7. What is the primary advantage of threads over processes?</a:t>
            </a:r>
          </a:p>
          <a:p>
            <a:pPr marL="0" indent="0">
              <a:buNone/>
            </a:pPr>
            <a:r>
              <a:rPr lang="en-US" dirty="0"/>
              <a:t>a) Threads have separate address spaces.  </a:t>
            </a:r>
          </a:p>
          <a:p>
            <a:pPr marL="0" indent="0">
              <a:buNone/>
            </a:pPr>
            <a:r>
              <a:rPr lang="en-US" dirty="0"/>
              <a:t>b) Threads are cheaper to create and manage than processes.  </a:t>
            </a:r>
          </a:p>
          <a:p>
            <a:pPr marL="0" indent="0">
              <a:buNone/>
            </a:pPr>
            <a:r>
              <a:rPr lang="en-US" dirty="0"/>
              <a:t>c) Threads cannot share resources like processes can.  </a:t>
            </a:r>
          </a:p>
          <a:p>
            <a:pPr marL="0" indent="0">
              <a:buNone/>
            </a:pPr>
            <a:r>
              <a:rPr lang="en-US" dirty="0"/>
              <a:t>d) Threads only exist in kernel mode.  </a:t>
            </a:r>
          </a:p>
          <a:p>
            <a:pPr marL="0" indent="0">
              <a:buNone/>
            </a:pPr>
            <a:r>
              <a:rPr lang="en-US" dirty="0"/>
              <a:t>Answer: B</a:t>
            </a:r>
          </a:p>
          <a:p>
            <a:pPr marL="0" indent="0">
              <a:buNone/>
            </a:pPr>
            <a:r>
              <a:rPr lang="en-US" dirty="0"/>
              <a:t> </a:t>
            </a:r>
          </a:p>
          <a:p>
            <a:pPr marL="0" indent="0">
              <a:buNone/>
            </a:pPr>
            <a:r>
              <a:rPr lang="en-US" dirty="0"/>
              <a:t>8. What does multithreading allow in modern operating systems?</a:t>
            </a:r>
          </a:p>
          <a:p>
            <a:pPr marL="0" indent="0">
              <a:buNone/>
            </a:pPr>
            <a:r>
              <a:rPr lang="en-US" dirty="0"/>
              <a:t>a) Multiple address spaces per thread  </a:t>
            </a:r>
          </a:p>
          <a:p>
            <a:pPr marL="0" indent="0">
              <a:buNone/>
            </a:pPr>
            <a:r>
              <a:rPr lang="en-US" dirty="0"/>
              <a:t>b) Concurrent execution within the same address space  </a:t>
            </a:r>
          </a:p>
          <a:p>
            <a:pPr marL="0" indent="0">
              <a:buNone/>
            </a:pPr>
            <a:r>
              <a:rPr lang="en-US" dirty="0"/>
              <a:t>c) Execution of only one thread at any time in a system  </a:t>
            </a:r>
          </a:p>
          <a:p>
            <a:pPr marL="0" indent="0">
              <a:buNone/>
            </a:pPr>
            <a:r>
              <a:rPr lang="en-US" dirty="0"/>
              <a:t>d) Elimination of kernel threads  </a:t>
            </a:r>
          </a:p>
          <a:p>
            <a:pPr marL="0" indent="0">
              <a:buNone/>
            </a:pPr>
            <a:r>
              <a:rPr lang="en-US" dirty="0"/>
              <a:t>Answer: B</a:t>
            </a:r>
          </a:p>
          <a:p>
            <a:pPr marL="0" indent="0">
              <a:buNone/>
            </a:pPr>
            <a:r>
              <a:rPr lang="en-US" dirty="0"/>
              <a:t> </a:t>
            </a:r>
          </a:p>
          <a:p>
            <a:pPr marL="0" indent="0">
              <a:buNone/>
            </a:pPr>
            <a:r>
              <a:rPr lang="en-US" dirty="0"/>
              <a:t>9. In the Readers/Writers problem, why might writers starve?  </a:t>
            </a:r>
          </a:p>
          <a:p>
            <a:pPr marL="0" indent="0">
              <a:buNone/>
            </a:pPr>
            <a:r>
              <a:rPr lang="en-US" dirty="0"/>
              <a:t>A) Writers have higher priority  </a:t>
            </a:r>
          </a:p>
          <a:p>
            <a:pPr marL="0" indent="0">
              <a:buNone/>
            </a:pPr>
            <a:r>
              <a:rPr lang="en-US" dirty="0"/>
              <a:t>B) New readers continuously acquire the lock before writers  </a:t>
            </a:r>
          </a:p>
          <a:p>
            <a:pPr marL="0" indent="0">
              <a:buNone/>
            </a:pPr>
            <a:r>
              <a:rPr lang="en-US" dirty="0"/>
              <a:t>C) Semaphores are initialized incorrectly  </a:t>
            </a:r>
          </a:p>
          <a:p>
            <a:pPr marL="0" indent="0">
              <a:buNone/>
            </a:pPr>
            <a:r>
              <a:rPr lang="en-US" dirty="0"/>
              <a:t>D) Mutex locks are not used  </a:t>
            </a:r>
          </a:p>
          <a:p>
            <a:pPr marL="0" indent="0">
              <a:buNone/>
            </a:pPr>
            <a:r>
              <a:rPr lang="en-US" dirty="0"/>
              <a:t>Answer: B</a:t>
            </a:r>
          </a:p>
          <a:p>
            <a:pPr marL="0" indent="0">
              <a:buNone/>
            </a:pPr>
            <a:r>
              <a:rPr lang="en-US" dirty="0"/>
              <a:t> </a:t>
            </a:r>
          </a:p>
          <a:p>
            <a:pPr marL="0" indent="0">
              <a:buNone/>
            </a:pPr>
            <a:r>
              <a:rPr lang="en-US" dirty="0"/>
              <a:t>10. Which synchronization primitive combines a mutex with condition variables?  </a:t>
            </a:r>
          </a:p>
          <a:p>
            <a:pPr marL="0" indent="0">
              <a:buNone/>
            </a:pPr>
            <a:r>
              <a:rPr lang="en-US" dirty="0"/>
              <a:t>A) Spinlock  </a:t>
            </a:r>
          </a:p>
          <a:p>
            <a:pPr marL="0" indent="0">
              <a:buNone/>
            </a:pPr>
            <a:r>
              <a:rPr lang="en-US" dirty="0"/>
              <a:t>B) Semaphore  </a:t>
            </a:r>
          </a:p>
          <a:p>
            <a:pPr marL="0" indent="0">
              <a:buNone/>
            </a:pPr>
            <a:r>
              <a:rPr lang="en-US" dirty="0"/>
              <a:t>C) Monitor  </a:t>
            </a:r>
          </a:p>
          <a:p>
            <a:pPr marL="0" indent="0">
              <a:buNone/>
            </a:pPr>
            <a:r>
              <a:rPr lang="en-US" dirty="0"/>
              <a:t>D) Ticket lock  </a:t>
            </a:r>
          </a:p>
          <a:p>
            <a:pPr marL="0" indent="0">
              <a:buNone/>
            </a:pPr>
            <a:r>
              <a:rPr lang="en-US" dirty="0"/>
              <a:t>Answer: C</a:t>
            </a:r>
          </a:p>
        </p:txBody>
      </p:sp>
    </p:spTree>
    <p:extLst>
      <p:ext uri="{BB962C8B-B14F-4D97-AF65-F5344CB8AC3E}">
        <p14:creationId xmlns:p14="http://schemas.microsoft.com/office/powerpoint/2010/main" val="259189431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5590B-6D90-629D-80B6-3D8DA0390A49}"/>
              </a:ext>
            </a:extLst>
          </p:cNvPr>
          <p:cNvSpPr>
            <a:spLocks noGrp="1"/>
          </p:cNvSpPr>
          <p:nvPr>
            <p:ph type="title"/>
          </p:nvPr>
        </p:nvSpPr>
        <p:spPr/>
        <p:txBody>
          <a:bodyPr/>
          <a:lstStyle/>
          <a:p>
            <a:r>
              <a:rPr lang="en-US" dirty="0"/>
              <a:t>Q1. Multiple-choice. (20 pts)</a:t>
            </a:r>
            <a:endParaRPr lang="en-SE" dirty="0"/>
          </a:p>
        </p:txBody>
      </p:sp>
      <p:sp>
        <p:nvSpPr>
          <p:cNvPr id="3" name="Content Placeholder 2">
            <a:extLst>
              <a:ext uri="{FF2B5EF4-FFF2-40B4-BE49-F238E27FC236}">
                <a16:creationId xmlns:a16="http://schemas.microsoft.com/office/drawing/2014/main" id="{F56FD100-EB30-C0F2-A223-2CDFA7A23848}"/>
              </a:ext>
            </a:extLst>
          </p:cNvPr>
          <p:cNvSpPr>
            <a:spLocks noGrp="1"/>
          </p:cNvSpPr>
          <p:nvPr>
            <p:ph idx="1"/>
          </p:nvPr>
        </p:nvSpPr>
        <p:spPr>
          <a:xfrm>
            <a:off x="533400" y="858078"/>
            <a:ext cx="5562600" cy="5867400"/>
          </a:xfrm>
        </p:spPr>
        <p:txBody>
          <a:bodyPr>
            <a:normAutofit fontScale="92500" lnSpcReduction="10000"/>
          </a:bodyPr>
          <a:lstStyle/>
          <a:p>
            <a:pPr>
              <a:buNone/>
            </a:pPr>
            <a:r>
              <a:rPr lang="en-US" sz="1050" dirty="0">
                <a:latin typeface="Times New Roman" panose="02020603050405020304" pitchFamily="18" charset="0"/>
                <a:cs typeface="Times New Roman" panose="02020603050405020304" pitchFamily="18" charset="0"/>
              </a:rPr>
              <a:t>11. What happens when </a:t>
            </a:r>
            <a:r>
              <a:rPr lang="en-US" sz="1050" dirty="0" err="1">
                <a:latin typeface="Times New Roman" panose="02020603050405020304" pitchFamily="18" charset="0"/>
                <a:cs typeface="Times New Roman" panose="02020603050405020304" pitchFamily="18" charset="0"/>
              </a:rPr>
              <a:t>sem_wait</a:t>
            </a:r>
            <a:r>
              <a:rPr lang="en-US" sz="1050" dirty="0">
                <a:latin typeface="Times New Roman" panose="02020603050405020304" pitchFamily="18" charset="0"/>
                <a:cs typeface="Times New Roman" panose="02020603050405020304" pitchFamily="18" charset="0"/>
              </a:rPr>
              <a:t>() is called on a semaphore with value 0?  </a:t>
            </a:r>
          </a:p>
          <a:p>
            <a:pPr>
              <a:buNone/>
            </a:pPr>
            <a:r>
              <a:rPr lang="en-US" sz="1050" dirty="0">
                <a:latin typeface="Times New Roman" panose="02020603050405020304" pitchFamily="18" charset="0"/>
                <a:cs typeface="Times New Roman" panose="02020603050405020304" pitchFamily="18" charset="0"/>
              </a:rPr>
              <a:t>A) Returns immediately  </a:t>
            </a:r>
          </a:p>
          <a:p>
            <a:pPr>
              <a:buNone/>
            </a:pPr>
            <a:r>
              <a:rPr lang="en-US" sz="1050" dirty="0">
                <a:latin typeface="Times New Roman" panose="02020603050405020304" pitchFamily="18" charset="0"/>
                <a:cs typeface="Times New Roman" panose="02020603050405020304" pitchFamily="18" charset="0"/>
              </a:rPr>
              <a:t>B) Increments the value to +1  </a:t>
            </a:r>
          </a:p>
          <a:p>
            <a:pPr>
              <a:buNone/>
            </a:pPr>
            <a:r>
              <a:rPr lang="en-US" sz="1050" dirty="0">
                <a:latin typeface="Times New Roman" panose="02020603050405020304" pitchFamily="18" charset="0"/>
                <a:cs typeface="Times New Roman" panose="02020603050405020304" pitchFamily="18" charset="0"/>
              </a:rPr>
              <a:t>C) Blocks until </a:t>
            </a:r>
            <a:r>
              <a:rPr lang="en-US" sz="1050" dirty="0" err="1">
                <a:latin typeface="Times New Roman" panose="02020603050405020304" pitchFamily="18" charset="0"/>
                <a:cs typeface="Times New Roman" panose="02020603050405020304" pitchFamily="18" charset="0"/>
              </a:rPr>
              <a:t>sem_post</a:t>
            </a:r>
            <a:r>
              <a:rPr lang="en-US" sz="1050" dirty="0">
                <a:latin typeface="Times New Roman" panose="02020603050405020304" pitchFamily="18" charset="0"/>
                <a:cs typeface="Times New Roman" panose="02020603050405020304" pitchFamily="18" charset="0"/>
              </a:rPr>
              <a:t>() is called  </a:t>
            </a:r>
          </a:p>
          <a:p>
            <a:pPr>
              <a:buNone/>
            </a:pPr>
            <a:r>
              <a:rPr lang="en-US" sz="1050" dirty="0">
                <a:latin typeface="Times New Roman" panose="02020603050405020304" pitchFamily="18" charset="0"/>
                <a:cs typeface="Times New Roman" panose="02020603050405020304" pitchFamily="18" charset="0"/>
              </a:rPr>
              <a:t>D) Causes a segmentation fault  </a:t>
            </a:r>
          </a:p>
          <a:p>
            <a:pPr>
              <a:buNone/>
            </a:pPr>
            <a:r>
              <a:rPr lang="en-US" sz="1050" dirty="0">
                <a:latin typeface="Times New Roman" panose="02020603050405020304" pitchFamily="18" charset="0"/>
                <a:cs typeface="Times New Roman" panose="02020603050405020304" pitchFamily="18" charset="0"/>
              </a:rPr>
              <a:t>Answer: C</a:t>
            </a:r>
          </a:p>
          <a:p>
            <a:pPr>
              <a:buNone/>
            </a:pPr>
            <a:endParaRPr lang="en-US" sz="1050" dirty="0">
              <a:latin typeface="Times New Roman" panose="02020603050405020304" pitchFamily="18" charset="0"/>
              <a:cs typeface="Times New Roman" panose="02020603050405020304" pitchFamily="18" charset="0"/>
            </a:endParaRPr>
          </a:p>
          <a:p>
            <a:pPr>
              <a:buNone/>
            </a:pPr>
            <a:r>
              <a:rPr lang="en-US" sz="1050" dirty="0">
                <a:latin typeface="Times New Roman" panose="02020603050405020304" pitchFamily="18" charset="0"/>
                <a:cs typeface="Times New Roman" panose="02020603050405020304" pitchFamily="18" charset="0"/>
              </a:rPr>
              <a:t>12. Which condition variable operation wakes all waiting threads?  </a:t>
            </a:r>
          </a:p>
          <a:p>
            <a:pPr>
              <a:buNone/>
            </a:pPr>
            <a:r>
              <a:rPr lang="en-US" sz="1050" dirty="0">
                <a:latin typeface="Times New Roman" panose="02020603050405020304" pitchFamily="18" charset="0"/>
                <a:cs typeface="Times New Roman" panose="02020603050405020304" pitchFamily="18" charset="0"/>
              </a:rPr>
              <a:t>A) </a:t>
            </a:r>
            <a:r>
              <a:rPr lang="en-US" sz="1050" dirty="0" err="1">
                <a:latin typeface="Times New Roman" panose="02020603050405020304" pitchFamily="18" charset="0"/>
                <a:cs typeface="Times New Roman" panose="02020603050405020304" pitchFamily="18" charset="0"/>
              </a:rPr>
              <a:t>pthread_cond_signal</a:t>
            </a:r>
            <a:r>
              <a:rPr lang="en-US" sz="1050" dirty="0">
                <a:latin typeface="Times New Roman" panose="02020603050405020304" pitchFamily="18" charset="0"/>
                <a:cs typeface="Times New Roman" panose="02020603050405020304" pitchFamily="18" charset="0"/>
              </a:rPr>
              <a:t>()  </a:t>
            </a:r>
          </a:p>
          <a:p>
            <a:pPr>
              <a:buNone/>
            </a:pPr>
            <a:r>
              <a:rPr lang="en-US" sz="1050" dirty="0">
                <a:latin typeface="Times New Roman" panose="02020603050405020304" pitchFamily="18" charset="0"/>
                <a:cs typeface="Times New Roman" panose="02020603050405020304" pitchFamily="18" charset="0"/>
              </a:rPr>
              <a:t>B) </a:t>
            </a:r>
            <a:r>
              <a:rPr lang="en-US" sz="1050" dirty="0" err="1">
                <a:latin typeface="Times New Roman" panose="02020603050405020304" pitchFamily="18" charset="0"/>
                <a:cs typeface="Times New Roman" panose="02020603050405020304" pitchFamily="18" charset="0"/>
              </a:rPr>
              <a:t>pthread_cond_broadcast</a:t>
            </a:r>
            <a:r>
              <a:rPr lang="en-US" sz="1050" dirty="0">
                <a:latin typeface="Times New Roman" panose="02020603050405020304" pitchFamily="18" charset="0"/>
                <a:cs typeface="Times New Roman" panose="02020603050405020304" pitchFamily="18" charset="0"/>
              </a:rPr>
              <a:t>()  </a:t>
            </a:r>
          </a:p>
          <a:p>
            <a:pPr>
              <a:buNone/>
            </a:pPr>
            <a:r>
              <a:rPr lang="en-US" sz="1050" dirty="0">
                <a:latin typeface="Times New Roman" panose="02020603050405020304" pitchFamily="18" charset="0"/>
                <a:cs typeface="Times New Roman" panose="02020603050405020304" pitchFamily="18" charset="0"/>
              </a:rPr>
              <a:t>C) </a:t>
            </a:r>
            <a:r>
              <a:rPr lang="en-US" sz="1050" dirty="0" err="1">
                <a:latin typeface="Times New Roman" panose="02020603050405020304" pitchFamily="18" charset="0"/>
                <a:cs typeface="Times New Roman" panose="02020603050405020304" pitchFamily="18" charset="0"/>
              </a:rPr>
              <a:t>pthread_cond_wait</a:t>
            </a:r>
            <a:r>
              <a:rPr lang="en-US" sz="1050" dirty="0">
                <a:latin typeface="Times New Roman" panose="02020603050405020304" pitchFamily="18" charset="0"/>
                <a:cs typeface="Times New Roman" panose="02020603050405020304" pitchFamily="18" charset="0"/>
              </a:rPr>
              <a:t>()  </a:t>
            </a:r>
          </a:p>
          <a:p>
            <a:pPr>
              <a:buNone/>
            </a:pPr>
            <a:r>
              <a:rPr lang="en-US" sz="1050" dirty="0">
                <a:latin typeface="Times New Roman" panose="02020603050405020304" pitchFamily="18" charset="0"/>
                <a:cs typeface="Times New Roman" panose="02020603050405020304" pitchFamily="18" charset="0"/>
              </a:rPr>
              <a:t>D) </a:t>
            </a:r>
            <a:r>
              <a:rPr lang="en-US" sz="1050" dirty="0" err="1">
                <a:latin typeface="Times New Roman" panose="02020603050405020304" pitchFamily="18" charset="0"/>
                <a:cs typeface="Times New Roman" panose="02020603050405020304" pitchFamily="18" charset="0"/>
              </a:rPr>
              <a:t>pthread_cond_init</a:t>
            </a:r>
            <a:r>
              <a:rPr lang="en-US" sz="1050" dirty="0">
                <a:latin typeface="Times New Roman" panose="02020603050405020304" pitchFamily="18" charset="0"/>
                <a:cs typeface="Times New Roman" panose="02020603050405020304" pitchFamily="18" charset="0"/>
              </a:rPr>
              <a:t>()  </a:t>
            </a:r>
          </a:p>
          <a:p>
            <a:pPr>
              <a:buNone/>
            </a:pPr>
            <a:r>
              <a:rPr lang="en-US" sz="1050" dirty="0">
                <a:latin typeface="Times New Roman" panose="02020603050405020304" pitchFamily="18" charset="0"/>
                <a:cs typeface="Times New Roman" panose="02020603050405020304" pitchFamily="18" charset="0"/>
              </a:rPr>
              <a:t>Answer: B</a:t>
            </a:r>
          </a:p>
          <a:p>
            <a:pPr>
              <a:buNone/>
            </a:pPr>
            <a:endParaRPr lang="en-US" sz="1050" dirty="0">
              <a:latin typeface="Times New Roman" panose="02020603050405020304" pitchFamily="18" charset="0"/>
              <a:cs typeface="Times New Roman" panose="02020603050405020304" pitchFamily="18" charset="0"/>
            </a:endParaRPr>
          </a:p>
          <a:p>
            <a:pPr>
              <a:buNone/>
            </a:pPr>
            <a:r>
              <a:rPr lang="en-US" sz="1050" dirty="0">
                <a:latin typeface="Times New Roman" panose="02020603050405020304" pitchFamily="18" charset="0"/>
                <a:cs typeface="Times New Roman" panose="02020603050405020304" pitchFamily="18" charset="0"/>
              </a:rPr>
              <a:t>13. A counting semaphore initialized to N allows:</a:t>
            </a:r>
          </a:p>
          <a:p>
            <a:pPr>
              <a:buNone/>
            </a:pPr>
            <a:r>
              <a:rPr lang="en-US" sz="1050" dirty="0">
                <a:latin typeface="Times New Roman" panose="02020603050405020304" pitchFamily="18" charset="0"/>
                <a:cs typeface="Times New Roman" panose="02020603050405020304" pitchFamily="18" charset="0"/>
              </a:rPr>
              <a:t>A) Only one thread to access a resource</a:t>
            </a:r>
          </a:p>
          <a:p>
            <a:pPr>
              <a:buNone/>
            </a:pPr>
            <a:r>
              <a:rPr lang="en-US" sz="1050" dirty="0">
                <a:latin typeface="Times New Roman" panose="02020603050405020304" pitchFamily="18" charset="0"/>
                <a:cs typeface="Times New Roman" panose="02020603050405020304" pitchFamily="18" charset="0"/>
              </a:rPr>
              <a:t>B) Up to N threads to access a resource simultaneously</a:t>
            </a:r>
          </a:p>
          <a:p>
            <a:pPr>
              <a:buNone/>
            </a:pPr>
            <a:r>
              <a:rPr lang="en-US" sz="1050" dirty="0">
                <a:latin typeface="Times New Roman" panose="02020603050405020304" pitchFamily="18" charset="0"/>
                <a:cs typeface="Times New Roman" panose="02020603050405020304" pitchFamily="18" charset="0"/>
              </a:rPr>
              <a:t>C) Threads to bypass mutex locks</a:t>
            </a:r>
          </a:p>
          <a:p>
            <a:pPr>
              <a:buNone/>
            </a:pPr>
            <a:r>
              <a:rPr lang="en-US" sz="1050" dirty="0">
                <a:latin typeface="Times New Roman" panose="02020603050405020304" pitchFamily="18" charset="0"/>
                <a:cs typeface="Times New Roman" panose="02020603050405020304" pitchFamily="18" charset="0"/>
              </a:rPr>
              <a:t>D) Priority inversion to occur</a:t>
            </a:r>
          </a:p>
          <a:p>
            <a:pPr>
              <a:buNone/>
            </a:pPr>
            <a:r>
              <a:rPr lang="en-US" sz="1050" dirty="0">
                <a:latin typeface="Times New Roman" panose="02020603050405020304" pitchFamily="18" charset="0"/>
                <a:cs typeface="Times New Roman" panose="02020603050405020304" pitchFamily="18" charset="0"/>
              </a:rPr>
              <a:t>Answer: B</a:t>
            </a:r>
          </a:p>
          <a:p>
            <a:pPr>
              <a:buNone/>
            </a:pPr>
            <a:endParaRPr lang="en-US" sz="1050" dirty="0">
              <a:latin typeface="Times New Roman" panose="02020603050405020304" pitchFamily="18" charset="0"/>
              <a:cs typeface="Times New Roman" panose="02020603050405020304" pitchFamily="18" charset="0"/>
            </a:endParaRPr>
          </a:p>
          <a:p>
            <a:pPr>
              <a:buNone/>
            </a:pPr>
            <a:r>
              <a:rPr lang="en-US" sz="1050" dirty="0">
                <a:latin typeface="Times New Roman" panose="02020603050405020304" pitchFamily="18" charset="0"/>
                <a:cs typeface="Times New Roman" panose="02020603050405020304" pitchFamily="18" charset="0"/>
              </a:rPr>
              <a:t>14. Which condition is NOT a necessary condition for deadlock? </a:t>
            </a:r>
          </a:p>
          <a:p>
            <a:pPr>
              <a:buNone/>
            </a:pPr>
            <a:r>
              <a:rPr lang="en-US" sz="1050" dirty="0">
                <a:latin typeface="Times New Roman" panose="02020603050405020304" pitchFamily="18" charset="0"/>
                <a:cs typeface="Times New Roman" panose="02020603050405020304" pitchFamily="18" charset="0"/>
              </a:rPr>
              <a:t>A) Mutual exclusion</a:t>
            </a:r>
          </a:p>
          <a:p>
            <a:pPr>
              <a:buNone/>
            </a:pPr>
            <a:r>
              <a:rPr lang="en-US" sz="1050" dirty="0">
                <a:latin typeface="Times New Roman" panose="02020603050405020304" pitchFamily="18" charset="0"/>
                <a:cs typeface="Times New Roman" panose="02020603050405020304" pitchFamily="18" charset="0"/>
              </a:rPr>
              <a:t>B) Hold-and-wait</a:t>
            </a:r>
          </a:p>
          <a:p>
            <a:pPr>
              <a:buNone/>
            </a:pPr>
            <a:r>
              <a:rPr lang="en-US" sz="1050" dirty="0">
                <a:latin typeface="Times New Roman" panose="02020603050405020304" pitchFamily="18" charset="0"/>
                <a:cs typeface="Times New Roman" panose="02020603050405020304" pitchFamily="18" charset="0"/>
              </a:rPr>
              <a:t>C) Starvation</a:t>
            </a:r>
          </a:p>
          <a:p>
            <a:pPr>
              <a:buNone/>
            </a:pPr>
            <a:r>
              <a:rPr lang="en-US" sz="1050" dirty="0">
                <a:latin typeface="Times New Roman" panose="02020603050405020304" pitchFamily="18" charset="0"/>
                <a:cs typeface="Times New Roman" panose="02020603050405020304" pitchFamily="18" charset="0"/>
              </a:rPr>
              <a:t>D) Circular wait</a:t>
            </a:r>
          </a:p>
          <a:p>
            <a:pPr>
              <a:buNone/>
            </a:pPr>
            <a:r>
              <a:rPr lang="en-US" sz="1050" dirty="0">
                <a:latin typeface="Times New Roman" panose="02020603050405020304" pitchFamily="18" charset="0"/>
                <a:cs typeface="Times New Roman" panose="02020603050405020304" pitchFamily="18" charset="0"/>
              </a:rPr>
              <a:t>Answer: C</a:t>
            </a:r>
          </a:p>
          <a:p>
            <a:pPr>
              <a:buNone/>
            </a:pPr>
            <a:endParaRPr lang="en-US" sz="1050" dirty="0">
              <a:latin typeface="Times New Roman" panose="02020603050405020304" pitchFamily="18" charset="0"/>
              <a:cs typeface="Times New Roman" panose="02020603050405020304" pitchFamily="18" charset="0"/>
            </a:endParaRPr>
          </a:p>
          <a:p>
            <a:pPr>
              <a:buNone/>
            </a:pPr>
            <a:r>
              <a:rPr lang="en-US" sz="1050" dirty="0">
                <a:latin typeface="Times New Roman" panose="02020603050405020304" pitchFamily="18" charset="0"/>
                <a:cs typeface="Times New Roman" panose="02020603050405020304" pitchFamily="18" charset="0"/>
              </a:rPr>
              <a:t>15. In a Resource-Allocation Graph (RAG), a deadlock is certain if: </a:t>
            </a:r>
          </a:p>
          <a:p>
            <a:pPr>
              <a:buNone/>
            </a:pPr>
            <a:r>
              <a:rPr lang="en-US" sz="1050" dirty="0">
                <a:latin typeface="Times New Roman" panose="02020603050405020304" pitchFamily="18" charset="0"/>
                <a:cs typeface="Times New Roman" panose="02020603050405020304" pitchFamily="18" charset="0"/>
              </a:rPr>
              <a:t>A) There is a cycle and each resource has multiple instances </a:t>
            </a:r>
          </a:p>
          <a:p>
            <a:pPr>
              <a:buNone/>
            </a:pPr>
            <a:r>
              <a:rPr lang="en-US" sz="1050" dirty="0">
                <a:latin typeface="Times New Roman" panose="02020603050405020304" pitchFamily="18" charset="0"/>
                <a:cs typeface="Times New Roman" panose="02020603050405020304" pitchFamily="18" charset="0"/>
              </a:rPr>
              <a:t>B) There is no cycle</a:t>
            </a:r>
          </a:p>
          <a:p>
            <a:pPr>
              <a:buNone/>
            </a:pPr>
            <a:r>
              <a:rPr lang="en-US" sz="1050" dirty="0">
                <a:latin typeface="Times New Roman" panose="02020603050405020304" pitchFamily="18" charset="0"/>
                <a:cs typeface="Times New Roman" panose="02020603050405020304" pitchFamily="18" charset="0"/>
              </a:rPr>
              <a:t>C) There is a cycle and all resources have single instances</a:t>
            </a:r>
          </a:p>
          <a:p>
            <a:pPr>
              <a:buNone/>
            </a:pPr>
            <a:r>
              <a:rPr lang="en-US" sz="1050" dirty="0">
                <a:latin typeface="Times New Roman" panose="02020603050405020304" pitchFamily="18" charset="0"/>
                <a:cs typeface="Times New Roman" panose="02020603050405020304" pitchFamily="18" charset="0"/>
              </a:rPr>
              <a:t>D) A thread requests two resources simultaneously</a:t>
            </a:r>
          </a:p>
          <a:p>
            <a:pPr>
              <a:buNone/>
            </a:pPr>
            <a:r>
              <a:rPr lang="en-US" sz="1050" dirty="0">
                <a:latin typeface="Times New Roman" panose="02020603050405020304" pitchFamily="18" charset="0"/>
                <a:cs typeface="Times New Roman" panose="02020603050405020304" pitchFamily="18" charset="0"/>
              </a:rPr>
              <a:t>Answer: C</a:t>
            </a:r>
          </a:p>
          <a:p>
            <a:pPr>
              <a:buNone/>
            </a:pPr>
            <a:endParaRPr lang="en-US" sz="1050" dirty="0">
              <a:latin typeface="Times New Roman" panose="02020603050405020304" pitchFamily="18" charset="0"/>
              <a:cs typeface="Times New Roman" panose="02020603050405020304" pitchFamily="18" charset="0"/>
            </a:endParaRPr>
          </a:p>
          <a:p>
            <a:pPr>
              <a:buNone/>
            </a:pPr>
            <a:endParaRPr lang="en-SE" sz="105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5A55F1D0-DD70-69ED-0F05-EC076414C748}"/>
              </a:ext>
            </a:extLst>
          </p:cNvPr>
          <p:cNvSpPr txBox="1">
            <a:spLocks/>
          </p:cNvSpPr>
          <p:nvPr/>
        </p:nvSpPr>
        <p:spPr bwMode="auto">
          <a:xfrm>
            <a:off x="6324600" y="838200"/>
            <a:ext cx="5562600" cy="5867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lnSpcReduction="10000"/>
          </a:bodyPr>
          <a:lstStyle>
            <a:lvl1pPr marL="285750" indent="-285750" algn="l" rtl="0" eaLnBrk="0" fontAlgn="base" hangingPunct="0">
              <a:lnSpc>
                <a:spcPct val="90000"/>
              </a:lnSpc>
              <a:spcBef>
                <a:spcPct val="30000"/>
              </a:spcBef>
              <a:spcAft>
                <a:spcPct val="0"/>
              </a:spcAft>
              <a:buSzPct val="100000"/>
              <a:buChar char="•"/>
              <a:defRPr sz="2800" b="0" i="0">
                <a:solidFill>
                  <a:schemeClr val="tx1"/>
                </a:solidFill>
                <a:latin typeface="Gill Sans" panose="020B0502020104020203"/>
                <a:ea typeface="Gill Sans" panose="020B0502020104020203"/>
                <a:cs typeface="Gill Sans" panose="020B0502020104020203"/>
              </a:defRPr>
            </a:lvl1pPr>
            <a:lvl2pPr marL="6858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2pPr>
            <a:lvl3pPr marL="11430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3pPr>
            <a:lvl4pPr marL="15430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4pPr>
            <a:lvl5pPr marL="20002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a:buNone/>
            </a:pPr>
            <a:r>
              <a:rPr lang="en-US" sz="1100">
                <a:effectLst/>
                <a:latin typeface="Times New Roman" panose="02020603050405020304" pitchFamily="18" charset="0"/>
                <a:ea typeface="SimSun" panose="02010600030101010101" pitchFamily="2" charset="-122"/>
              </a:rPr>
              <a:t>16. In a Resource Allocation Graph (RAG) with a cycle and multi-instance resources: </a:t>
            </a:r>
          </a:p>
          <a:p>
            <a:pPr>
              <a:buNone/>
            </a:pPr>
            <a:r>
              <a:rPr lang="en-US" sz="1100">
                <a:effectLst/>
                <a:latin typeface="Times New Roman" panose="02020603050405020304" pitchFamily="18" charset="0"/>
                <a:ea typeface="SimSun" panose="02010600030101010101" pitchFamily="2" charset="-122"/>
              </a:rPr>
              <a:t>A) Deadlock is certain</a:t>
            </a:r>
          </a:p>
          <a:p>
            <a:pPr>
              <a:buNone/>
            </a:pPr>
            <a:r>
              <a:rPr lang="en-US" sz="1100">
                <a:effectLst/>
                <a:latin typeface="Times New Roman" panose="02020603050405020304" pitchFamily="18" charset="0"/>
                <a:ea typeface="SimSun" panose="02010600030101010101" pitchFamily="2" charset="-122"/>
              </a:rPr>
              <a:t>B) Deadlock is impossible</a:t>
            </a:r>
          </a:p>
          <a:p>
            <a:pPr>
              <a:buNone/>
            </a:pPr>
            <a:r>
              <a:rPr lang="en-US" sz="1100">
                <a:effectLst/>
                <a:latin typeface="Times New Roman" panose="02020603050405020304" pitchFamily="18" charset="0"/>
                <a:ea typeface="SimSun" panose="02010600030101010101" pitchFamily="2" charset="-122"/>
              </a:rPr>
              <a:t>C) Deadlock is possible but not certain</a:t>
            </a:r>
          </a:p>
          <a:p>
            <a:pPr>
              <a:buNone/>
            </a:pPr>
            <a:r>
              <a:rPr lang="en-US" sz="1100">
                <a:effectLst/>
                <a:latin typeface="Times New Roman" panose="02020603050405020304" pitchFamily="18" charset="0"/>
                <a:ea typeface="SimSun" panose="02010600030101010101" pitchFamily="2" charset="-122"/>
              </a:rPr>
              <a:t>D) Starvation must occur</a:t>
            </a:r>
          </a:p>
          <a:p>
            <a:pPr>
              <a:buNone/>
            </a:pPr>
            <a:r>
              <a:rPr lang="en-US" sz="1100">
                <a:effectLst/>
                <a:latin typeface="Times New Roman" panose="02020603050405020304" pitchFamily="18" charset="0"/>
                <a:ea typeface="SimSun" panose="02010600030101010101" pitchFamily="2" charset="-122"/>
              </a:rPr>
              <a:t>Answer: C</a:t>
            </a:r>
          </a:p>
          <a:p>
            <a:pPr>
              <a:buNone/>
            </a:pPr>
            <a:r>
              <a:rPr lang="en-US" sz="1100">
                <a:effectLst/>
                <a:latin typeface="Times New Roman" panose="02020603050405020304" pitchFamily="18" charset="0"/>
                <a:ea typeface="SimSun" panose="02010600030101010101" pitchFamily="2" charset="-122"/>
              </a:rPr>
              <a:t>17. In Round Robin scheduling, if there are 10 jobs in the ready queue and time quantum=10ms, what's the maximum wait time for any job?</a:t>
            </a:r>
          </a:p>
          <a:p>
            <a:pPr>
              <a:buNone/>
            </a:pPr>
            <a:r>
              <a:rPr lang="en-US" sz="1100">
                <a:effectLst/>
                <a:latin typeface="Times New Roman" panose="02020603050405020304" pitchFamily="18" charset="0"/>
                <a:ea typeface="SimSun" panose="02010600030101010101" pitchFamily="2" charset="-122"/>
              </a:rPr>
              <a:t>A) 40ms</a:t>
            </a:r>
          </a:p>
          <a:p>
            <a:pPr>
              <a:buNone/>
            </a:pPr>
            <a:r>
              <a:rPr lang="en-US" sz="1100">
                <a:effectLst/>
                <a:latin typeface="Times New Roman" panose="02020603050405020304" pitchFamily="18" charset="0"/>
                <a:ea typeface="SimSun" panose="02010600030101010101" pitchFamily="2" charset="-122"/>
              </a:rPr>
              <a:t>B) 80ms</a:t>
            </a:r>
          </a:p>
          <a:p>
            <a:pPr>
              <a:buNone/>
            </a:pPr>
            <a:r>
              <a:rPr lang="en-US" sz="1100">
                <a:effectLst/>
                <a:latin typeface="Times New Roman" panose="02020603050405020304" pitchFamily="18" charset="0"/>
                <a:ea typeface="SimSun" panose="02010600030101010101" pitchFamily="2" charset="-122"/>
              </a:rPr>
              <a:t>C) 90ms</a:t>
            </a:r>
          </a:p>
          <a:p>
            <a:pPr>
              <a:buNone/>
            </a:pPr>
            <a:r>
              <a:rPr lang="en-US" sz="1100">
                <a:effectLst/>
                <a:latin typeface="Times New Roman" panose="02020603050405020304" pitchFamily="18" charset="0"/>
                <a:ea typeface="SimSun" panose="02010600030101010101" pitchFamily="2" charset="-122"/>
              </a:rPr>
              <a:t>D) 100ms</a:t>
            </a:r>
          </a:p>
          <a:p>
            <a:pPr>
              <a:buNone/>
            </a:pPr>
            <a:r>
              <a:rPr lang="en-US" sz="1100">
                <a:effectLst/>
                <a:latin typeface="Times New Roman" panose="02020603050405020304" pitchFamily="18" charset="0"/>
                <a:ea typeface="SimSun" panose="02010600030101010101" pitchFamily="2" charset="-122"/>
              </a:rPr>
              <a:t>Answer: C</a:t>
            </a:r>
          </a:p>
          <a:p>
            <a:pPr>
              <a:buNone/>
            </a:pPr>
            <a:r>
              <a:rPr lang="en-US" sz="1100">
                <a:effectLst/>
                <a:latin typeface="Times New Roman" panose="02020603050405020304" pitchFamily="18" charset="0"/>
                <a:ea typeface="SimSun" panose="02010600030101010101" pitchFamily="2" charset="-122"/>
              </a:rPr>
              <a:t>18. Which scheduling algorithm requires prior knowledge of job execution times?</a:t>
            </a:r>
          </a:p>
          <a:p>
            <a:pPr>
              <a:buNone/>
            </a:pPr>
            <a:r>
              <a:rPr lang="en-US" sz="1100">
                <a:effectLst/>
                <a:latin typeface="Times New Roman" panose="02020603050405020304" pitchFamily="18" charset="0"/>
                <a:ea typeface="SimSun" panose="02010600030101010101" pitchFamily="2" charset="-122"/>
              </a:rPr>
              <a:t>A) FCFS</a:t>
            </a:r>
          </a:p>
          <a:p>
            <a:pPr>
              <a:buNone/>
            </a:pPr>
            <a:r>
              <a:rPr lang="en-US" sz="1100">
                <a:effectLst/>
                <a:latin typeface="Times New Roman" panose="02020603050405020304" pitchFamily="18" charset="0"/>
                <a:ea typeface="SimSun" panose="02010600030101010101" pitchFamily="2" charset="-122"/>
              </a:rPr>
              <a:t>B) RR</a:t>
            </a:r>
          </a:p>
          <a:p>
            <a:pPr>
              <a:buNone/>
            </a:pPr>
            <a:r>
              <a:rPr lang="en-US" sz="1100">
                <a:effectLst/>
                <a:latin typeface="Times New Roman" panose="02020603050405020304" pitchFamily="18" charset="0"/>
                <a:ea typeface="SimSun" panose="02010600030101010101" pitchFamily="2" charset="-122"/>
              </a:rPr>
              <a:t>C) SJF</a:t>
            </a:r>
          </a:p>
          <a:p>
            <a:pPr>
              <a:buNone/>
            </a:pPr>
            <a:r>
              <a:rPr lang="en-US" sz="1100">
                <a:effectLst/>
                <a:latin typeface="Times New Roman" panose="02020603050405020304" pitchFamily="18" charset="0"/>
                <a:ea typeface="SimSun" panose="02010600030101010101" pitchFamily="2" charset="-122"/>
              </a:rPr>
              <a:t>D) Multilevel Queue</a:t>
            </a:r>
          </a:p>
          <a:p>
            <a:pPr>
              <a:buNone/>
            </a:pPr>
            <a:r>
              <a:rPr lang="en-US" sz="1100">
                <a:effectLst/>
                <a:latin typeface="Times New Roman" panose="02020603050405020304" pitchFamily="18" charset="0"/>
                <a:ea typeface="SimSun" panose="02010600030101010101" pitchFamily="2" charset="-122"/>
              </a:rPr>
              <a:t>Answer: C</a:t>
            </a:r>
          </a:p>
          <a:p>
            <a:pPr>
              <a:buNone/>
            </a:pPr>
            <a:r>
              <a:rPr lang="en-US" sz="1100">
                <a:effectLst/>
                <a:latin typeface="Times New Roman" panose="02020603050405020304" pitchFamily="18" charset="0"/>
                <a:ea typeface="SimSun" panose="02010600030101010101" pitchFamily="2" charset="-122"/>
              </a:rPr>
              <a:t>19. In exponential averaging for burst prediction (τₙ = αtₙ₋₁ + (1-α)τₙ₋₁), what does α=1 imply?</a:t>
            </a:r>
          </a:p>
          <a:p>
            <a:pPr>
              <a:buNone/>
            </a:pPr>
            <a:r>
              <a:rPr lang="en-US" sz="1100">
                <a:effectLst/>
                <a:latin typeface="Times New Roman" panose="02020603050405020304" pitchFamily="18" charset="0"/>
                <a:ea typeface="SimSun" panose="02010600030101010101" pitchFamily="2" charset="-122"/>
              </a:rPr>
              <a:t>A) Only consider historical average</a:t>
            </a:r>
          </a:p>
          <a:p>
            <a:pPr>
              <a:buNone/>
            </a:pPr>
            <a:r>
              <a:rPr lang="en-US" sz="1100">
                <a:effectLst/>
                <a:latin typeface="Times New Roman" panose="02020603050405020304" pitchFamily="18" charset="0"/>
                <a:ea typeface="SimSun" panose="02010600030101010101" pitchFamily="2" charset="-122"/>
              </a:rPr>
              <a:t>B) Only consider most recent burst</a:t>
            </a:r>
          </a:p>
          <a:p>
            <a:pPr>
              <a:buNone/>
            </a:pPr>
            <a:r>
              <a:rPr lang="en-US" sz="1100">
                <a:effectLst/>
                <a:latin typeface="Times New Roman" panose="02020603050405020304" pitchFamily="18" charset="0"/>
                <a:ea typeface="SimSun" panose="02010600030101010101" pitchFamily="2" charset="-122"/>
              </a:rPr>
              <a:t>C) Equal weight to all bursts</a:t>
            </a:r>
          </a:p>
          <a:p>
            <a:pPr>
              <a:buNone/>
            </a:pPr>
            <a:r>
              <a:rPr lang="en-US" sz="1100">
                <a:effectLst/>
                <a:latin typeface="Times New Roman" panose="02020603050405020304" pitchFamily="18" charset="0"/>
                <a:ea typeface="SimSun" panose="02010600030101010101" pitchFamily="2" charset="-122"/>
              </a:rPr>
              <a:t>D) No prediction capability</a:t>
            </a:r>
          </a:p>
          <a:p>
            <a:pPr>
              <a:buNone/>
            </a:pPr>
            <a:r>
              <a:rPr lang="en-US" sz="1100">
                <a:effectLst/>
                <a:latin typeface="Times New Roman" panose="02020603050405020304" pitchFamily="18" charset="0"/>
                <a:ea typeface="SimSun" panose="02010600030101010101" pitchFamily="2" charset="-122"/>
              </a:rPr>
              <a:t>Answer: B</a:t>
            </a:r>
          </a:p>
          <a:p>
            <a:pPr>
              <a:buNone/>
            </a:pPr>
            <a:r>
              <a:rPr lang="en-US" sz="1100">
                <a:effectLst/>
                <a:latin typeface="Times New Roman" panose="02020603050405020304" pitchFamily="18" charset="0"/>
                <a:ea typeface="SimSun" panose="02010600030101010101" pitchFamily="2" charset="-122"/>
              </a:rPr>
              <a:t>20. What percentage of CPU time is lost to context switching if quantum=100 ms and switch cost=1 ms?</a:t>
            </a:r>
          </a:p>
          <a:p>
            <a:pPr>
              <a:buNone/>
            </a:pPr>
            <a:r>
              <a:rPr lang="en-US" sz="1100">
                <a:effectLst/>
                <a:latin typeface="Times New Roman" panose="02020603050405020304" pitchFamily="18" charset="0"/>
                <a:ea typeface="SimSun" panose="02010600030101010101" pitchFamily="2" charset="-122"/>
              </a:rPr>
              <a:t>A) 1%</a:t>
            </a:r>
          </a:p>
          <a:p>
            <a:pPr>
              <a:buNone/>
            </a:pPr>
            <a:r>
              <a:rPr lang="en-US" sz="1100">
                <a:effectLst/>
                <a:latin typeface="Times New Roman" panose="02020603050405020304" pitchFamily="18" charset="0"/>
                <a:ea typeface="SimSun" panose="02010600030101010101" pitchFamily="2" charset="-122"/>
              </a:rPr>
              <a:t>B) 2%</a:t>
            </a:r>
          </a:p>
          <a:p>
            <a:pPr>
              <a:buNone/>
            </a:pPr>
            <a:r>
              <a:rPr lang="en-US" sz="1100">
                <a:effectLst/>
                <a:latin typeface="Times New Roman" panose="02020603050405020304" pitchFamily="18" charset="0"/>
                <a:ea typeface="SimSun" panose="02010600030101010101" pitchFamily="2" charset="-122"/>
              </a:rPr>
              <a:t>C) 5%</a:t>
            </a:r>
          </a:p>
          <a:p>
            <a:pPr>
              <a:buNone/>
            </a:pPr>
            <a:r>
              <a:rPr lang="en-US" sz="1100">
                <a:effectLst/>
                <a:latin typeface="Times New Roman" panose="02020603050405020304" pitchFamily="18" charset="0"/>
                <a:ea typeface="SimSun" panose="02010600030101010101" pitchFamily="2" charset="-122"/>
              </a:rPr>
              <a:t>D) 10%</a:t>
            </a:r>
          </a:p>
          <a:p>
            <a:pPr>
              <a:buNone/>
            </a:pPr>
            <a:r>
              <a:rPr lang="en-US" sz="1100">
                <a:effectLst/>
                <a:latin typeface="Times New Roman" panose="02020603050405020304" pitchFamily="18" charset="0"/>
                <a:ea typeface="SimSun" panose="02010600030101010101" pitchFamily="2" charset="-122"/>
              </a:rPr>
              <a:t>Answer: A</a:t>
            </a:r>
            <a:endParaRPr lang="en-US" sz="1100" dirty="0">
              <a:effectLst/>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409920485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7A1E1-36CF-4C46-8E95-11121790A365}"/>
              </a:ext>
            </a:extLst>
          </p:cNvPr>
          <p:cNvSpPr>
            <a:spLocks noGrp="1"/>
          </p:cNvSpPr>
          <p:nvPr>
            <p:ph type="title"/>
          </p:nvPr>
        </p:nvSpPr>
        <p:spPr/>
        <p:txBody>
          <a:bodyPr/>
          <a:lstStyle/>
          <a:p>
            <a:r>
              <a:rPr lang="en-GB" dirty="0"/>
              <a:t>Q2 Processes and Threads (20 pts)</a:t>
            </a:r>
            <a:endParaRPr lang="en-US" dirty="0"/>
          </a:p>
        </p:txBody>
      </p:sp>
      <p:sp>
        <p:nvSpPr>
          <p:cNvPr id="3" name="Content Placeholder 2">
            <a:extLst>
              <a:ext uri="{FF2B5EF4-FFF2-40B4-BE49-F238E27FC236}">
                <a16:creationId xmlns:a16="http://schemas.microsoft.com/office/drawing/2014/main" id="{7D63AFDF-CA61-4BAC-A94B-C14C0E9C3F96}"/>
              </a:ext>
            </a:extLst>
          </p:cNvPr>
          <p:cNvSpPr>
            <a:spLocks noGrp="1"/>
          </p:cNvSpPr>
          <p:nvPr>
            <p:ph idx="1"/>
          </p:nvPr>
        </p:nvSpPr>
        <p:spPr/>
        <p:txBody>
          <a:bodyPr/>
          <a:lstStyle/>
          <a:p>
            <a:r>
              <a:rPr lang="en-GB" dirty="0"/>
              <a:t>For these questions, assume there is no error, i.e., the return value of fork() is never negative. Assume round-robin scheduling algorithm like in Windows or Linux. </a:t>
            </a:r>
            <a:r>
              <a:rPr lang="en-US" dirty="0"/>
              <a:t>(You need to provide the possible outputs and explain why. You do not need to draw the figures to show the parent child relationships.)</a:t>
            </a:r>
          </a:p>
        </p:txBody>
      </p:sp>
    </p:spTree>
    <p:extLst>
      <p:ext uri="{BB962C8B-B14F-4D97-AF65-F5344CB8AC3E}">
        <p14:creationId xmlns:p14="http://schemas.microsoft.com/office/powerpoint/2010/main" val="203739619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D6AE0-2E62-B833-A12C-33DDD086E6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A92427-DE92-06A2-5A1E-8F9B74887A20}"/>
              </a:ext>
            </a:extLst>
          </p:cNvPr>
          <p:cNvSpPr>
            <a:spLocks noGrp="1"/>
          </p:cNvSpPr>
          <p:nvPr>
            <p:ph type="title"/>
          </p:nvPr>
        </p:nvSpPr>
        <p:spPr/>
        <p:txBody>
          <a:bodyPr/>
          <a:lstStyle/>
          <a:p>
            <a:r>
              <a:rPr lang="en-GB" dirty="0"/>
              <a:t>Q2 Processes and Threads </a:t>
            </a:r>
            <a:r>
              <a:rPr lang="en-US" dirty="0"/>
              <a:t>(a) ANS</a:t>
            </a:r>
            <a:endParaRPr lang="en-SE" dirty="0"/>
          </a:p>
        </p:txBody>
      </p:sp>
      <p:sp>
        <p:nvSpPr>
          <p:cNvPr id="3" name="Content Placeholder 2">
            <a:extLst>
              <a:ext uri="{FF2B5EF4-FFF2-40B4-BE49-F238E27FC236}">
                <a16:creationId xmlns:a16="http://schemas.microsoft.com/office/drawing/2014/main" id="{646E932B-AB08-22F6-B0DF-F344B48C317C}"/>
              </a:ext>
            </a:extLst>
          </p:cNvPr>
          <p:cNvSpPr>
            <a:spLocks noGrp="1"/>
          </p:cNvSpPr>
          <p:nvPr>
            <p:ph idx="1"/>
          </p:nvPr>
        </p:nvSpPr>
        <p:spPr>
          <a:xfrm>
            <a:off x="228600" y="914400"/>
            <a:ext cx="4648200" cy="5791200"/>
          </a:xfrm>
        </p:spPr>
        <p:txBody>
          <a:bodyPr>
            <a:normAutofit fontScale="77500" lnSpcReduction="20000"/>
          </a:bodyPr>
          <a:lstStyle/>
          <a:p>
            <a:r>
              <a:rPr lang="en-GB" dirty="0"/>
              <a:t>What is the output of this program? If there may be multiple possible outputs, list ALL possible outputs, and explain why. Assume the virtual memory address of variable a in the initial process, &amp;a = 0x12345678.</a:t>
            </a:r>
          </a:p>
          <a:p>
            <a:r>
              <a:rPr lang="en-GB" dirty="0"/>
              <a:t>ANS: Arbitrary </a:t>
            </a:r>
            <a:r>
              <a:rPr lang="en-GB" dirty="0" err="1"/>
              <a:t>interleavings</a:t>
            </a:r>
            <a:r>
              <a:rPr lang="en-GB" dirty="0"/>
              <a:t> between parent’s and child’s printout:</a:t>
            </a:r>
          </a:p>
          <a:p>
            <a:pPr lvl="1"/>
            <a:r>
              <a:rPr lang="en-US" dirty="0"/>
              <a:t>Parent: int a is 2 at </a:t>
            </a:r>
            <a:r>
              <a:rPr lang="en-GB" dirty="0"/>
              <a:t>0x12345678 </a:t>
            </a:r>
            <a:r>
              <a:rPr lang="en-US" dirty="0"/>
              <a:t>\n</a:t>
            </a:r>
          </a:p>
          <a:p>
            <a:pPr lvl="1"/>
            <a:r>
              <a:rPr lang="en-US" dirty="0"/>
              <a:t>Child: int a is 0 at </a:t>
            </a:r>
            <a:r>
              <a:rPr lang="en-GB" dirty="0"/>
              <a:t>0x12345678 </a:t>
            </a:r>
            <a:r>
              <a:rPr lang="en-US" dirty="0"/>
              <a:t>\n</a:t>
            </a:r>
            <a:endParaRPr lang="en-GB" dirty="0"/>
          </a:p>
          <a:p>
            <a:r>
              <a:rPr lang="en-GB" dirty="0"/>
              <a:t>Explanation: </a:t>
            </a:r>
            <a:r>
              <a:rPr lang="en-US" dirty="0"/>
              <a:t>Processes do not share the same memory space, so a  = 1+1 = 2 in parent, and a = 1-1 = 0 in child. Fork copies the address space of the parent to the child, so both parent and child print the same memory address &amp;a = 0x12345678. They both write to the same file descriptor STDOUT, since file descriptors are copied over to the new process.</a:t>
            </a:r>
          </a:p>
          <a:p>
            <a:endParaRPr lang="en-SE" dirty="0"/>
          </a:p>
        </p:txBody>
      </p:sp>
      <p:sp>
        <p:nvSpPr>
          <p:cNvPr id="6" name="TextBox 5">
            <a:extLst>
              <a:ext uri="{FF2B5EF4-FFF2-40B4-BE49-F238E27FC236}">
                <a16:creationId xmlns:a16="http://schemas.microsoft.com/office/drawing/2014/main" id="{366608C7-C697-6609-BE15-C1AC93E858C9}"/>
              </a:ext>
            </a:extLst>
          </p:cNvPr>
          <p:cNvSpPr txBox="1"/>
          <p:nvPr/>
        </p:nvSpPr>
        <p:spPr>
          <a:xfrm>
            <a:off x="4805425" y="951053"/>
            <a:ext cx="7315200" cy="3293209"/>
          </a:xfrm>
          <a:prstGeom prst="rect">
            <a:avLst/>
          </a:prstGeom>
          <a:noFill/>
          <a:ln>
            <a:solidFill>
              <a:schemeClr val="tx1"/>
            </a:solidFill>
          </a:ln>
        </p:spPr>
        <p:txBody>
          <a:bodyPr wrap="square" rtlCol="0">
            <a:spAutoFit/>
          </a:bodyPr>
          <a:lstStyle/>
          <a:p>
            <a:r>
              <a:rPr lang="en-US" sz="1600" b="0" dirty="0">
                <a:latin typeface="Courier New" panose="02070309020205020404" pitchFamily="49" charset="0"/>
                <a:cs typeface="Courier New" panose="02070309020205020404" pitchFamily="49" charset="0"/>
              </a:rPr>
              <a:t>1 int main(void) {</a:t>
            </a:r>
          </a:p>
          <a:p>
            <a:r>
              <a:rPr lang="en-US" sz="1600" b="0" dirty="0">
                <a:latin typeface="Courier New" panose="02070309020205020404" pitchFamily="49" charset="0"/>
                <a:cs typeface="Courier New" panose="02070309020205020404" pitchFamily="49" charset="0"/>
              </a:rPr>
              <a:t>2 int a = 1;</a:t>
            </a:r>
          </a:p>
          <a:p>
            <a:r>
              <a:rPr lang="en-US" sz="1600" b="0" dirty="0">
                <a:latin typeface="Courier New" panose="02070309020205020404" pitchFamily="49" charset="0"/>
                <a:cs typeface="Courier New" panose="02070309020205020404" pitchFamily="49" charset="0"/>
              </a:rPr>
              <a:t>3 </a:t>
            </a:r>
            <a:r>
              <a:rPr lang="en-US" sz="1600" b="0" dirty="0" err="1">
                <a:latin typeface="Courier New" panose="02070309020205020404" pitchFamily="49" charset="0"/>
                <a:cs typeface="Courier New" panose="02070309020205020404" pitchFamily="49" charset="0"/>
              </a:rPr>
              <a:t>pid_t</a:t>
            </a:r>
            <a:r>
              <a:rPr lang="en-US" sz="1600" b="0" dirty="0">
                <a:latin typeface="Courier New" panose="02070309020205020404" pitchFamily="49" charset="0"/>
                <a:cs typeface="Courier New" panose="02070309020205020404" pitchFamily="49" charset="0"/>
              </a:rPr>
              <a:t> </a:t>
            </a:r>
            <a:r>
              <a:rPr lang="en-US" sz="1600" b="0" dirty="0" err="1">
                <a:latin typeface="Courier New" panose="02070309020205020404" pitchFamily="49" charset="0"/>
                <a:cs typeface="Courier New" panose="02070309020205020404" pitchFamily="49" charset="0"/>
              </a:rPr>
              <a:t>fork_ret</a:t>
            </a:r>
            <a:r>
              <a:rPr lang="en-US" sz="1600" b="0" dirty="0">
                <a:latin typeface="Courier New" panose="02070309020205020404" pitchFamily="49" charset="0"/>
                <a:cs typeface="Courier New" panose="02070309020205020404" pitchFamily="49" charset="0"/>
              </a:rPr>
              <a:t> = fork();</a:t>
            </a:r>
          </a:p>
          <a:p>
            <a:r>
              <a:rPr lang="en-US" sz="1600" b="0" dirty="0">
                <a:latin typeface="Courier New" panose="02070309020205020404" pitchFamily="49" charset="0"/>
                <a:cs typeface="Courier New" panose="02070309020205020404" pitchFamily="49" charset="0"/>
              </a:rPr>
              <a:t>4 if (</a:t>
            </a:r>
            <a:r>
              <a:rPr lang="en-US" sz="1600" b="0" dirty="0" err="1">
                <a:latin typeface="Courier New" panose="02070309020205020404" pitchFamily="49" charset="0"/>
                <a:cs typeface="Courier New" panose="02070309020205020404" pitchFamily="49" charset="0"/>
              </a:rPr>
              <a:t>fork_ret</a:t>
            </a:r>
            <a:r>
              <a:rPr lang="en-US" sz="1600" b="0" dirty="0">
                <a:latin typeface="Courier New" panose="02070309020205020404" pitchFamily="49" charset="0"/>
                <a:cs typeface="Courier New" panose="02070309020205020404" pitchFamily="49" charset="0"/>
              </a:rPr>
              <a:t> &gt; 0) {</a:t>
            </a:r>
          </a:p>
          <a:p>
            <a:r>
              <a:rPr lang="en-US" sz="1600" b="0" dirty="0">
                <a:latin typeface="Courier New" panose="02070309020205020404" pitchFamily="49" charset="0"/>
                <a:cs typeface="Courier New" panose="02070309020205020404" pitchFamily="49" charset="0"/>
              </a:rPr>
              <a:t>5   a++;</a:t>
            </a:r>
          </a:p>
          <a:p>
            <a:r>
              <a:rPr lang="en-US" sz="1600" b="0" dirty="0">
                <a:latin typeface="Courier New" panose="02070309020205020404" pitchFamily="49" charset="0"/>
                <a:cs typeface="Courier New" panose="02070309020205020404" pitchFamily="49" charset="0"/>
              </a:rPr>
              <a:t>6   </a:t>
            </a:r>
            <a:r>
              <a:rPr lang="en-US" sz="1600" b="0" dirty="0" err="1">
                <a:latin typeface="Courier New" panose="02070309020205020404" pitchFamily="49" charset="0"/>
                <a:cs typeface="Courier New" panose="02070309020205020404" pitchFamily="49" charset="0"/>
              </a:rPr>
              <a:t>fprintf</a:t>
            </a:r>
            <a:r>
              <a:rPr lang="en-US" sz="1600" b="0" dirty="0">
                <a:latin typeface="Courier New" panose="02070309020205020404" pitchFamily="49" charset="0"/>
                <a:cs typeface="Courier New" panose="02070309020205020404" pitchFamily="49" charset="0"/>
              </a:rPr>
              <a:t>(</a:t>
            </a:r>
            <a:r>
              <a:rPr lang="en-US" sz="1600" b="0" dirty="0" err="1">
                <a:latin typeface="Courier New" panose="02070309020205020404" pitchFamily="49" charset="0"/>
                <a:cs typeface="Courier New" panose="02070309020205020404" pitchFamily="49" charset="0"/>
              </a:rPr>
              <a:t>stdout</a:t>
            </a:r>
            <a:r>
              <a:rPr lang="en-US" sz="1600" b="0" dirty="0">
                <a:latin typeface="Courier New" panose="02070309020205020404" pitchFamily="49" charset="0"/>
                <a:cs typeface="Courier New" panose="02070309020205020404" pitchFamily="49" charset="0"/>
              </a:rPr>
              <a:t>, "Parent: int a is %d at %p\n", a, &amp;a);</a:t>
            </a:r>
          </a:p>
          <a:p>
            <a:r>
              <a:rPr lang="en-US" sz="1600" b="0" dirty="0">
                <a:latin typeface="Courier New" panose="02070309020205020404" pitchFamily="49" charset="0"/>
                <a:cs typeface="Courier New" panose="02070309020205020404" pitchFamily="49" charset="0"/>
              </a:rPr>
              <a:t>7 } else if (</a:t>
            </a:r>
            <a:r>
              <a:rPr lang="en-US" sz="1600" b="0" dirty="0" err="1">
                <a:latin typeface="Courier New" panose="02070309020205020404" pitchFamily="49" charset="0"/>
                <a:cs typeface="Courier New" panose="02070309020205020404" pitchFamily="49" charset="0"/>
              </a:rPr>
              <a:t>fork_ret</a:t>
            </a:r>
            <a:r>
              <a:rPr lang="en-US" sz="1600" b="0" dirty="0">
                <a:latin typeface="Courier New" panose="02070309020205020404" pitchFamily="49" charset="0"/>
                <a:cs typeface="Courier New" panose="02070309020205020404" pitchFamily="49" charset="0"/>
              </a:rPr>
              <a:t> == 0) {</a:t>
            </a:r>
          </a:p>
          <a:p>
            <a:r>
              <a:rPr lang="en-US" sz="1600" b="0" dirty="0">
                <a:latin typeface="Courier New" panose="02070309020205020404" pitchFamily="49" charset="0"/>
                <a:cs typeface="Courier New" panose="02070309020205020404" pitchFamily="49" charset="0"/>
              </a:rPr>
              <a:t>8   a--;</a:t>
            </a:r>
          </a:p>
          <a:p>
            <a:r>
              <a:rPr lang="en-US" sz="1600" b="0" dirty="0">
                <a:latin typeface="Courier New" panose="02070309020205020404" pitchFamily="49" charset="0"/>
                <a:cs typeface="Courier New" panose="02070309020205020404" pitchFamily="49" charset="0"/>
              </a:rPr>
              <a:t>9   </a:t>
            </a:r>
            <a:r>
              <a:rPr lang="en-US" sz="1600" b="0" dirty="0" err="1">
                <a:latin typeface="Courier New" panose="02070309020205020404" pitchFamily="49" charset="0"/>
                <a:cs typeface="Courier New" panose="02070309020205020404" pitchFamily="49" charset="0"/>
              </a:rPr>
              <a:t>fprintf</a:t>
            </a:r>
            <a:r>
              <a:rPr lang="en-US" sz="1600" b="0" dirty="0">
                <a:latin typeface="Courier New" panose="02070309020205020404" pitchFamily="49" charset="0"/>
                <a:cs typeface="Courier New" panose="02070309020205020404" pitchFamily="49" charset="0"/>
              </a:rPr>
              <a:t>(</a:t>
            </a:r>
            <a:r>
              <a:rPr lang="en-US" sz="1600" b="0" dirty="0" err="1">
                <a:latin typeface="Courier New" panose="02070309020205020404" pitchFamily="49" charset="0"/>
                <a:cs typeface="Courier New" panose="02070309020205020404" pitchFamily="49" charset="0"/>
              </a:rPr>
              <a:t>stdout</a:t>
            </a:r>
            <a:r>
              <a:rPr lang="en-US" sz="1600" b="0" dirty="0">
                <a:latin typeface="Courier New" panose="02070309020205020404" pitchFamily="49" charset="0"/>
                <a:cs typeface="Courier New" panose="02070309020205020404" pitchFamily="49" charset="0"/>
              </a:rPr>
              <a:t>, "Child: int a is %d at %p\n", a, &amp;a);</a:t>
            </a:r>
          </a:p>
          <a:p>
            <a:r>
              <a:rPr lang="en-US" sz="1600" b="0" dirty="0">
                <a:latin typeface="Courier New" panose="02070309020205020404" pitchFamily="49" charset="0"/>
                <a:cs typeface="Courier New" panose="02070309020205020404" pitchFamily="49" charset="0"/>
              </a:rPr>
              <a:t>10 } else {</a:t>
            </a:r>
          </a:p>
          <a:p>
            <a:r>
              <a:rPr lang="en-US" sz="1600" b="0" dirty="0">
                <a:latin typeface="Courier New" panose="02070309020205020404" pitchFamily="49" charset="0"/>
                <a:cs typeface="Courier New" panose="02070309020205020404" pitchFamily="49" charset="0"/>
              </a:rPr>
              <a:t>11   </a:t>
            </a:r>
            <a:r>
              <a:rPr lang="en-US" sz="1600" b="0" dirty="0" err="1">
                <a:latin typeface="Courier New" panose="02070309020205020404" pitchFamily="49" charset="0"/>
                <a:cs typeface="Courier New" panose="02070309020205020404" pitchFamily="49" charset="0"/>
              </a:rPr>
              <a:t>printf</a:t>
            </a:r>
            <a:r>
              <a:rPr lang="en-US" sz="1600" b="0" dirty="0">
                <a:latin typeface="Courier New" panose="02070309020205020404" pitchFamily="49" charset="0"/>
                <a:cs typeface="Courier New" panose="02070309020205020404" pitchFamily="49" charset="0"/>
              </a:rPr>
              <a:t>(“Fork error");</a:t>
            </a:r>
          </a:p>
          <a:p>
            <a:r>
              <a:rPr lang="en-US" sz="1600" b="0" dirty="0">
                <a:latin typeface="Courier New" panose="02070309020205020404" pitchFamily="49" charset="0"/>
                <a:cs typeface="Courier New" panose="02070309020205020404" pitchFamily="49" charset="0"/>
              </a:rPr>
              <a:t>12 }</a:t>
            </a:r>
          </a:p>
          <a:p>
            <a:r>
              <a:rPr lang="en-US" sz="1600" b="0" dirty="0">
                <a:latin typeface="Courier New" panose="02070309020205020404" pitchFamily="49" charset="0"/>
                <a:cs typeface="Courier New" panose="02070309020205020404" pitchFamily="49" charset="0"/>
              </a:rPr>
              <a:t>13 }</a:t>
            </a:r>
            <a:endParaRPr lang="en-SE" sz="1600" b="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4380338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FFECB-A543-8928-6557-9C9F0BDC5F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B0A041-F23C-1A52-4723-A0CBA815F265}"/>
              </a:ext>
            </a:extLst>
          </p:cNvPr>
          <p:cNvSpPr>
            <a:spLocks noGrp="1"/>
          </p:cNvSpPr>
          <p:nvPr>
            <p:ph type="title"/>
          </p:nvPr>
        </p:nvSpPr>
        <p:spPr/>
        <p:txBody>
          <a:bodyPr/>
          <a:lstStyle/>
          <a:p>
            <a:r>
              <a:rPr lang="en-GB" dirty="0"/>
              <a:t>Q2 Processes and Threads </a:t>
            </a:r>
            <a:r>
              <a:rPr lang="en-US" dirty="0"/>
              <a:t>(b) ANS</a:t>
            </a:r>
            <a:endParaRPr lang="en-SE" dirty="0"/>
          </a:p>
        </p:txBody>
      </p:sp>
      <p:sp>
        <p:nvSpPr>
          <p:cNvPr id="3" name="Content Placeholder 2">
            <a:extLst>
              <a:ext uri="{FF2B5EF4-FFF2-40B4-BE49-F238E27FC236}">
                <a16:creationId xmlns:a16="http://schemas.microsoft.com/office/drawing/2014/main" id="{A2D4A8DF-2551-B17A-1DFD-236C7D20D06C}"/>
              </a:ext>
            </a:extLst>
          </p:cNvPr>
          <p:cNvSpPr>
            <a:spLocks noGrp="1"/>
          </p:cNvSpPr>
          <p:nvPr>
            <p:ph idx="1"/>
          </p:nvPr>
        </p:nvSpPr>
        <p:spPr>
          <a:xfrm>
            <a:off x="152400" y="717176"/>
            <a:ext cx="4724400" cy="6248400"/>
          </a:xfrm>
        </p:spPr>
        <p:txBody>
          <a:bodyPr>
            <a:normAutofit fontScale="55000" lnSpcReduction="20000"/>
          </a:bodyPr>
          <a:lstStyle/>
          <a:p>
            <a:r>
              <a:rPr lang="en-GB" dirty="0"/>
              <a:t>For these questions, assume there is no error, i.e., all fork calls succeed, and the return value of fork() is never negative.</a:t>
            </a:r>
          </a:p>
          <a:p>
            <a:r>
              <a:rPr lang="en-GB" dirty="0"/>
              <a:t>1. </a:t>
            </a:r>
            <a:r>
              <a:rPr lang="en-US" altLang="zh-CN" dirty="0"/>
              <a:t>What does this program print?</a:t>
            </a:r>
          </a:p>
          <a:p>
            <a:r>
              <a:rPr lang="en-US" dirty="0"/>
              <a:t>ANS: </a:t>
            </a:r>
            <a:r>
              <a:rPr lang="en-GB" dirty="0"/>
              <a:t>The program stops after printing 3, giving an output of</a:t>
            </a:r>
          </a:p>
          <a:p>
            <a:pPr lvl="1"/>
            <a:r>
              <a:rPr lang="en-GB" dirty="0"/>
              <a:t>0</a:t>
            </a:r>
          </a:p>
          <a:p>
            <a:pPr lvl="1"/>
            <a:r>
              <a:rPr lang="en-GB" dirty="0"/>
              <a:t>1</a:t>
            </a:r>
          </a:p>
          <a:p>
            <a:pPr lvl="1"/>
            <a:r>
              <a:rPr lang="en-GB" dirty="0"/>
              <a:t>2</a:t>
            </a:r>
          </a:p>
          <a:p>
            <a:pPr lvl="1"/>
            <a:r>
              <a:rPr lang="en-GB" dirty="0"/>
              <a:t>3</a:t>
            </a:r>
          </a:p>
          <a:p>
            <a:pPr lvl="1"/>
            <a:r>
              <a:rPr lang="en-US" dirty="0"/>
              <a:t>[Output of the '</a:t>
            </a:r>
            <a:r>
              <a:rPr lang="en-US" dirty="0" err="1"/>
              <a:t>ls'</a:t>
            </a:r>
            <a:r>
              <a:rPr lang="en-US" dirty="0"/>
              <a:t> command, showing files in the current directory]</a:t>
            </a:r>
          </a:p>
          <a:p>
            <a:r>
              <a:rPr lang="en-US" dirty="0"/>
              <a:t>Explanation: The program loops and prints the numbers 0, 1, 2, and 3. When </a:t>
            </a:r>
            <a:r>
              <a:rPr lang="en-US" dirty="0" err="1"/>
              <a:t>i</a:t>
            </a:r>
            <a:r>
              <a:rPr lang="en-US" dirty="0"/>
              <a:t> is 3, the </a:t>
            </a:r>
            <a:r>
              <a:rPr lang="en-US" dirty="0" err="1"/>
              <a:t>execv</a:t>
            </a:r>
            <a:r>
              <a:rPr lang="en-US" dirty="0"/>
              <a:t> function is called, which replaces the current process' memory and code with the /bin/ls program, and prints the current directory contents, then terminates.</a:t>
            </a:r>
          </a:p>
          <a:p>
            <a:r>
              <a:rPr lang="en-GB" dirty="0"/>
              <a:t>Explanation of </a:t>
            </a:r>
            <a:r>
              <a:rPr lang="en-US" dirty="0" err="1"/>
              <a:t>execv</a:t>
            </a:r>
            <a:r>
              <a:rPr lang="en-US" dirty="0"/>
              <a:t>("/bin/ls", </a:t>
            </a:r>
            <a:r>
              <a:rPr lang="en-US" dirty="0" err="1"/>
              <a:t>argv</a:t>
            </a:r>
            <a:r>
              <a:rPr lang="en-US" dirty="0"/>
              <a:t>); </a:t>
            </a:r>
          </a:p>
          <a:p>
            <a:pPr lvl="1"/>
            <a:r>
              <a:rPr lang="en-US" dirty="0"/>
              <a:t>The first argument ("/bin/ls") tells the operating system which executable file to load and run. This must be a valid path to the program.</a:t>
            </a:r>
          </a:p>
          <a:p>
            <a:pPr lvl="1"/>
            <a:r>
              <a:rPr lang="en-US" dirty="0"/>
              <a:t>The second argument (</a:t>
            </a:r>
            <a:r>
              <a:rPr lang="en-US" dirty="0" err="1"/>
              <a:t>argv</a:t>
            </a:r>
            <a:r>
              <a:rPr lang="en-US" dirty="0"/>
              <a:t>) is an array of strings that gets passed to the main function of the new program (ls in this case).</a:t>
            </a:r>
          </a:p>
          <a:p>
            <a:r>
              <a:rPr lang="en-US" dirty="0" err="1"/>
              <a:t>argv</a:t>
            </a:r>
            <a:r>
              <a:rPr lang="en-US" dirty="0"/>
              <a:t>[0] = "/bin/ls";</a:t>
            </a:r>
          </a:p>
          <a:p>
            <a:pPr lvl="1"/>
            <a:r>
              <a:rPr lang="en-US" dirty="0"/>
              <a:t>The very first element of the </a:t>
            </a:r>
            <a:r>
              <a:rPr lang="en-US" dirty="0" err="1"/>
              <a:t>argv</a:t>
            </a:r>
            <a:r>
              <a:rPr lang="en-US" dirty="0"/>
              <a:t> array (</a:t>
            </a:r>
            <a:r>
              <a:rPr lang="en-US" dirty="0" err="1"/>
              <a:t>argv</a:t>
            </a:r>
            <a:r>
              <a:rPr lang="en-US" dirty="0"/>
              <a:t>[0]) that a program receives is its own name or the path that was used to execute it.​</a:t>
            </a:r>
          </a:p>
          <a:p>
            <a:pPr lvl="1"/>
            <a:r>
              <a:rPr lang="en-US" dirty="0"/>
              <a:t>When you run ls from your shell, the shell sets </a:t>
            </a:r>
            <a:r>
              <a:rPr lang="en-US" dirty="0" err="1"/>
              <a:t>argv</a:t>
            </a:r>
            <a:r>
              <a:rPr lang="en-US" dirty="0"/>
              <a:t>[0] to "ls" before executing the program. The ls program (and many others) uses </a:t>
            </a:r>
            <a:r>
              <a:rPr lang="en-US" dirty="0" err="1"/>
              <a:t>argv</a:t>
            </a:r>
            <a:r>
              <a:rPr lang="en-US" dirty="0"/>
              <a:t>[0] to know its own name, which is often used for printing error messages (e.g., "ls: cannot access '</a:t>
            </a:r>
            <a:r>
              <a:rPr lang="en-US" dirty="0" err="1"/>
              <a:t>no_such_file</a:t>
            </a:r>
            <a:r>
              <a:rPr lang="en-US" dirty="0"/>
              <a:t>'").</a:t>
            </a:r>
            <a:endParaRPr lang="en-GB" dirty="0"/>
          </a:p>
        </p:txBody>
      </p:sp>
      <p:sp>
        <p:nvSpPr>
          <p:cNvPr id="6" name="TextBox 5">
            <a:extLst>
              <a:ext uri="{FF2B5EF4-FFF2-40B4-BE49-F238E27FC236}">
                <a16:creationId xmlns:a16="http://schemas.microsoft.com/office/drawing/2014/main" id="{9E38A004-669D-E908-CDE9-D18F8FDB9DF8}"/>
              </a:ext>
            </a:extLst>
          </p:cNvPr>
          <p:cNvSpPr txBox="1"/>
          <p:nvPr/>
        </p:nvSpPr>
        <p:spPr>
          <a:xfrm>
            <a:off x="5105400" y="838200"/>
            <a:ext cx="6553200" cy="3293209"/>
          </a:xfrm>
          <a:prstGeom prst="rect">
            <a:avLst/>
          </a:prstGeom>
          <a:noFill/>
          <a:ln>
            <a:solidFill>
              <a:schemeClr val="tx1"/>
            </a:solidFill>
          </a:ln>
        </p:spPr>
        <p:txBody>
          <a:bodyPr wrap="square" rtlCol="0">
            <a:spAutoFit/>
          </a:bodyPr>
          <a:lstStyle/>
          <a:p>
            <a:r>
              <a:rPr lang="en-GB" sz="1600" b="0" dirty="0">
                <a:latin typeface="Courier New" panose="02070309020205020404" pitchFamily="49" charset="0"/>
                <a:cs typeface="Courier New" panose="02070309020205020404" pitchFamily="49" charset="0"/>
              </a:rPr>
              <a:t>1 int main(void) {</a:t>
            </a:r>
          </a:p>
          <a:p>
            <a:r>
              <a:rPr lang="en-GB" sz="1600" b="0" dirty="0">
                <a:latin typeface="Courier New" panose="02070309020205020404" pitchFamily="49" charset="0"/>
                <a:cs typeface="Courier New" panose="02070309020205020404" pitchFamily="49" charset="0"/>
              </a:rPr>
              <a:t>2 char**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 = (char**) malloc(3 * </a:t>
            </a:r>
            <a:r>
              <a:rPr lang="en-GB" sz="1600" b="0" dirty="0" err="1">
                <a:latin typeface="Courier New" panose="02070309020205020404" pitchFamily="49" charset="0"/>
                <a:cs typeface="Courier New" panose="02070309020205020404" pitchFamily="49" charset="0"/>
              </a:rPr>
              <a:t>sizeof</a:t>
            </a:r>
            <a:r>
              <a:rPr lang="en-GB" sz="1600" b="0" dirty="0">
                <a:latin typeface="Courier New" panose="02070309020205020404" pitchFamily="49" charset="0"/>
                <a:cs typeface="Courier New" panose="02070309020205020404" pitchFamily="49" charset="0"/>
              </a:rPr>
              <a:t>(char*));</a:t>
            </a:r>
          </a:p>
          <a:p>
            <a:r>
              <a:rPr lang="en-GB" sz="1600" b="0" dirty="0">
                <a:latin typeface="Courier New" panose="02070309020205020404" pitchFamily="49" charset="0"/>
                <a:cs typeface="Courier New" panose="02070309020205020404" pitchFamily="49" charset="0"/>
              </a:rPr>
              <a:t>3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[0] = "/bin/ls";</a:t>
            </a:r>
          </a:p>
          <a:p>
            <a:r>
              <a:rPr lang="en-GB" sz="1600" b="0" dirty="0">
                <a:latin typeface="Courier New" panose="02070309020205020404" pitchFamily="49" charset="0"/>
                <a:cs typeface="Courier New" panose="02070309020205020404" pitchFamily="49" charset="0"/>
              </a:rPr>
              <a:t>4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[1] = ".";</a:t>
            </a:r>
          </a:p>
          <a:p>
            <a:r>
              <a:rPr lang="en-GB" sz="1600" b="0" dirty="0">
                <a:latin typeface="Courier New" panose="02070309020205020404" pitchFamily="49" charset="0"/>
                <a:cs typeface="Courier New" panose="02070309020205020404" pitchFamily="49" charset="0"/>
              </a:rPr>
              <a:t>5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[2] = NULL;</a:t>
            </a:r>
          </a:p>
          <a:p>
            <a:r>
              <a:rPr lang="en-GB" sz="1600" b="0" dirty="0">
                <a:latin typeface="Courier New" panose="02070309020205020404" pitchFamily="49" charset="0"/>
                <a:cs typeface="Courier New" panose="02070309020205020404" pitchFamily="49" charset="0"/>
              </a:rPr>
              <a:t>6 for (int i = 0; i &lt; 10; i++) {</a:t>
            </a:r>
          </a:p>
          <a:p>
            <a:r>
              <a:rPr lang="en-GB" sz="1600" b="0" dirty="0">
                <a:latin typeface="Courier New" panose="02070309020205020404" pitchFamily="49" charset="0"/>
                <a:cs typeface="Courier New" panose="02070309020205020404" pitchFamily="49" charset="0"/>
              </a:rPr>
              <a:t>7   </a:t>
            </a:r>
            <a:r>
              <a:rPr lang="en-GB" sz="1600" b="0" dirty="0" err="1">
                <a:latin typeface="Courier New" panose="02070309020205020404" pitchFamily="49" charset="0"/>
                <a:cs typeface="Courier New" panose="02070309020205020404" pitchFamily="49" charset="0"/>
              </a:rPr>
              <a:t>printf</a:t>
            </a:r>
            <a:r>
              <a:rPr lang="en-GB" sz="1600" b="0" dirty="0">
                <a:latin typeface="Courier New" panose="02070309020205020404" pitchFamily="49" charset="0"/>
                <a:cs typeface="Courier New" panose="02070309020205020404" pitchFamily="49" charset="0"/>
              </a:rPr>
              <a:t>("%d\n", i);</a:t>
            </a:r>
          </a:p>
          <a:p>
            <a:r>
              <a:rPr lang="en-GB" sz="1600" b="0" dirty="0">
                <a:latin typeface="Courier New" panose="02070309020205020404" pitchFamily="49" charset="0"/>
                <a:cs typeface="Courier New" panose="02070309020205020404" pitchFamily="49" charset="0"/>
              </a:rPr>
              <a:t>8   if (i == 3) {</a:t>
            </a:r>
          </a:p>
          <a:p>
            <a:r>
              <a:rPr lang="en-GB" sz="1600" b="0" dirty="0">
                <a:latin typeface="Courier New" panose="02070309020205020404" pitchFamily="49" charset="0"/>
                <a:cs typeface="Courier New" panose="02070309020205020404" pitchFamily="49" charset="0"/>
              </a:rPr>
              <a:t>9 	</a:t>
            </a:r>
            <a:r>
              <a:rPr lang="en-GB" sz="1600" b="0" dirty="0" err="1">
                <a:latin typeface="Courier New" panose="02070309020205020404" pitchFamily="49" charset="0"/>
                <a:cs typeface="Courier New" panose="02070309020205020404" pitchFamily="49" charset="0"/>
              </a:rPr>
              <a:t>execv</a:t>
            </a:r>
            <a:r>
              <a:rPr lang="en-GB" sz="1600" b="0" dirty="0">
                <a:latin typeface="Courier New" panose="02070309020205020404" pitchFamily="49" charset="0"/>
                <a:cs typeface="Courier New" panose="02070309020205020404" pitchFamily="49" charset="0"/>
              </a:rPr>
              <a:t>("/bin/ls",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a:t>
            </a:r>
          </a:p>
          <a:p>
            <a:r>
              <a:rPr lang="en-GB" sz="1600" b="0" dirty="0">
                <a:latin typeface="Courier New" panose="02070309020205020404" pitchFamily="49" charset="0"/>
                <a:cs typeface="Courier New" panose="02070309020205020404" pitchFamily="49" charset="0"/>
              </a:rPr>
              <a:t>10  }</a:t>
            </a:r>
          </a:p>
          <a:p>
            <a:r>
              <a:rPr lang="en-GB" sz="1600" b="0" dirty="0">
                <a:latin typeface="Courier New" panose="02070309020205020404" pitchFamily="49" charset="0"/>
                <a:cs typeface="Courier New" panose="02070309020205020404" pitchFamily="49" charset="0"/>
              </a:rPr>
              <a:t>11 }</a:t>
            </a:r>
          </a:p>
          <a:p>
            <a:r>
              <a:rPr lang="en-GB" sz="1600" b="0" dirty="0">
                <a:latin typeface="Courier New" panose="02070309020205020404" pitchFamily="49" charset="0"/>
                <a:cs typeface="Courier New" panose="02070309020205020404" pitchFamily="49" charset="0"/>
              </a:rPr>
              <a:t>12 return 0;</a:t>
            </a:r>
          </a:p>
          <a:p>
            <a:r>
              <a:rPr lang="en-GB" sz="1600" b="0" dirty="0">
                <a:latin typeface="Courier New" panose="02070309020205020404" pitchFamily="49" charset="0"/>
                <a:cs typeface="Courier New" panose="02070309020205020404" pitchFamily="49" charset="0"/>
              </a:rPr>
              <a:t>13 }</a:t>
            </a:r>
            <a:endParaRPr lang="en-SE" sz="1600" b="0" dirty="0">
              <a:latin typeface="Courier New" panose="02070309020205020404" pitchFamily="49" charset="0"/>
              <a:cs typeface="Courier New" panose="02070309020205020404" pitchFamily="49" charset="0"/>
            </a:endParaRPr>
          </a:p>
        </p:txBody>
      </p:sp>
      <p:graphicFrame>
        <p:nvGraphicFramePr>
          <p:cNvPr id="4" name="Table 3">
            <a:extLst>
              <a:ext uri="{FF2B5EF4-FFF2-40B4-BE49-F238E27FC236}">
                <a16:creationId xmlns:a16="http://schemas.microsoft.com/office/drawing/2014/main" id="{EAA983DF-B13E-BBC6-543F-AE772B3EFB28}"/>
              </a:ext>
            </a:extLst>
          </p:cNvPr>
          <p:cNvGraphicFramePr>
            <a:graphicFrameLocks noGrp="1"/>
          </p:cNvGraphicFramePr>
          <p:nvPr>
            <p:extLst>
              <p:ext uri="{D42A27DB-BD31-4B8C-83A1-F6EECF244321}">
                <p14:modId xmlns:p14="http://schemas.microsoft.com/office/powerpoint/2010/main" val="390100745"/>
              </p:ext>
            </p:extLst>
          </p:nvPr>
        </p:nvGraphicFramePr>
        <p:xfrm>
          <a:off x="10287000" y="2525172"/>
          <a:ext cx="381000" cy="1828800"/>
        </p:xfrm>
        <a:graphic>
          <a:graphicData uri="http://schemas.openxmlformats.org/drawingml/2006/table">
            <a:tbl>
              <a:tblPr firstRow="1" bandRow="1">
                <a:tableStyleId>{5940675A-B579-460E-94D1-54222C63F5DA}</a:tableStyleId>
              </a:tblPr>
              <a:tblGrid>
                <a:gridCol w="381000">
                  <a:extLst>
                    <a:ext uri="{9D8B030D-6E8A-4147-A177-3AD203B41FA5}">
                      <a16:colId xmlns:a16="http://schemas.microsoft.com/office/drawing/2014/main" val="985711519"/>
                    </a:ext>
                  </a:extLst>
                </a:gridCol>
              </a:tblGrid>
              <a:tr h="365760">
                <a:tc>
                  <a:txBody>
                    <a:bodyPr/>
                    <a:lstStyle/>
                    <a:p>
                      <a:pPr algn="ctr"/>
                      <a:r>
                        <a:rPr lang="en-US" dirty="0"/>
                        <a:t>0</a:t>
                      </a:r>
                    </a:p>
                  </a:txBody>
                  <a:tcPr>
                    <a:solidFill>
                      <a:schemeClr val="bg1"/>
                    </a:solidFill>
                  </a:tcPr>
                </a:tc>
                <a:extLst>
                  <a:ext uri="{0D108BD9-81ED-4DB2-BD59-A6C34878D82A}">
                    <a16:rowId xmlns:a16="http://schemas.microsoft.com/office/drawing/2014/main" val="4103575840"/>
                  </a:ext>
                </a:extLst>
              </a:tr>
              <a:tr h="365760">
                <a:tc>
                  <a:txBody>
                    <a:bodyPr/>
                    <a:lstStyle/>
                    <a:p>
                      <a:pPr algn="ctr"/>
                      <a:r>
                        <a:rPr lang="en-US" dirty="0"/>
                        <a:t>1</a:t>
                      </a:r>
                    </a:p>
                  </a:txBody>
                  <a:tcPr>
                    <a:solidFill>
                      <a:schemeClr val="bg1"/>
                    </a:solidFill>
                  </a:tcPr>
                </a:tc>
                <a:extLst>
                  <a:ext uri="{0D108BD9-81ED-4DB2-BD59-A6C34878D82A}">
                    <a16:rowId xmlns:a16="http://schemas.microsoft.com/office/drawing/2014/main" val="2524189490"/>
                  </a:ext>
                </a:extLst>
              </a:tr>
              <a:tr h="365760">
                <a:tc>
                  <a:txBody>
                    <a:bodyPr/>
                    <a:lstStyle/>
                    <a:p>
                      <a:pPr algn="ctr"/>
                      <a:r>
                        <a:rPr lang="en-US" dirty="0"/>
                        <a:t>2</a:t>
                      </a:r>
                    </a:p>
                  </a:txBody>
                  <a:tcPr>
                    <a:solidFill>
                      <a:schemeClr val="bg1"/>
                    </a:solidFill>
                  </a:tcPr>
                </a:tc>
                <a:extLst>
                  <a:ext uri="{0D108BD9-81ED-4DB2-BD59-A6C34878D82A}">
                    <a16:rowId xmlns:a16="http://schemas.microsoft.com/office/drawing/2014/main" val="1314026856"/>
                  </a:ext>
                </a:extLst>
              </a:tr>
              <a:tr h="365760">
                <a:tc>
                  <a:txBody>
                    <a:bodyPr/>
                    <a:lstStyle/>
                    <a:p>
                      <a:pPr algn="ctr"/>
                      <a:r>
                        <a:rPr lang="en-US" dirty="0"/>
                        <a:t>3</a:t>
                      </a:r>
                    </a:p>
                  </a:txBody>
                  <a:tcPr>
                    <a:solidFill>
                      <a:schemeClr val="bg1"/>
                    </a:solidFill>
                  </a:tcPr>
                </a:tc>
                <a:extLst>
                  <a:ext uri="{0D108BD9-81ED-4DB2-BD59-A6C34878D82A}">
                    <a16:rowId xmlns:a16="http://schemas.microsoft.com/office/drawing/2014/main" val="3879555514"/>
                  </a:ext>
                </a:extLst>
              </a:tr>
              <a:tr h="365760">
                <a:tc>
                  <a:txBody>
                    <a:bodyPr/>
                    <a:lstStyle/>
                    <a:p>
                      <a:pPr algn="ctr"/>
                      <a:r>
                        <a:rPr lang="en-US" dirty="0"/>
                        <a:t>ls</a:t>
                      </a:r>
                    </a:p>
                  </a:txBody>
                  <a:tcPr>
                    <a:solidFill>
                      <a:schemeClr val="bg1"/>
                    </a:solidFill>
                  </a:tcPr>
                </a:tc>
                <a:extLst>
                  <a:ext uri="{0D108BD9-81ED-4DB2-BD59-A6C34878D82A}">
                    <a16:rowId xmlns:a16="http://schemas.microsoft.com/office/drawing/2014/main" val="4285185313"/>
                  </a:ext>
                </a:extLst>
              </a:tr>
            </a:tbl>
          </a:graphicData>
        </a:graphic>
      </p:graphicFrame>
      <p:sp>
        <p:nvSpPr>
          <p:cNvPr id="5" name="TextBox 4">
            <a:extLst>
              <a:ext uri="{FF2B5EF4-FFF2-40B4-BE49-F238E27FC236}">
                <a16:creationId xmlns:a16="http://schemas.microsoft.com/office/drawing/2014/main" id="{2E49A074-D192-9A35-04F9-6BC9139263A2}"/>
              </a:ext>
            </a:extLst>
          </p:cNvPr>
          <p:cNvSpPr txBox="1"/>
          <p:nvPr/>
        </p:nvSpPr>
        <p:spPr>
          <a:xfrm>
            <a:off x="10003030" y="2134697"/>
            <a:ext cx="851515" cy="369332"/>
          </a:xfrm>
          <a:prstGeom prst="rect">
            <a:avLst/>
          </a:prstGeom>
          <a:noFill/>
        </p:spPr>
        <p:txBody>
          <a:bodyPr wrap="none" rtlCol="0">
            <a:spAutoFit/>
          </a:bodyPr>
          <a:lstStyle/>
          <a:p>
            <a:r>
              <a:rPr lang="en-US" dirty="0">
                <a:latin typeface="Gill Sans Light"/>
              </a:rPr>
              <a:t>Output</a:t>
            </a:r>
          </a:p>
        </p:txBody>
      </p:sp>
    </p:spTree>
    <p:extLst>
      <p:ext uri="{BB962C8B-B14F-4D97-AF65-F5344CB8AC3E}">
        <p14:creationId xmlns:p14="http://schemas.microsoft.com/office/powerpoint/2010/main" val="37725617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C918D-4719-B2AC-70DC-7F972750CE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0D438A-0867-D75E-106E-A99BC859EE00}"/>
              </a:ext>
            </a:extLst>
          </p:cNvPr>
          <p:cNvSpPr>
            <a:spLocks noGrp="1"/>
          </p:cNvSpPr>
          <p:nvPr>
            <p:ph type="title"/>
          </p:nvPr>
        </p:nvSpPr>
        <p:spPr/>
        <p:txBody>
          <a:bodyPr/>
          <a:lstStyle/>
          <a:p>
            <a:r>
              <a:rPr lang="en-GB" dirty="0"/>
              <a:t>Q2 Processes and Threads </a:t>
            </a:r>
            <a:r>
              <a:rPr lang="en-US" dirty="0"/>
              <a:t>(c) ANS</a:t>
            </a:r>
            <a:endParaRPr lang="en-SE" dirty="0"/>
          </a:p>
        </p:txBody>
      </p:sp>
      <p:sp>
        <p:nvSpPr>
          <p:cNvPr id="3" name="Content Placeholder 2">
            <a:extLst>
              <a:ext uri="{FF2B5EF4-FFF2-40B4-BE49-F238E27FC236}">
                <a16:creationId xmlns:a16="http://schemas.microsoft.com/office/drawing/2014/main" id="{0AF0BEC8-B3C8-C86A-BBB9-6ED783266165}"/>
              </a:ext>
            </a:extLst>
          </p:cNvPr>
          <p:cNvSpPr>
            <a:spLocks noGrp="1"/>
          </p:cNvSpPr>
          <p:nvPr>
            <p:ph idx="1"/>
          </p:nvPr>
        </p:nvSpPr>
        <p:spPr>
          <a:xfrm>
            <a:off x="533400" y="914400"/>
            <a:ext cx="4343400" cy="5791200"/>
          </a:xfrm>
        </p:spPr>
        <p:txBody>
          <a:bodyPr>
            <a:normAutofit lnSpcReduction="10000"/>
          </a:bodyPr>
          <a:lstStyle/>
          <a:p>
            <a:r>
              <a:rPr lang="en-GB" dirty="0"/>
              <a:t>For these questions, assume there is no error, i.e., all fork calls succeed, and the return value of fork() is never negative.  </a:t>
            </a:r>
            <a:r>
              <a:rPr lang="en-US" altLang="zh-CN" dirty="0"/>
              <a:t>What does this program print?</a:t>
            </a:r>
          </a:p>
          <a:p>
            <a:r>
              <a:rPr lang="en-US" dirty="0"/>
              <a:t>ANS: Parent prints 0 to 3, then calls fork() to create a child. Currently with arbitrary </a:t>
            </a:r>
            <a:r>
              <a:rPr lang="en-US" dirty="0" err="1"/>
              <a:t>interleavings</a:t>
            </a:r>
            <a:r>
              <a:rPr lang="en-US" dirty="0"/>
              <a:t>:</a:t>
            </a:r>
          </a:p>
          <a:p>
            <a:pPr lvl="1"/>
            <a:r>
              <a:rPr lang="en-US" dirty="0"/>
              <a:t>Parent prints 4 to 9.</a:t>
            </a:r>
          </a:p>
          <a:p>
            <a:pPr lvl="1"/>
            <a:r>
              <a:rPr lang="en-US" dirty="0"/>
              <a:t>Child prints the full output of ls command then terminates. </a:t>
            </a:r>
          </a:p>
        </p:txBody>
      </p:sp>
      <p:sp>
        <p:nvSpPr>
          <p:cNvPr id="6" name="TextBox 5">
            <a:extLst>
              <a:ext uri="{FF2B5EF4-FFF2-40B4-BE49-F238E27FC236}">
                <a16:creationId xmlns:a16="http://schemas.microsoft.com/office/drawing/2014/main" id="{EF9EF05A-3FED-D218-423C-EB3524149061}"/>
              </a:ext>
            </a:extLst>
          </p:cNvPr>
          <p:cNvSpPr txBox="1"/>
          <p:nvPr/>
        </p:nvSpPr>
        <p:spPr>
          <a:xfrm>
            <a:off x="5105400" y="838200"/>
            <a:ext cx="6553200" cy="3293209"/>
          </a:xfrm>
          <a:prstGeom prst="rect">
            <a:avLst/>
          </a:prstGeom>
          <a:noFill/>
          <a:ln>
            <a:solidFill>
              <a:schemeClr val="tx1"/>
            </a:solidFill>
          </a:ln>
        </p:spPr>
        <p:txBody>
          <a:bodyPr wrap="square" rtlCol="0">
            <a:spAutoFit/>
          </a:bodyPr>
          <a:lstStyle/>
          <a:p>
            <a:r>
              <a:rPr lang="en-GB" sz="1600" b="0" dirty="0">
                <a:latin typeface="Courier New" panose="02070309020205020404" pitchFamily="49" charset="0"/>
                <a:cs typeface="Courier New" panose="02070309020205020404" pitchFamily="49" charset="0"/>
              </a:rPr>
              <a:t>1 int main(void) {</a:t>
            </a:r>
          </a:p>
          <a:p>
            <a:r>
              <a:rPr lang="en-GB" sz="1600" b="0" dirty="0">
                <a:latin typeface="Courier New" panose="02070309020205020404" pitchFamily="49" charset="0"/>
                <a:cs typeface="Courier New" panose="02070309020205020404" pitchFamily="49" charset="0"/>
              </a:rPr>
              <a:t>2 char**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 = (char**) malloc(3 * </a:t>
            </a:r>
            <a:r>
              <a:rPr lang="en-GB" sz="1600" b="0" dirty="0" err="1">
                <a:latin typeface="Courier New" panose="02070309020205020404" pitchFamily="49" charset="0"/>
                <a:cs typeface="Courier New" panose="02070309020205020404" pitchFamily="49" charset="0"/>
              </a:rPr>
              <a:t>sizeof</a:t>
            </a:r>
            <a:r>
              <a:rPr lang="en-GB" sz="1600" b="0" dirty="0">
                <a:latin typeface="Courier New" panose="02070309020205020404" pitchFamily="49" charset="0"/>
                <a:cs typeface="Courier New" panose="02070309020205020404" pitchFamily="49" charset="0"/>
              </a:rPr>
              <a:t>(char*));</a:t>
            </a:r>
          </a:p>
          <a:p>
            <a:r>
              <a:rPr lang="en-GB" sz="1600" b="0" dirty="0">
                <a:latin typeface="Courier New" panose="02070309020205020404" pitchFamily="49" charset="0"/>
                <a:cs typeface="Courier New" panose="02070309020205020404" pitchFamily="49" charset="0"/>
              </a:rPr>
              <a:t>3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[0] = "/bin/ls";</a:t>
            </a:r>
          </a:p>
          <a:p>
            <a:r>
              <a:rPr lang="en-GB" sz="1600" b="0" dirty="0">
                <a:latin typeface="Courier New" panose="02070309020205020404" pitchFamily="49" charset="0"/>
                <a:cs typeface="Courier New" panose="02070309020205020404" pitchFamily="49" charset="0"/>
              </a:rPr>
              <a:t>4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[1] = ".";</a:t>
            </a:r>
          </a:p>
          <a:p>
            <a:r>
              <a:rPr lang="en-GB" sz="1600" b="0" dirty="0">
                <a:latin typeface="Courier New" panose="02070309020205020404" pitchFamily="49" charset="0"/>
                <a:cs typeface="Courier New" panose="02070309020205020404" pitchFamily="49" charset="0"/>
              </a:rPr>
              <a:t>5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[2] = NULL;</a:t>
            </a:r>
          </a:p>
          <a:p>
            <a:r>
              <a:rPr lang="en-GB" sz="1600" b="0" dirty="0">
                <a:latin typeface="Courier New" panose="02070309020205020404" pitchFamily="49" charset="0"/>
                <a:cs typeface="Courier New" panose="02070309020205020404" pitchFamily="49" charset="0"/>
              </a:rPr>
              <a:t>6 for (int i = 0; i &lt; 10; i++) {</a:t>
            </a:r>
          </a:p>
          <a:p>
            <a:pPr marL="342900" indent="-342900">
              <a:buAutoNum type="arabicPlain" startAt="7"/>
            </a:pPr>
            <a:r>
              <a:rPr lang="en-GB" sz="1600" b="0" dirty="0" err="1">
                <a:latin typeface="Courier New" panose="02070309020205020404" pitchFamily="49" charset="0"/>
                <a:cs typeface="Courier New" panose="02070309020205020404" pitchFamily="49" charset="0"/>
              </a:rPr>
              <a:t>printf</a:t>
            </a:r>
            <a:r>
              <a:rPr lang="en-GB" sz="1600" b="0" dirty="0">
                <a:latin typeface="Courier New" panose="02070309020205020404" pitchFamily="49" charset="0"/>
                <a:cs typeface="Courier New" panose="02070309020205020404" pitchFamily="49" charset="0"/>
              </a:rPr>
              <a:t>("%d\n", i);</a:t>
            </a:r>
          </a:p>
          <a:p>
            <a:pPr marL="342900" indent="-342900">
              <a:buAutoNum type="arabicPlain" startAt="7"/>
            </a:pPr>
            <a:r>
              <a:rPr lang="en-GB" sz="1600" b="0" dirty="0">
                <a:latin typeface="Courier New" panose="02070309020205020404" pitchFamily="49" charset="0"/>
                <a:cs typeface="Courier New" panose="02070309020205020404" pitchFamily="49" charset="0"/>
              </a:rPr>
              <a:t>if (i == 3) {</a:t>
            </a:r>
          </a:p>
          <a:p>
            <a:pPr marL="342900" indent="-342900">
              <a:buAutoNum type="arabicPlain" startAt="7"/>
            </a:pPr>
            <a:r>
              <a:rPr lang="en-GB" sz="1600" b="0" dirty="0">
                <a:latin typeface="Courier New" panose="02070309020205020404" pitchFamily="49" charset="0"/>
                <a:cs typeface="Courier New" panose="02070309020205020404" pitchFamily="49" charset="0"/>
              </a:rPr>
              <a:t>    if(fork() == 0)</a:t>
            </a:r>
          </a:p>
          <a:p>
            <a:pPr marL="342900" indent="-342900">
              <a:buAutoNum type="arabicPlain" startAt="7"/>
            </a:pPr>
            <a:r>
              <a:rPr lang="en-GB" sz="1600" b="0" dirty="0">
                <a:latin typeface="Courier New" panose="02070309020205020404" pitchFamily="49" charset="0"/>
                <a:cs typeface="Courier New" panose="02070309020205020404" pitchFamily="49" charset="0"/>
              </a:rPr>
              <a:t>        </a:t>
            </a:r>
            <a:r>
              <a:rPr lang="en-GB" sz="1600" b="0" dirty="0" err="1">
                <a:latin typeface="Courier New" panose="02070309020205020404" pitchFamily="49" charset="0"/>
                <a:cs typeface="Courier New" panose="02070309020205020404" pitchFamily="49" charset="0"/>
              </a:rPr>
              <a:t>execv</a:t>
            </a:r>
            <a:r>
              <a:rPr lang="en-GB" sz="1600" b="0" dirty="0">
                <a:latin typeface="Courier New" panose="02070309020205020404" pitchFamily="49" charset="0"/>
                <a:cs typeface="Courier New" panose="02070309020205020404" pitchFamily="49" charset="0"/>
              </a:rPr>
              <a:t>("/bin/ls",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a:t>
            </a:r>
          </a:p>
          <a:p>
            <a:pPr marL="342900" indent="-342900">
              <a:buAutoNum type="arabicPlain" startAt="7"/>
            </a:pPr>
            <a:r>
              <a:rPr lang="en-GB" sz="1600" b="0" dirty="0">
                <a:latin typeface="Courier New" panose="02070309020205020404" pitchFamily="49" charset="0"/>
                <a:cs typeface="Courier New" panose="02070309020205020404" pitchFamily="49" charset="0"/>
              </a:rPr>
              <a:t>}</a:t>
            </a:r>
          </a:p>
          <a:p>
            <a:r>
              <a:rPr lang="en-GB" sz="1600" b="0" dirty="0">
                <a:latin typeface="Courier New" panose="02070309020205020404" pitchFamily="49" charset="0"/>
                <a:cs typeface="Courier New" panose="02070309020205020404" pitchFamily="49" charset="0"/>
              </a:rPr>
              <a:t>12 return 0;</a:t>
            </a:r>
          </a:p>
          <a:p>
            <a:r>
              <a:rPr lang="en-GB" sz="1600" b="0" dirty="0">
                <a:latin typeface="Courier New" panose="02070309020205020404" pitchFamily="49" charset="0"/>
                <a:cs typeface="Courier New" panose="02070309020205020404" pitchFamily="49" charset="0"/>
              </a:rPr>
              <a:t>13 }</a:t>
            </a:r>
            <a:endParaRPr lang="en-SE" sz="1600" b="0" dirty="0">
              <a:latin typeface="Courier New" panose="02070309020205020404" pitchFamily="49" charset="0"/>
              <a:cs typeface="Courier New" panose="02070309020205020404" pitchFamily="49" charset="0"/>
            </a:endParaRPr>
          </a:p>
        </p:txBody>
      </p:sp>
      <p:graphicFrame>
        <p:nvGraphicFramePr>
          <p:cNvPr id="5" name="Table 4">
            <a:extLst>
              <a:ext uri="{FF2B5EF4-FFF2-40B4-BE49-F238E27FC236}">
                <a16:creationId xmlns:a16="http://schemas.microsoft.com/office/drawing/2014/main" id="{0C82C118-2CC4-A3D0-3590-F2762B1CF420}"/>
              </a:ext>
            </a:extLst>
          </p:cNvPr>
          <p:cNvGraphicFramePr>
            <a:graphicFrameLocks noGrp="1"/>
          </p:cNvGraphicFramePr>
          <p:nvPr>
            <p:extLst>
              <p:ext uri="{D42A27DB-BD31-4B8C-83A1-F6EECF244321}">
                <p14:modId xmlns:p14="http://schemas.microsoft.com/office/powerpoint/2010/main" val="1165794602"/>
              </p:ext>
            </p:extLst>
          </p:nvPr>
        </p:nvGraphicFramePr>
        <p:xfrm>
          <a:off x="10211765" y="2590800"/>
          <a:ext cx="381000" cy="1463040"/>
        </p:xfrm>
        <a:graphic>
          <a:graphicData uri="http://schemas.openxmlformats.org/drawingml/2006/table">
            <a:tbl>
              <a:tblPr firstRow="1" bandRow="1">
                <a:tableStyleId>{5940675A-B579-460E-94D1-54222C63F5DA}</a:tableStyleId>
              </a:tblPr>
              <a:tblGrid>
                <a:gridCol w="381000">
                  <a:extLst>
                    <a:ext uri="{9D8B030D-6E8A-4147-A177-3AD203B41FA5}">
                      <a16:colId xmlns:a16="http://schemas.microsoft.com/office/drawing/2014/main" val="985711519"/>
                    </a:ext>
                  </a:extLst>
                </a:gridCol>
              </a:tblGrid>
              <a:tr h="365760">
                <a:tc>
                  <a:txBody>
                    <a:bodyPr/>
                    <a:lstStyle/>
                    <a:p>
                      <a:pPr algn="ctr"/>
                      <a:r>
                        <a:rPr lang="en-US" dirty="0"/>
                        <a:t>0</a:t>
                      </a:r>
                    </a:p>
                  </a:txBody>
                  <a:tcPr>
                    <a:solidFill>
                      <a:schemeClr val="bg1"/>
                    </a:solidFill>
                  </a:tcPr>
                </a:tc>
                <a:extLst>
                  <a:ext uri="{0D108BD9-81ED-4DB2-BD59-A6C34878D82A}">
                    <a16:rowId xmlns:a16="http://schemas.microsoft.com/office/drawing/2014/main" val="4103575840"/>
                  </a:ext>
                </a:extLst>
              </a:tr>
              <a:tr h="365760">
                <a:tc>
                  <a:txBody>
                    <a:bodyPr/>
                    <a:lstStyle/>
                    <a:p>
                      <a:pPr algn="ctr"/>
                      <a:r>
                        <a:rPr lang="en-US" dirty="0"/>
                        <a:t>1</a:t>
                      </a:r>
                    </a:p>
                  </a:txBody>
                  <a:tcPr>
                    <a:solidFill>
                      <a:schemeClr val="bg1"/>
                    </a:solidFill>
                  </a:tcPr>
                </a:tc>
                <a:extLst>
                  <a:ext uri="{0D108BD9-81ED-4DB2-BD59-A6C34878D82A}">
                    <a16:rowId xmlns:a16="http://schemas.microsoft.com/office/drawing/2014/main" val="2524189490"/>
                  </a:ext>
                </a:extLst>
              </a:tr>
              <a:tr h="365760">
                <a:tc>
                  <a:txBody>
                    <a:bodyPr/>
                    <a:lstStyle/>
                    <a:p>
                      <a:pPr algn="ctr"/>
                      <a:r>
                        <a:rPr lang="en-US" dirty="0"/>
                        <a:t>2</a:t>
                      </a:r>
                    </a:p>
                  </a:txBody>
                  <a:tcPr>
                    <a:solidFill>
                      <a:schemeClr val="bg1"/>
                    </a:solidFill>
                  </a:tcPr>
                </a:tc>
                <a:extLst>
                  <a:ext uri="{0D108BD9-81ED-4DB2-BD59-A6C34878D82A}">
                    <a16:rowId xmlns:a16="http://schemas.microsoft.com/office/drawing/2014/main" val="1314026856"/>
                  </a:ext>
                </a:extLst>
              </a:tr>
              <a:tr h="365760">
                <a:tc>
                  <a:txBody>
                    <a:bodyPr/>
                    <a:lstStyle/>
                    <a:p>
                      <a:pPr algn="ctr"/>
                      <a:r>
                        <a:rPr lang="en-US" dirty="0"/>
                        <a:t>3</a:t>
                      </a:r>
                    </a:p>
                  </a:txBody>
                  <a:tcPr>
                    <a:solidFill>
                      <a:schemeClr val="bg1"/>
                    </a:solidFill>
                  </a:tcPr>
                </a:tc>
                <a:extLst>
                  <a:ext uri="{0D108BD9-81ED-4DB2-BD59-A6C34878D82A}">
                    <a16:rowId xmlns:a16="http://schemas.microsoft.com/office/drawing/2014/main" val="3879555514"/>
                  </a:ext>
                </a:extLst>
              </a:tr>
            </a:tbl>
          </a:graphicData>
        </a:graphic>
      </p:graphicFrame>
      <p:graphicFrame>
        <p:nvGraphicFramePr>
          <p:cNvPr id="7" name="Table 6">
            <a:extLst>
              <a:ext uri="{FF2B5EF4-FFF2-40B4-BE49-F238E27FC236}">
                <a16:creationId xmlns:a16="http://schemas.microsoft.com/office/drawing/2014/main" id="{68BC74A2-521A-4CD9-9886-FA062E740103}"/>
              </a:ext>
            </a:extLst>
          </p:cNvPr>
          <p:cNvGraphicFramePr>
            <a:graphicFrameLocks noGrp="1"/>
          </p:cNvGraphicFramePr>
          <p:nvPr>
            <p:extLst>
              <p:ext uri="{D42A27DB-BD31-4B8C-83A1-F6EECF244321}">
                <p14:modId xmlns:p14="http://schemas.microsoft.com/office/powerpoint/2010/main" val="3055651604"/>
              </p:ext>
            </p:extLst>
          </p:nvPr>
        </p:nvGraphicFramePr>
        <p:xfrm>
          <a:off x="10210800" y="4526280"/>
          <a:ext cx="381000" cy="2194560"/>
        </p:xfrm>
        <a:graphic>
          <a:graphicData uri="http://schemas.openxmlformats.org/drawingml/2006/table">
            <a:tbl>
              <a:tblPr firstRow="1" bandRow="1">
                <a:tableStyleId>{5940675A-B579-460E-94D1-54222C63F5DA}</a:tableStyleId>
              </a:tblPr>
              <a:tblGrid>
                <a:gridCol w="381000">
                  <a:extLst>
                    <a:ext uri="{9D8B030D-6E8A-4147-A177-3AD203B41FA5}">
                      <a16:colId xmlns:a16="http://schemas.microsoft.com/office/drawing/2014/main" val="985711519"/>
                    </a:ext>
                  </a:extLst>
                </a:gridCol>
              </a:tblGrid>
              <a:tr h="365760">
                <a:tc>
                  <a:txBody>
                    <a:bodyPr/>
                    <a:lstStyle/>
                    <a:p>
                      <a:pPr algn="ctr"/>
                      <a:r>
                        <a:rPr lang="en-US" dirty="0"/>
                        <a:t>4</a:t>
                      </a:r>
                    </a:p>
                  </a:txBody>
                  <a:tcPr>
                    <a:solidFill>
                      <a:schemeClr val="bg1"/>
                    </a:solidFill>
                  </a:tcPr>
                </a:tc>
                <a:extLst>
                  <a:ext uri="{0D108BD9-81ED-4DB2-BD59-A6C34878D82A}">
                    <a16:rowId xmlns:a16="http://schemas.microsoft.com/office/drawing/2014/main" val="4103575840"/>
                  </a:ext>
                </a:extLst>
              </a:tr>
              <a:tr h="365760">
                <a:tc>
                  <a:txBody>
                    <a:bodyPr/>
                    <a:lstStyle/>
                    <a:p>
                      <a:pPr algn="ctr"/>
                      <a:r>
                        <a:rPr lang="en-US" dirty="0"/>
                        <a:t>5</a:t>
                      </a:r>
                    </a:p>
                  </a:txBody>
                  <a:tcPr>
                    <a:solidFill>
                      <a:schemeClr val="bg1"/>
                    </a:solidFill>
                  </a:tcPr>
                </a:tc>
                <a:extLst>
                  <a:ext uri="{0D108BD9-81ED-4DB2-BD59-A6C34878D82A}">
                    <a16:rowId xmlns:a16="http://schemas.microsoft.com/office/drawing/2014/main" val="2524189490"/>
                  </a:ext>
                </a:extLst>
              </a:tr>
              <a:tr h="365760">
                <a:tc>
                  <a:txBody>
                    <a:bodyPr/>
                    <a:lstStyle/>
                    <a:p>
                      <a:pPr algn="ctr"/>
                      <a:r>
                        <a:rPr lang="en-US" dirty="0"/>
                        <a:t>6</a:t>
                      </a:r>
                    </a:p>
                  </a:txBody>
                  <a:tcPr>
                    <a:solidFill>
                      <a:schemeClr val="bg1"/>
                    </a:solidFill>
                  </a:tcPr>
                </a:tc>
                <a:extLst>
                  <a:ext uri="{0D108BD9-81ED-4DB2-BD59-A6C34878D82A}">
                    <a16:rowId xmlns:a16="http://schemas.microsoft.com/office/drawing/2014/main" val="1314026856"/>
                  </a:ext>
                </a:extLst>
              </a:tr>
              <a:tr h="365760">
                <a:tc>
                  <a:txBody>
                    <a:bodyPr/>
                    <a:lstStyle/>
                    <a:p>
                      <a:pPr algn="ctr"/>
                      <a:r>
                        <a:rPr lang="en-US" dirty="0"/>
                        <a:t>7</a:t>
                      </a:r>
                    </a:p>
                  </a:txBody>
                  <a:tcPr>
                    <a:solidFill>
                      <a:schemeClr val="bg1"/>
                    </a:solidFill>
                  </a:tcPr>
                </a:tc>
                <a:extLst>
                  <a:ext uri="{0D108BD9-81ED-4DB2-BD59-A6C34878D82A}">
                    <a16:rowId xmlns:a16="http://schemas.microsoft.com/office/drawing/2014/main" val="3879555514"/>
                  </a:ext>
                </a:extLst>
              </a:tr>
              <a:tr h="365760">
                <a:tc>
                  <a:txBody>
                    <a:bodyPr/>
                    <a:lstStyle/>
                    <a:p>
                      <a:pPr algn="ctr"/>
                      <a:r>
                        <a:rPr lang="en-US" dirty="0"/>
                        <a:t>8</a:t>
                      </a:r>
                    </a:p>
                  </a:txBody>
                  <a:tcPr>
                    <a:solidFill>
                      <a:schemeClr val="bg1"/>
                    </a:solidFill>
                  </a:tcPr>
                </a:tc>
                <a:extLst>
                  <a:ext uri="{0D108BD9-81ED-4DB2-BD59-A6C34878D82A}">
                    <a16:rowId xmlns:a16="http://schemas.microsoft.com/office/drawing/2014/main" val="14369337"/>
                  </a:ext>
                </a:extLst>
              </a:tr>
              <a:tr h="365760">
                <a:tc>
                  <a:txBody>
                    <a:bodyPr/>
                    <a:lstStyle/>
                    <a:p>
                      <a:pPr algn="ctr"/>
                      <a:r>
                        <a:rPr lang="en-US" dirty="0"/>
                        <a:t>9</a:t>
                      </a:r>
                    </a:p>
                  </a:txBody>
                  <a:tcPr>
                    <a:solidFill>
                      <a:schemeClr val="bg1"/>
                    </a:solidFill>
                  </a:tcPr>
                </a:tc>
                <a:extLst>
                  <a:ext uri="{0D108BD9-81ED-4DB2-BD59-A6C34878D82A}">
                    <a16:rowId xmlns:a16="http://schemas.microsoft.com/office/drawing/2014/main" val="2688088017"/>
                  </a:ext>
                </a:extLst>
              </a:tr>
            </a:tbl>
          </a:graphicData>
        </a:graphic>
      </p:graphicFrame>
      <p:graphicFrame>
        <p:nvGraphicFramePr>
          <p:cNvPr id="8" name="Table 7">
            <a:extLst>
              <a:ext uri="{FF2B5EF4-FFF2-40B4-BE49-F238E27FC236}">
                <a16:creationId xmlns:a16="http://schemas.microsoft.com/office/drawing/2014/main" id="{15D1910B-23BB-70C8-F6B6-D4E91635D2A0}"/>
              </a:ext>
            </a:extLst>
          </p:cNvPr>
          <p:cNvGraphicFramePr>
            <a:graphicFrameLocks noGrp="1"/>
          </p:cNvGraphicFramePr>
          <p:nvPr>
            <p:extLst>
              <p:ext uri="{D42A27DB-BD31-4B8C-83A1-F6EECF244321}">
                <p14:modId xmlns:p14="http://schemas.microsoft.com/office/powerpoint/2010/main" val="1959164504"/>
              </p:ext>
            </p:extLst>
          </p:nvPr>
        </p:nvGraphicFramePr>
        <p:xfrm>
          <a:off x="10827152" y="4526280"/>
          <a:ext cx="381000" cy="365760"/>
        </p:xfrm>
        <a:graphic>
          <a:graphicData uri="http://schemas.openxmlformats.org/drawingml/2006/table">
            <a:tbl>
              <a:tblPr firstRow="1" bandRow="1">
                <a:tableStyleId>{5940675A-B579-460E-94D1-54222C63F5DA}</a:tableStyleId>
              </a:tblPr>
              <a:tblGrid>
                <a:gridCol w="381000">
                  <a:extLst>
                    <a:ext uri="{9D8B030D-6E8A-4147-A177-3AD203B41FA5}">
                      <a16:colId xmlns:a16="http://schemas.microsoft.com/office/drawing/2014/main" val="985711519"/>
                    </a:ext>
                  </a:extLst>
                </a:gridCol>
              </a:tblGrid>
              <a:tr h="365760">
                <a:tc>
                  <a:txBody>
                    <a:bodyPr/>
                    <a:lstStyle/>
                    <a:p>
                      <a:pPr algn="ctr"/>
                      <a:r>
                        <a:rPr lang="en-US" dirty="0"/>
                        <a:t>ls</a:t>
                      </a:r>
                    </a:p>
                  </a:txBody>
                  <a:tcPr>
                    <a:solidFill>
                      <a:schemeClr val="bg1"/>
                    </a:solidFill>
                  </a:tcPr>
                </a:tc>
                <a:extLst>
                  <a:ext uri="{0D108BD9-81ED-4DB2-BD59-A6C34878D82A}">
                    <a16:rowId xmlns:a16="http://schemas.microsoft.com/office/drawing/2014/main" val="4103575840"/>
                  </a:ext>
                </a:extLst>
              </a:tr>
            </a:tbl>
          </a:graphicData>
        </a:graphic>
      </p:graphicFrame>
      <p:cxnSp>
        <p:nvCxnSpPr>
          <p:cNvPr id="12" name="Straight Arrow Connector 11">
            <a:extLst>
              <a:ext uri="{FF2B5EF4-FFF2-40B4-BE49-F238E27FC236}">
                <a16:creationId xmlns:a16="http://schemas.microsoft.com/office/drawing/2014/main" id="{73884B80-B0BE-BFAC-E912-C1186300A5F9}"/>
              </a:ext>
            </a:extLst>
          </p:cNvPr>
          <p:cNvCxnSpPr>
            <a:cxnSpLocks/>
            <a:endCxn id="8" idx="0"/>
          </p:cNvCxnSpPr>
          <p:nvPr/>
        </p:nvCxnSpPr>
        <p:spPr bwMode="auto">
          <a:xfrm>
            <a:off x="10477018" y="4061556"/>
            <a:ext cx="540634" cy="464724"/>
          </a:xfrm>
          <a:prstGeom prst="straightConnector1">
            <a:avLst/>
          </a:prstGeom>
          <a:solidFill>
            <a:schemeClr val="bg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5" name="Straight Arrow Connector 14">
            <a:extLst>
              <a:ext uri="{FF2B5EF4-FFF2-40B4-BE49-F238E27FC236}">
                <a16:creationId xmlns:a16="http://schemas.microsoft.com/office/drawing/2014/main" id="{C58F029F-D73D-7FBB-5B5F-E1B2C76223BD}"/>
              </a:ext>
            </a:extLst>
          </p:cNvPr>
          <p:cNvCxnSpPr>
            <a:cxnSpLocks/>
          </p:cNvCxnSpPr>
          <p:nvPr/>
        </p:nvCxnSpPr>
        <p:spPr bwMode="auto">
          <a:xfrm>
            <a:off x="10379356" y="4053840"/>
            <a:ext cx="0" cy="464724"/>
          </a:xfrm>
          <a:prstGeom prst="straightConnector1">
            <a:avLst/>
          </a:prstGeom>
          <a:solidFill>
            <a:schemeClr val="bg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7" name="TextBox 16">
            <a:extLst>
              <a:ext uri="{FF2B5EF4-FFF2-40B4-BE49-F238E27FC236}">
                <a16:creationId xmlns:a16="http://schemas.microsoft.com/office/drawing/2014/main" id="{18D20B97-A6C7-920F-DB6D-83EAB13AFE95}"/>
              </a:ext>
            </a:extLst>
          </p:cNvPr>
          <p:cNvSpPr txBox="1"/>
          <p:nvPr/>
        </p:nvSpPr>
        <p:spPr>
          <a:xfrm>
            <a:off x="11152931" y="4304952"/>
            <a:ext cx="649537" cy="369332"/>
          </a:xfrm>
          <a:prstGeom prst="rect">
            <a:avLst/>
          </a:prstGeom>
          <a:noFill/>
        </p:spPr>
        <p:txBody>
          <a:bodyPr wrap="none" rtlCol="0">
            <a:spAutoFit/>
          </a:bodyPr>
          <a:lstStyle/>
          <a:p>
            <a:r>
              <a:rPr lang="en-US" dirty="0">
                <a:latin typeface="Gill Sans Light"/>
              </a:rPr>
              <a:t>Child</a:t>
            </a:r>
          </a:p>
        </p:txBody>
      </p:sp>
      <p:sp>
        <p:nvSpPr>
          <p:cNvPr id="18" name="TextBox 17">
            <a:extLst>
              <a:ext uri="{FF2B5EF4-FFF2-40B4-BE49-F238E27FC236}">
                <a16:creationId xmlns:a16="http://schemas.microsoft.com/office/drawing/2014/main" id="{40E67CB4-74E7-C2B9-1842-D37C11CAEAC4}"/>
              </a:ext>
            </a:extLst>
          </p:cNvPr>
          <p:cNvSpPr txBox="1"/>
          <p:nvPr/>
        </p:nvSpPr>
        <p:spPr>
          <a:xfrm>
            <a:off x="9408622" y="4304952"/>
            <a:ext cx="756682" cy="369332"/>
          </a:xfrm>
          <a:prstGeom prst="rect">
            <a:avLst/>
          </a:prstGeom>
          <a:noFill/>
        </p:spPr>
        <p:txBody>
          <a:bodyPr wrap="none" rtlCol="0">
            <a:spAutoFit/>
          </a:bodyPr>
          <a:lstStyle/>
          <a:p>
            <a:r>
              <a:rPr lang="en-US" dirty="0">
                <a:latin typeface="Gill Sans Light"/>
              </a:rPr>
              <a:t>Parent</a:t>
            </a:r>
          </a:p>
        </p:txBody>
      </p:sp>
      <p:sp>
        <p:nvSpPr>
          <p:cNvPr id="20" name="TextBox 19">
            <a:extLst>
              <a:ext uri="{FF2B5EF4-FFF2-40B4-BE49-F238E27FC236}">
                <a16:creationId xmlns:a16="http://schemas.microsoft.com/office/drawing/2014/main" id="{832E8972-C32B-BB91-DB0F-0D0C83BFFA8E}"/>
              </a:ext>
            </a:extLst>
          </p:cNvPr>
          <p:cNvSpPr txBox="1"/>
          <p:nvPr/>
        </p:nvSpPr>
        <p:spPr>
          <a:xfrm>
            <a:off x="10003030" y="2134697"/>
            <a:ext cx="851515" cy="369332"/>
          </a:xfrm>
          <a:prstGeom prst="rect">
            <a:avLst/>
          </a:prstGeom>
          <a:noFill/>
        </p:spPr>
        <p:txBody>
          <a:bodyPr wrap="none" rtlCol="0">
            <a:spAutoFit/>
          </a:bodyPr>
          <a:lstStyle/>
          <a:p>
            <a:r>
              <a:rPr lang="en-US" dirty="0">
                <a:latin typeface="Gill Sans Light"/>
              </a:rPr>
              <a:t>Output</a:t>
            </a:r>
          </a:p>
        </p:txBody>
      </p:sp>
    </p:spTree>
    <p:extLst>
      <p:ext uri="{BB962C8B-B14F-4D97-AF65-F5344CB8AC3E}">
        <p14:creationId xmlns:p14="http://schemas.microsoft.com/office/powerpoint/2010/main" val="309969442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FDBD0-34AC-8272-E759-A5C06235B0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3B3F10-4465-5374-BAC1-53D1776CFD99}"/>
              </a:ext>
            </a:extLst>
          </p:cNvPr>
          <p:cNvSpPr>
            <a:spLocks noGrp="1"/>
          </p:cNvSpPr>
          <p:nvPr>
            <p:ph type="title"/>
          </p:nvPr>
        </p:nvSpPr>
        <p:spPr/>
        <p:txBody>
          <a:bodyPr/>
          <a:lstStyle/>
          <a:p>
            <a:r>
              <a:rPr lang="en-GB" dirty="0"/>
              <a:t>Q2 Processes and Threads </a:t>
            </a:r>
            <a:r>
              <a:rPr lang="en-US" dirty="0"/>
              <a:t>(d) ANS</a:t>
            </a:r>
            <a:endParaRPr lang="en-SE" dirty="0"/>
          </a:p>
        </p:txBody>
      </p:sp>
      <p:sp>
        <p:nvSpPr>
          <p:cNvPr id="3" name="Content Placeholder 2">
            <a:extLst>
              <a:ext uri="{FF2B5EF4-FFF2-40B4-BE49-F238E27FC236}">
                <a16:creationId xmlns:a16="http://schemas.microsoft.com/office/drawing/2014/main" id="{BD3FAF22-F71B-A614-2E83-A7F9A646E0AE}"/>
              </a:ext>
            </a:extLst>
          </p:cNvPr>
          <p:cNvSpPr>
            <a:spLocks noGrp="1"/>
          </p:cNvSpPr>
          <p:nvPr>
            <p:ph idx="1"/>
          </p:nvPr>
        </p:nvSpPr>
        <p:spPr>
          <a:xfrm>
            <a:off x="533400" y="914400"/>
            <a:ext cx="4343400" cy="5562600"/>
          </a:xfrm>
        </p:spPr>
        <p:txBody>
          <a:bodyPr>
            <a:normAutofit lnSpcReduction="10000"/>
          </a:bodyPr>
          <a:lstStyle/>
          <a:p>
            <a:r>
              <a:rPr lang="en-GB" dirty="0"/>
              <a:t>For these questions, assume there is no error, i.e., all fork calls succeed, and the return value of fork() is never negative.  </a:t>
            </a:r>
            <a:r>
              <a:rPr lang="en-US" altLang="zh-CN" dirty="0"/>
              <a:t>What does this program print?</a:t>
            </a:r>
          </a:p>
          <a:p>
            <a:r>
              <a:rPr lang="en-US" dirty="0"/>
              <a:t>ANS: Parent prints 0 to 3, then calls fork() to create a child. Currently with arbitrary </a:t>
            </a:r>
            <a:r>
              <a:rPr lang="en-US" dirty="0" err="1"/>
              <a:t>interleavings</a:t>
            </a:r>
            <a:r>
              <a:rPr lang="en-US" dirty="0"/>
              <a:t>:</a:t>
            </a:r>
          </a:p>
          <a:p>
            <a:pPr lvl="1"/>
            <a:r>
              <a:rPr lang="en-US" dirty="0"/>
              <a:t>Parent prints the full output of ls command then terminates. </a:t>
            </a:r>
          </a:p>
          <a:p>
            <a:pPr lvl="1"/>
            <a:r>
              <a:rPr lang="en-US" dirty="0"/>
              <a:t>Child prints 4 to 9.</a:t>
            </a:r>
          </a:p>
        </p:txBody>
      </p:sp>
      <p:sp>
        <p:nvSpPr>
          <p:cNvPr id="6" name="TextBox 5">
            <a:extLst>
              <a:ext uri="{FF2B5EF4-FFF2-40B4-BE49-F238E27FC236}">
                <a16:creationId xmlns:a16="http://schemas.microsoft.com/office/drawing/2014/main" id="{4AD38042-6CFE-2456-0FBD-B96F2A5EA1CD}"/>
              </a:ext>
            </a:extLst>
          </p:cNvPr>
          <p:cNvSpPr txBox="1"/>
          <p:nvPr/>
        </p:nvSpPr>
        <p:spPr>
          <a:xfrm>
            <a:off x="5105400" y="838200"/>
            <a:ext cx="6553200" cy="3293209"/>
          </a:xfrm>
          <a:prstGeom prst="rect">
            <a:avLst/>
          </a:prstGeom>
          <a:noFill/>
          <a:ln>
            <a:solidFill>
              <a:schemeClr val="tx1"/>
            </a:solidFill>
          </a:ln>
        </p:spPr>
        <p:txBody>
          <a:bodyPr wrap="square" rtlCol="0">
            <a:spAutoFit/>
          </a:bodyPr>
          <a:lstStyle/>
          <a:p>
            <a:r>
              <a:rPr lang="en-GB" sz="1600" b="0" dirty="0">
                <a:latin typeface="Courier New" panose="02070309020205020404" pitchFamily="49" charset="0"/>
                <a:cs typeface="Courier New" panose="02070309020205020404" pitchFamily="49" charset="0"/>
              </a:rPr>
              <a:t>1 int main(void) {</a:t>
            </a:r>
          </a:p>
          <a:p>
            <a:r>
              <a:rPr lang="en-GB" sz="1600" b="0" dirty="0">
                <a:latin typeface="Courier New" panose="02070309020205020404" pitchFamily="49" charset="0"/>
                <a:cs typeface="Courier New" panose="02070309020205020404" pitchFamily="49" charset="0"/>
              </a:rPr>
              <a:t>2 char**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 = (char**) malloc(3 * </a:t>
            </a:r>
            <a:r>
              <a:rPr lang="en-GB" sz="1600" b="0" dirty="0" err="1">
                <a:latin typeface="Courier New" panose="02070309020205020404" pitchFamily="49" charset="0"/>
                <a:cs typeface="Courier New" panose="02070309020205020404" pitchFamily="49" charset="0"/>
              </a:rPr>
              <a:t>sizeof</a:t>
            </a:r>
            <a:r>
              <a:rPr lang="en-GB" sz="1600" b="0" dirty="0">
                <a:latin typeface="Courier New" panose="02070309020205020404" pitchFamily="49" charset="0"/>
                <a:cs typeface="Courier New" panose="02070309020205020404" pitchFamily="49" charset="0"/>
              </a:rPr>
              <a:t>(char*));</a:t>
            </a:r>
          </a:p>
          <a:p>
            <a:r>
              <a:rPr lang="en-GB" sz="1600" b="0" dirty="0">
                <a:latin typeface="Courier New" panose="02070309020205020404" pitchFamily="49" charset="0"/>
                <a:cs typeface="Courier New" panose="02070309020205020404" pitchFamily="49" charset="0"/>
              </a:rPr>
              <a:t>3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[0] = "/bin/ls";</a:t>
            </a:r>
          </a:p>
          <a:p>
            <a:r>
              <a:rPr lang="en-GB" sz="1600" b="0" dirty="0">
                <a:latin typeface="Courier New" panose="02070309020205020404" pitchFamily="49" charset="0"/>
                <a:cs typeface="Courier New" panose="02070309020205020404" pitchFamily="49" charset="0"/>
              </a:rPr>
              <a:t>4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[1] = ".";</a:t>
            </a:r>
          </a:p>
          <a:p>
            <a:r>
              <a:rPr lang="en-GB" sz="1600" b="0" dirty="0">
                <a:latin typeface="Courier New" panose="02070309020205020404" pitchFamily="49" charset="0"/>
                <a:cs typeface="Courier New" panose="02070309020205020404" pitchFamily="49" charset="0"/>
              </a:rPr>
              <a:t>5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[2] = NULL;</a:t>
            </a:r>
          </a:p>
          <a:p>
            <a:r>
              <a:rPr lang="en-GB" sz="1600" b="0" dirty="0">
                <a:latin typeface="Courier New" panose="02070309020205020404" pitchFamily="49" charset="0"/>
                <a:cs typeface="Courier New" panose="02070309020205020404" pitchFamily="49" charset="0"/>
              </a:rPr>
              <a:t>6 for (int i = 0; i &lt; 10; i++) {</a:t>
            </a:r>
          </a:p>
          <a:p>
            <a:pPr marL="342900" indent="-342900">
              <a:buAutoNum type="arabicPlain" startAt="7"/>
            </a:pPr>
            <a:r>
              <a:rPr lang="en-GB" sz="1600" b="0" dirty="0" err="1">
                <a:latin typeface="Courier New" panose="02070309020205020404" pitchFamily="49" charset="0"/>
                <a:cs typeface="Courier New" panose="02070309020205020404" pitchFamily="49" charset="0"/>
              </a:rPr>
              <a:t>printf</a:t>
            </a:r>
            <a:r>
              <a:rPr lang="en-GB" sz="1600" b="0" dirty="0">
                <a:latin typeface="Courier New" panose="02070309020205020404" pitchFamily="49" charset="0"/>
                <a:cs typeface="Courier New" panose="02070309020205020404" pitchFamily="49" charset="0"/>
              </a:rPr>
              <a:t>("%d\n", i);</a:t>
            </a:r>
          </a:p>
          <a:p>
            <a:pPr marL="342900" indent="-342900">
              <a:buAutoNum type="arabicPlain" startAt="7"/>
            </a:pPr>
            <a:r>
              <a:rPr lang="en-GB" sz="1600" b="0" dirty="0">
                <a:latin typeface="Courier New" panose="02070309020205020404" pitchFamily="49" charset="0"/>
                <a:cs typeface="Courier New" panose="02070309020205020404" pitchFamily="49" charset="0"/>
              </a:rPr>
              <a:t>if (i == 3) {</a:t>
            </a:r>
          </a:p>
          <a:p>
            <a:pPr marL="342900" indent="-342900">
              <a:buAutoNum type="arabicPlain" startAt="7"/>
            </a:pPr>
            <a:r>
              <a:rPr lang="en-GB" sz="1600" b="0" dirty="0">
                <a:latin typeface="Courier New" panose="02070309020205020404" pitchFamily="49" charset="0"/>
                <a:cs typeface="Courier New" panose="02070309020205020404" pitchFamily="49" charset="0"/>
              </a:rPr>
              <a:t>    if(fork() &gt; 0)</a:t>
            </a:r>
          </a:p>
          <a:p>
            <a:pPr marL="342900" indent="-342900">
              <a:buAutoNum type="arabicPlain" startAt="7"/>
            </a:pPr>
            <a:r>
              <a:rPr lang="en-GB" sz="1600" b="0" dirty="0">
                <a:latin typeface="Courier New" panose="02070309020205020404" pitchFamily="49" charset="0"/>
                <a:cs typeface="Courier New" panose="02070309020205020404" pitchFamily="49" charset="0"/>
              </a:rPr>
              <a:t>        </a:t>
            </a:r>
            <a:r>
              <a:rPr lang="en-GB" sz="1600" b="0" dirty="0" err="1">
                <a:latin typeface="Courier New" panose="02070309020205020404" pitchFamily="49" charset="0"/>
                <a:cs typeface="Courier New" panose="02070309020205020404" pitchFamily="49" charset="0"/>
              </a:rPr>
              <a:t>execv</a:t>
            </a:r>
            <a:r>
              <a:rPr lang="en-GB" sz="1600" b="0" dirty="0">
                <a:latin typeface="Courier New" panose="02070309020205020404" pitchFamily="49" charset="0"/>
                <a:cs typeface="Courier New" panose="02070309020205020404" pitchFamily="49" charset="0"/>
              </a:rPr>
              <a:t>("/bin/ls",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a:t>
            </a:r>
          </a:p>
          <a:p>
            <a:pPr marL="342900" indent="-342900">
              <a:buAutoNum type="arabicPlain" startAt="7"/>
            </a:pPr>
            <a:r>
              <a:rPr lang="en-GB" sz="1600" b="0" dirty="0">
                <a:latin typeface="Courier New" panose="02070309020205020404" pitchFamily="49" charset="0"/>
                <a:cs typeface="Courier New" panose="02070309020205020404" pitchFamily="49" charset="0"/>
              </a:rPr>
              <a:t>}</a:t>
            </a:r>
          </a:p>
          <a:p>
            <a:r>
              <a:rPr lang="en-GB" sz="1600" b="0" dirty="0">
                <a:latin typeface="Courier New" panose="02070309020205020404" pitchFamily="49" charset="0"/>
                <a:cs typeface="Courier New" panose="02070309020205020404" pitchFamily="49" charset="0"/>
              </a:rPr>
              <a:t>12 return 0;</a:t>
            </a:r>
          </a:p>
          <a:p>
            <a:r>
              <a:rPr lang="en-GB" sz="1600" b="0" dirty="0">
                <a:latin typeface="Courier New" panose="02070309020205020404" pitchFamily="49" charset="0"/>
                <a:cs typeface="Courier New" panose="02070309020205020404" pitchFamily="49" charset="0"/>
              </a:rPr>
              <a:t>13 }</a:t>
            </a:r>
            <a:endParaRPr lang="en-SE" sz="1600" b="0" dirty="0">
              <a:latin typeface="Courier New" panose="02070309020205020404" pitchFamily="49" charset="0"/>
              <a:cs typeface="Courier New" panose="02070309020205020404" pitchFamily="49" charset="0"/>
            </a:endParaRPr>
          </a:p>
        </p:txBody>
      </p:sp>
      <p:graphicFrame>
        <p:nvGraphicFramePr>
          <p:cNvPr id="4" name="Table 3">
            <a:extLst>
              <a:ext uri="{FF2B5EF4-FFF2-40B4-BE49-F238E27FC236}">
                <a16:creationId xmlns:a16="http://schemas.microsoft.com/office/drawing/2014/main" id="{C679C406-A5DD-9DE5-4BED-9E79285D50CA}"/>
              </a:ext>
            </a:extLst>
          </p:cNvPr>
          <p:cNvGraphicFramePr>
            <a:graphicFrameLocks noGrp="1"/>
          </p:cNvGraphicFramePr>
          <p:nvPr>
            <p:extLst>
              <p:ext uri="{D42A27DB-BD31-4B8C-83A1-F6EECF244321}">
                <p14:modId xmlns:p14="http://schemas.microsoft.com/office/powerpoint/2010/main" val="588182092"/>
              </p:ext>
            </p:extLst>
          </p:nvPr>
        </p:nvGraphicFramePr>
        <p:xfrm>
          <a:off x="10211765" y="2590800"/>
          <a:ext cx="381000" cy="1463040"/>
        </p:xfrm>
        <a:graphic>
          <a:graphicData uri="http://schemas.openxmlformats.org/drawingml/2006/table">
            <a:tbl>
              <a:tblPr firstRow="1" bandRow="1">
                <a:tableStyleId>{5940675A-B579-460E-94D1-54222C63F5DA}</a:tableStyleId>
              </a:tblPr>
              <a:tblGrid>
                <a:gridCol w="381000">
                  <a:extLst>
                    <a:ext uri="{9D8B030D-6E8A-4147-A177-3AD203B41FA5}">
                      <a16:colId xmlns:a16="http://schemas.microsoft.com/office/drawing/2014/main" val="985711519"/>
                    </a:ext>
                  </a:extLst>
                </a:gridCol>
              </a:tblGrid>
              <a:tr h="365760">
                <a:tc>
                  <a:txBody>
                    <a:bodyPr/>
                    <a:lstStyle/>
                    <a:p>
                      <a:pPr algn="ctr"/>
                      <a:r>
                        <a:rPr lang="en-US" dirty="0"/>
                        <a:t>0</a:t>
                      </a:r>
                    </a:p>
                  </a:txBody>
                  <a:tcPr>
                    <a:solidFill>
                      <a:schemeClr val="bg1"/>
                    </a:solidFill>
                  </a:tcPr>
                </a:tc>
                <a:extLst>
                  <a:ext uri="{0D108BD9-81ED-4DB2-BD59-A6C34878D82A}">
                    <a16:rowId xmlns:a16="http://schemas.microsoft.com/office/drawing/2014/main" val="4103575840"/>
                  </a:ext>
                </a:extLst>
              </a:tr>
              <a:tr h="365760">
                <a:tc>
                  <a:txBody>
                    <a:bodyPr/>
                    <a:lstStyle/>
                    <a:p>
                      <a:pPr algn="ctr"/>
                      <a:r>
                        <a:rPr lang="en-US" dirty="0"/>
                        <a:t>1</a:t>
                      </a:r>
                    </a:p>
                  </a:txBody>
                  <a:tcPr>
                    <a:solidFill>
                      <a:schemeClr val="bg1"/>
                    </a:solidFill>
                  </a:tcPr>
                </a:tc>
                <a:extLst>
                  <a:ext uri="{0D108BD9-81ED-4DB2-BD59-A6C34878D82A}">
                    <a16:rowId xmlns:a16="http://schemas.microsoft.com/office/drawing/2014/main" val="2524189490"/>
                  </a:ext>
                </a:extLst>
              </a:tr>
              <a:tr h="365760">
                <a:tc>
                  <a:txBody>
                    <a:bodyPr/>
                    <a:lstStyle/>
                    <a:p>
                      <a:pPr algn="ctr"/>
                      <a:r>
                        <a:rPr lang="en-US" dirty="0"/>
                        <a:t>2</a:t>
                      </a:r>
                    </a:p>
                  </a:txBody>
                  <a:tcPr>
                    <a:solidFill>
                      <a:schemeClr val="bg1"/>
                    </a:solidFill>
                  </a:tcPr>
                </a:tc>
                <a:extLst>
                  <a:ext uri="{0D108BD9-81ED-4DB2-BD59-A6C34878D82A}">
                    <a16:rowId xmlns:a16="http://schemas.microsoft.com/office/drawing/2014/main" val="1314026856"/>
                  </a:ext>
                </a:extLst>
              </a:tr>
              <a:tr h="365760">
                <a:tc>
                  <a:txBody>
                    <a:bodyPr/>
                    <a:lstStyle/>
                    <a:p>
                      <a:pPr algn="ctr"/>
                      <a:r>
                        <a:rPr lang="en-US" dirty="0"/>
                        <a:t>3</a:t>
                      </a:r>
                    </a:p>
                  </a:txBody>
                  <a:tcPr>
                    <a:solidFill>
                      <a:schemeClr val="bg1"/>
                    </a:solidFill>
                  </a:tcPr>
                </a:tc>
                <a:extLst>
                  <a:ext uri="{0D108BD9-81ED-4DB2-BD59-A6C34878D82A}">
                    <a16:rowId xmlns:a16="http://schemas.microsoft.com/office/drawing/2014/main" val="3879555514"/>
                  </a:ext>
                </a:extLst>
              </a:tr>
            </a:tbl>
          </a:graphicData>
        </a:graphic>
      </p:graphicFrame>
      <p:graphicFrame>
        <p:nvGraphicFramePr>
          <p:cNvPr id="5" name="Table 4">
            <a:extLst>
              <a:ext uri="{FF2B5EF4-FFF2-40B4-BE49-F238E27FC236}">
                <a16:creationId xmlns:a16="http://schemas.microsoft.com/office/drawing/2014/main" id="{E05F00D2-5B94-B5F7-0608-21544295BA66}"/>
              </a:ext>
            </a:extLst>
          </p:cNvPr>
          <p:cNvGraphicFramePr>
            <a:graphicFrameLocks noGrp="1"/>
          </p:cNvGraphicFramePr>
          <p:nvPr>
            <p:extLst>
              <p:ext uri="{D42A27DB-BD31-4B8C-83A1-F6EECF244321}">
                <p14:modId xmlns:p14="http://schemas.microsoft.com/office/powerpoint/2010/main" val="814027187"/>
              </p:ext>
            </p:extLst>
          </p:nvPr>
        </p:nvGraphicFramePr>
        <p:xfrm>
          <a:off x="10820400" y="4526280"/>
          <a:ext cx="381000" cy="2194560"/>
        </p:xfrm>
        <a:graphic>
          <a:graphicData uri="http://schemas.openxmlformats.org/drawingml/2006/table">
            <a:tbl>
              <a:tblPr firstRow="1" bandRow="1">
                <a:tableStyleId>{5940675A-B579-460E-94D1-54222C63F5DA}</a:tableStyleId>
              </a:tblPr>
              <a:tblGrid>
                <a:gridCol w="381000">
                  <a:extLst>
                    <a:ext uri="{9D8B030D-6E8A-4147-A177-3AD203B41FA5}">
                      <a16:colId xmlns:a16="http://schemas.microsoft.com/office/drawing/2014/main" val="985711519"/>
                    </a:ext>
                  </a:extLst>
                </a:gridCol>
              </a:tblGrid>
              <a:tr h="365760">
                <a:tc>
                  <a:txBody>
                    <a:bodyPr/>
                    <a:lstStyle/>
                    <a:p>
                      <a:pPr algn="ctr"/>
                      <a:r>
                        <a:rPr lang="en-US" dirty="0"/>
                        <a:t>4</a:t>
                      </a:r>
                    </a:p>
                  </a:txBody>
                  <a:tcPr>
                    <a:solidFill>
                      <a:schemeClr val="bg1"/>
                    </a:solidFill>
                  </a:tcPr>
                </a:tc>
                <a:extLst>
                  <a:ext uri="{0D108BD9-81ED-4DB2-BD59-A6C34878D82A}">
                    <a16:rowId xmlns:a16="http://schemas.microsoft.com/office/drawing/2014/main" val="4103575840"/>
                  </a:ext>
                </a:extLst>
              </a:tr>
              <a:tr h="365760">
                <a:tc>
                  <a:txBody>
                    <a:bodyPr/>
                    <a:lstStyle/>
                    <a:p>
                      <a:pPr algn="ctr"/>
                      <a:r>
                        <a:rPr lang="en-US" dirty="0"/>
                        <a:t>5</a:t>
                      </a:r>
                    </a:p>
                  </a:txBody>
                  <a:tcPr>
                    <a:solidFill>
                      <a:schemeClr val="bg1"/>
                    </a:solidFill>
                  </a:tcPr>
                </a:tc>
                <a:extLst>
                  <a:ext uri="{0D108BD9-81ED-4DB2-BD59-A6C34878D82A}">
                    <a16:rowId xmlns:a16="http://schemas.microsoft.com/office/drawing/2014/main" val="2524189490"/>
                  </a:ext>
                </a:extLst>
              </a:tr>
              <a:tr h="365760">
                <a:tc>
                  <a:txBody>
                    <a:bodyPr/>
                    <a:lstStyle/>
                    <a:p>
                      <a:pPr algn="ctr"/>
                      <a:r>
                        <a:rPr lang="en-US" dirty="0"/>
                        <a:t>6</a:t>
                      </a:r>
                    </a:p>
                  </a:txBody>
                  <a:tcPr>
                    <a:solidFill>
                      <a:schemeClr val="bg1"/>
                    </a:solidFill>
                  </a:tcPr>
                </a:tc>
                <a:extLst>
                  <a:ext uri="{0D108BD9-81ED-4DB2-BD59-A6C34878D82A}">
                    <a16:rowId xmlns:a16="http://schemas.microsoft.com/office/drawing/2014/main" val="1314026856"/>
                  </a:ext>
                </a:extLst>
              </a:tr>
              <a:tr h="365760">
                <a:tc>
                  <a:txBody>
                    <a:bodyPr/>
                    <a:lstStyle/>
                    <a:p>
                      <a:pPr algn="ctr"/>
                      <a:r>
                        <a:rPr lang="en-US" dirty="0"/>
                        <a:t>7</a:t>
                      </a:r>
                    </a:p>
                  </a:txBody>
                  <a:tcPr>
                    <a:solidFill>
                      <a:schemeClr val="bg1"/>
                    </a:solidFill>
                  </a:tcPr>
                </a:tc>
                <a:extLst>
                  <a:ext uri="{0D108BD9-81ED-4DB2-BD59-A6C34878D82A}">
                    <a16:rowId xmlns:a16="http://schemas.microsoft.com/office/drawing/2014/main" val="3879555514"/>
                  </a:ext>
                </a:extLst>
              </a:tr>
              <a:tr h="365760">
                <a:tc>
                  <a:txBody>
                    <a:bodyPr/>
                    <a:lstStyle/>
                    <a:p>
                      <a:pPr algn="ctr"/>
                      <a:r>
                        <a:rPr lang="en-US" dirty="0"/>
                        <a:t>8</a:t>
                      </a:r>
                    </a:p>
                  </a:txBody>
                  <a:tcPr>
                    <a:solidFill>
                      <a:schemeClr val="bg1"/>
                    </a:solidFill>
                  </a:tcPr>
                </a:tc>
                <a:extLst>
                  <a:ext uri="{0D108BD9-81ED-4DB2-BD59-A6C34878D82A}">
                    <a16:rowId xmlns:a16="http://schemas.microsoft.com/office/drawing/2014/main" val="14369337"/>
                  </a:ext>
                </a:extLst>
              </a:tr>
              <a:tr h="365760">
                <a:tc>
                  <a:txBody>
                    <a:bodyPr/>
                    <a:lstStyle/>
                    <a:p>
                      <a:pPr algn="ctr"/>
                      <a:r>
                        <a:rPr lang="en-US" dirty="0"/>
                        <a:t>9</a:t>
                      </a:r>
                    </a:p>
                  </a:txBody>
                  <a:tcPr>
                    <a:solidFill>
                      <a:schemeClr val="bg1"/>
                    </a:solidFill>
                  </a:tcPr>
                </a:tc>
                <a:extLst>
                  <a:ext uri="{0D108BD9-81ED-4DB2-BD59-A6C34878D82A}">
                    <a16:rowId xmlns:a16="http://schemas.microsoft.com/office/drawing/2014/main" val="2688088017"/>
                  </a:ext>
                </a:extLst>
              </a:tr>
            </a:tbl>
          </a:graphicData>
        </a:graphic>
      </p:graphicFrame>
      <p:graphicFrame>
        <p:nvGraphicFramePr>
          <p:cNvPr id="7" name="Table 6">
            <a:extLst>
              <a:ext uri="{FF2B5EF4-FFF2-40B4-BE49-F238E27FC236}">
                <a16:creationId xmlns:a16="http://schemas.microsoft.com/office/drawing/2014/main" id="{47467895-8076-6E30-84FD-5C20131EC19F}"/>
              </a:ext>
            </a:extLst>
          </p:cNvPr>
          <p:cNvGraphicFramePr>
            <a:graphicFrameLocks noGrp="1"/>
          </p:cNvGraphicFramePr>
          <p:nvPr>
            <p:extLst>
              <p:ext uri="{D42A27DB-BD31-4B8C-83A1-F6EECF244321}">
                <p14:modId xmlns:p14="http://schemas.microsoft.com/office/powerpoint/2010/main" val="599150720"/>
              </p:ext>
            </p:extLst>
          </p:nvPr>
        </p:nvGraphicFramePr>
        <p:xfrm>
          <a:off x="10210800" y="4526280"/>
          <a:ext cx="381000" cy="365760"/>
        </p:xfrm>
        <a:graphic>
          <a:graphicData uri="http://schemas.openxmlformats.org/drawingml/2006/table">
            <a:tbl>
              <a:tblPr firstRow="1" bandRow="1">
                <a:tableStyleId>{5940675A-B579-460E-94D1-54222C63F5DA}</a:tableStyleId>
              </a:tblPr>
              <a:tblGrid>
                <a:gridCol w="381000">
                  <a:extLst>
                    <a:ext uri="{9D8B030D-6E8A-4147-A177-3AD203B41FA5}">
                      <a16:colId xmlns:a16="http://schemas.microsoft.com/office/drawing/2014/main" val="985711519"/>
                    </a:ext>
                  </a:extLst>
                </a:gridCol>
              </a:tblGrid>
              <a:tr h="365760">
                <a:tc>
                  <a:txBody>
                    <a:bodyPr/>
                    <a:lstStyle/>
                    <a:p>
                      <a:pPr algn="ctr"/>
                      <a:r>
                        <a:rPr lang="en-US" dirty="0"/>
                        <a:t>ls</a:t>
                      </a:r>
                    </a:p>
                  </a:txBody>
                  <a:tcPr>
                    <a:solidFill>
                      <a:schemeClr val="bg1"/>
                    </a:solidFill>
                  </a:tcPr>
                </a:tc>
                <a:extLst>
                  <a:ext uri="{0D108BD9-81ED-4DB2-BD59-A6C34878D82A}">
                    <a16:rowId xmlns:a16="http://schemas.microsoft.com/office/drawing/2014/main" val="4103575840"/>
                  </a:ext>
                </a:extLst>
              </a:tr>
            </a:tbl>
          </a:graphicData>
        </a:graphic>
      </p:graphicFrame>
      <p:cxnSp>
        <p:nvCxnSpPr>
          <p:cNvPr id="8" name="Straight Arrow Connector 7">
            <a:extLst>
              <a:ext uri="{FF2B5EF4-FFF2-40B4-BE49-F238E27FC236}">
                <a16:creationId xmlns:a16="http://schemas.microsoft.com/office/drawing/2014/main" id="{4E3FF515-07A9-1A44-9D1D-47558BD3787D}"/>
              </a:ext>
            </a:extLst>
          </p:cNvPr>
          <p:cNvCxnSpPr>
            <a:cxnSpLocks/>
          </p:cNvCxnSpPr>
          <p:nvPr/>
        </p:nvCxnSpPr>
        <p:spPr bwMode="auto">
          <a:xfrm>
            <a:off x="10446032" y="4041030"/>
            <a:ext cx="540634" cy="464724"/>
          </a:xfrm>
          <a:prstGeom prst="straightConnector1">
            <a:avLst/>
          </a:prstGeom>
          <a:solidFill>
            <a:schemeClr val="bg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 name="Straight Arrow Connector 8">
            <a:extLst>
              <a:ext uri="{FF2B5EF4-FFF2-40B4-BE49-F238E27FC236}">
                <a16:creationId xmlns:a16="http://schemas.microsoft.com/office/drawing/2014/main" id="{7873DAFA-06AC-6660-B171-33C0B232E284}"/>
              </a:ext>
            </a:extLst>
          </p:cNvPr>
          <p:cNvCxnSpPr>
            <a:cxnSpLocks/>
          </p:cNvCxnSpPr>
          <p:nvPr/>
        </p:nvCxnSpPr>
        <p:spPr bwMode="auto">
          <a:xfrm>
            <a:off x="10379356" y="4053840"/>
            <a:ext cx="0" cy="464724"/>
          </a:xfrm>
          <a:prstGeom prst="straightConnector1">
            <a:avLst/>
          </a:prstGeom>
          <a:solidFill>
            <a:schemeClr val="bg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0" name="TextBox 9">
            <a:extLst>
              <a:ext uri="{FF2B5EF4-FFF2-40B4-BE49-F238E27FC236}">
                <a16:creationId xmlns:a16="http://schemas.microsoft.com/office/drawing/2014/main" id="{7CBB8D92-8F26-6ADC-43E7-9D15B65BCB6E}"/>
              </a:ext>
            </a:extLst>
          </p:cNvPr>
          <p:cNvSpPr txBox="1"/>
          <p:nvPr/>
        </p:nvSpPr>
        <p:spPr>
          <a:xfrm>
            <a:off x="11152931" y="4304952"/>
            <a:ext cx="649537" cy="369332"/>
          </a:xfrm>
          <a:prstGeom prst="rect">
            <a:avLst/>
          </a:prstGeom>
          <a:noFill/>
        </p:spPr>
        <p:txBody>
          <a:bodyPr wrap="none" rtlCol="0">
            <a:spAutoFit/>
          </a:bodyPr>
          <a:lstStyle/>
          <a:p>
            <a:r>
              <a:rPr lang="en-US" dirty="0">
                <a:latin typeface="Gill Sans Light"/>
              </a:rPr>
              <a:t>Child</a:t>
            </a:r>
          </a:p>
        </p:txBody>
      </p:sp>
      <p:sp>
        <p:nvSpPr>
          <p:cNvPr id="11" name="TextBox 10">
            <a:extLst>
              <a:ext uri="{FF2B5EF4-FFF2-40B4-BE49-F238E27FC236}">
                <a16:creationId xmlns:a16="http://schemas.microsoft.com/office/drawing/2014/main" id="{2DC845E9-40FA-90FB-6D99-79B5DACADDE6}"/>
              </a:ext>
            </a:extLst>
          </p:cNvPr>
          <p:cNvSpPr txBox="1"/>
          <p:nvPr/>
        </p:nvSpPr>
        <p:spPr>
          <a:xfrm>
            <a:off x="9408622" y="4304952"/>
            <a:ext cx="756682" cy="369332"/>
          </a:xfrm>
          <a:prstGeom prst="rect">
            <a:avLst/>
          </a:prstGeom>
          <a:noFill/>
        </p:spPr>
        <p:txBody>
          <a:bodyPr wrap="none" rtlCol="0">
            <a:spAutoFit/>
          </a:bodyPr>
          <a:lstStyle/>
          <a:p>
            <a:r>
              <a:rPr lang="en-US" dirty="0">
                <a:latin typeface="Gill Sans Light"/>
              </a:rPr>
              <a:t>Parent</a:t>
            </a:r>
          </a:p>
        </p:txBody>
      </p:sp>
    </p:spTree>
    <p:extLst>
      <p:ext uri="{BB962C8B-B14F-4D97-AF65-F5344CB8AC3E}">
        <p14:creationId xmlns:p14="http://schemas.microsoft.com/office/powerpoint/2010/main" val="469440066"/>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3124A-1C52-9C97-DEB9-6568EED7F6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0F1530-BA6F-68FD-251D-AAECBC92A252}"/>
              </a:ext>
            </a:extLst>
          </p:cNvPr>
          <p:cNvSpPr>
            <a:spLocks noGrp="1"/>
          </p:cNvSpPr>
          <p:nvPr>
            <p:ph type="title"/>
          </p:nvPr>
        </p:nvSpPr>
        <p:spPr/>
        <p:txBody>
          <a:bodyPr/>
          <a:lstStyle/>
          <a:p>
            <a:r>
              <a:rPr lang="en-GB" dirty="0"/>
              <a:t>Q2 Processes and Threads </a:t>
            </a:r>
            <a:r>
              <a:rPr lang="en-US" dirty="0"/>
              <a:t>(e) ANS</a:t>
            </a:r>
            <a:endParaRPr lang="en-SE" dirty="0"/>
          </a:p>
        </p:txBody>
      </p:sp>
      <p:sp>
        <p:nvSpPr>
          <p:cNvPr id="3" name="Content Placeholder 2">
            <a:extLst>
              <a:ext uri="{FF2B5EF4-FFF2-40B4-BE49-F238E27FC236}">
                <a16:creationId xmlns:a16="http://schemas.microsoft.com/office/drawing/2014/main" id="{8D5A8B49-A1EC-4C09-AA73-C9E4949C5A07}"/>
              </a:ext>
            </a:extLst>
          </p:cNvPr>
          <p:cNvSpPr>
            <a:spLocks noGrp="1"/>
          </p:cNvSpPr>
          <p:nvPr>
            <p:ph idx="1"/>
          </p:nvPr>
        </p:nvSpPr>
        <p:spPr>
          <a:xfrm>
            <a:off x="812800" y="914400"/>
            <a:ext cx="4064000" cy="5105400"/>
          </a:xfrm>
        </p:spPr>
        <p:txBody>
          <a:bodyPr>
            <a:normAutofit fontScale="85000" lnSpcReduction="20000"/>
          </a:bodyPr>
          <a:lstStyle/>
          <a:p>
            <a:r>
              <a:rPr lang="en-GB" dirty="0"/>
              <a:t>For these questions, assume there is no error, i.e., all fork calls succeed, and the return value of fork() is never negative. </a:t>
            </a:r>
            <a:r>
              <a:rPr lang="en-US" altLang="zh-CN" dirty="0"/>
              <a:t>What does this program print?</a:t>
            </a:r>
          </a:p>
          <a:p>
            <a:r>
              <a:rPr lang="en-US" dirty="0"/>
              <a:t>ANS: Parent prints 0 to 3, then calls fork() to create a child. Sequentially (with no interleaving)</a:t>
            </a:r>
          </a:p>
          <a:p>
            <a:pPr lvl="1"/>
            <a:r>
              <a:rPr lang="en-US" dirty="0"/>
              <a:t>Parent calls wait(NULL) and blocks.</a:t>
            </a:r>
          </a:p>
          <a:p>
            <a:pPr lvl="1"/>
            <a:r>
              <a:rPr lang="en-US" dirty="0"/>
              <a:t>Child executes </a:t>
            </a:r>
            <a:r>
              <a:rPr lang="en-US" dirty="0" err="1"/>
              <a:t>execv</a:t>
            </a:r>
            <a:r>
              <a:rPr lang="en-US" dirty="0"/>
              <a:t> and prints the output of the ls command, then terminates.</a:t>
            </a:r>
          </a:p>
          <a:p>
            <a:pPr lvl="1"/>
            <a:r>
              <a:rPr lang="en-US" dirty="0"/>
              <a:t>Parent resumes execution and continues its loop, printing 4 to 9</a:t>
            </a:r>
          </a:p>
        </p:txBody>
      </p:sp>
      <p:sp>
        <p:nvSpPr>
          <p:cNvPr id="6" name="TextBox 5">
            <a:extLst>
              <a:ext uri="{FF2B5EF4-FFF2-40B4-BE49-F238E27FC236}">
                <a16:creationId xmlns:a16="http://schemas.microsoft.com/office/drawing/2014/main" id="{281D4360-4941-53AA-0166-5B10A1F51565}"/>
              </a:ext>
            </a:extLst>
          </p:cNvPr>
          <p:cNvSpPr txBox="1"/>
          <p:nvPr/>
        </p:nvSpPr>
        <p:spPr>
          <a:xfrm>
            <a:off x="5105400" y="838200"/>
            <a:ext cx="6553200" cy="4031873"/>
          </a:xfrm>
          <a:prstGeom prst="rect">
            <a:avLst/>
          </a:prstGeom>
          <a:noFill/>
          <a:ln>
            <a:solidFill>
              <a:schemeClr val="tx1"/>
            </a:solidFill>
          </a:ln>
        </p:spPr>
        <p:txBody>
          <a:bodyPr wrap="square" rtlCol="0">
            <a:spAutoFit/>
          </a:bodyPr>
          <a:lstStyle/>
          <a:p>
            <a:r>
              <a:rPr lang="en-GB" sz="1600" b="0" dirty="0">
                <a:latin typeface="Courier New" panose="02070309020205020404" pitchFamily="49" charset="0"/>
                <a:cs typeface="Courier New" panose="02070309020205020404" pitchFamily="49" charset="0"/>
              </a:rPr>
              <a:t>1 int main(void) {</a:t>
            </a:r>
          </a:p>
          <a:p>
            <a:r>
              <a:rPr lang="en-GB" sz="1600" b="0" dirty="0">
                <a:latin typeface="Courier New" panose="02070309020205020404" pitchFamily="49" charset="0"/>
                <a:cs typeface="Courier New" panose="02070309020205020404" pitchFamily="49" charset="0"/>
              </a:rPr>
              <a:t>2 char**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 = (char**) malloc(3 * </a:t>
            </a:r>
            <a:r>
              <a:rPr lang="en-GB" sz="1600" b="0" dirty="0" err="1">
                <a:latin typeface="Courier New" panose="02070309020205020404" pitchFamily="49" charset="0"/>
                <a:cs typeface="Courier New" panose="02070309020205020404" pitchFamily="49" charset="0"/>
              </a:rPr>
              <a:t>sizeof</a:t>
            </a:r>
            <a:r>
              <a:rPr lang="en-GB" sz="1600" b="0" dirty="0">
                <a:latin typeface="Courier New" panose="02070309020205020404" pitchFamily="49" charset="0"/>
                <a:cs typeface="Courier New" panose="02070309020205020404" pitchFamily="49" charset="0"/>
              </a:rPr>
              <a:t>(char*));</a:t>
            </a:r>
          </a:p>
          <a:p>
            <a:r>
              <a:rPr lang="en-GB" sz="1600" b="0" dirty="0">
                <a:latin typeface="Courier New" panose="02070309020205020404" pitchFamily="49" charset="0"/>
                <a:cs typeface="Courier New" panose="02070309020205020404" pitchFamily="49" charset="0"/>
              </a:rPr>
              <a:t>3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[0] = "/bin/ls";</a:t>
            </a:r>
          </a:p>
          <a:p>
            <a:r>
              <a:rPr lang="en-GB" sz="1600" b="0" dirty="0">
                <a:latin typeface="Courier New" panose="02070309020205020404" pitchFamily="49" charset="0"/>
                <a:cs typeface="Courier New" panose="02070309020205020404" pitchFamily="49" charset="0"/>
              </a:rPr>
              <a:t>4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[1] = ".";</a:t>
            </a:r>
          </a:p>
          <a:p>
            <a:r>
              <a:rPr lang="en-GB" sz="1600" b="0" dirty="0">
                <a:latin typeface="Courier New" panose="02070309020205020404" pitchFamily="49" charset="0"/>
                <a:cs typeface="Courier New" panose="02070309020205020404" pitchFamily="49" charset="0"/>
              </a:rPr>
              <a:t>5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[2] = NULL;</a:t>
            </a:r>
          </a:p>
          <a:p>
            <a:r>
              <a:rPr lang="en-GB" sz="1600" b="0" dirty="0">
                <a:latin typeface="Courier New" panose="02070309020205020404" pitchFamily="49" charset="0"/>
                <a:cs typeface="Courier New" panose="02070309020205020404" pitchFamily="49" charset="0"/>
              </a:rPr>
              <a:t>6 for (int i = 0; i &lt; 10; i++) {</a:t>
            </a:r>
          </a:p>
          <a:p>
            <a:pPr marL="342900" indent="-342900">
              <a:buAutoNum type="arabicPlain" startAt="7"/>
            </a:pPr>
            <a:r>
              <a:rPr lang="en-GB" sz="1600" b="0" dirty="0" err="1">
                <a:latin typeface="Courier New" panose="02070309020205020404" pitchFamily="49" charset="0"/>
                <a:cs typeface="Courier New" panose="02070309020205020404" pitchFamily="49" charset="0"/>
              </a:rPr>
              <a:t>printf</a:t>
            </a:r>
            <a:r>
              <a:rPr lang="en-GB" sz="1600" b="0" dirty="0">
                <a:latin typeface="Courier New" panose="02070309020205020404" pitchFamily="49" charset="0"/>
                <a:cs typeface="Courier New" panose="02070309020205020404" pitchFamily="49" charset="0"/>
              </a:rPr>
              <a:t>("%d\n", i);</a:t>
            </a:r>
          </a:p>
          <a:p>
            <a:pPr marL="342900" indent="-342900">
              <a:buAutoNum type="arabicPlain" startAt="7"/>
            </a:pPr>
            <a:r>
              <a:rPr lang="en-GB" sz="1600" b="0" dirty="0">
                <a:latin typeface="Courier New" panose="02070309020205020404" pitchFamily="49" charset="0"/>
                <a:cs typeface="Courier New" panose="02070309020205020404" pitchFamily="49" charset="0"/>
              </a:rPr>
              <a:t>if (i == 3) {</a:t>
            </a:r>
          </a:p>
          <a:p>
            <a:pPr marL="342900" indent="-342900">
              <a:buAutoNum type="arabicPlain" startAt="7"/>
            </a:pPr>
            <a:r>
              <a:rPr lang="en-GB" sz="1600" b="0" dirty="0">
                <a:latin typeface="Courier New" panose="02070309020205020404" pitchFamily="49" charset="0"/>
                <a:cs typeface="Courier New" panose="02070309020205020404" pitchFamily="49" charset="0"/>
              </a:rPr>
              <a:t>    ret = fork();</a:t>
            </a:r>
          </a:p>
          <a:p>
            <a:pPr marL="342900" indent="-342900">
              <a:buAutoNum type="arabicPlain" startAt="7"/>
            </a:pPr>
            <a:r>
              <a:rPr lang="en-GB" sz="1600" b="0" dirty="0">
                <a:latin typeface="Courier New" panose="02070309020205020404" pitchFamily="49" charset="0"/>
                <a:cs typeface="Courier New" panose="02070309020205020404" pitchFamily="49" charset="0"/>
              </a:rPr>
              <a:t>    if(ret == 0)</a:t>
            </a:r>
          </a:p>
          <a:p>
            <a:pPr marL="342900" indent="-342900">
              <a:buAutoNum type="arabicPlain" startAt="7"/>
            </a:pPr>
            <a:r>
              <a:rPr lang="en-GB" sz="1600" b="0" dirty="0">
                <a:latin typeface="Courier New" panose="02070309020205020404" pitchFamily="49" charset="0"/>
                <a:cs typeface="Courier New" panose="02070309020205020404" pitchFamily="49" charset="0"/>
              </a:rPr>
              <a:t>        </a:t>
            </a:r>
            <a:r>
              <a:rPr lang="en-GB" sz="1600" b="0" dirty="0" err="1">
                <a:latin typeface="Courier New" panose="02070309020205020404" pitchFamily="49" charset="0"/>
                <a:cs typeface="Courier New" panose="02070309020205020404" pitchFamily="49" charset="0"/>
              </a:rPr>
              <a:t>execv</a:t>
            </a:r>
            <a:r>
              <a:rPr lang="en-GB" sz="1600" b="0" dirty="0">
                <a:latin typeface="Courier New" panose="02070309020205020404" pitchFamily="49" charset="0"/>
                <a:cs typeface="Courier New" panose="02070309020205020404" pitchFamily="49" charset="0"/>
              </a:rPr>
              <a:t>("/bin/ls", </a:t>
            </a:r>
            <a:r>
              <a:rPr lang="en-GB" sz="1600" b="0" dirty="0" err="1">
                <a:latin typeface="Courier New" panose="02070309020205020404" pitchFamily="49" charset="0"/>
                <a:cs typeface="Courier New" panose="02070309020205020404" pitchFamily="49" charset="0"/>
              </a:rPr>
              <a:t>argv</a:t>
            </a:r>
            <a:r>
              <a:rPr lang="en-GB" sz="1600" b="0" dirty="0">
                <a:latin typeface="Courier New" panose="02070309020205020404" pitchFamily="49" charset="0"/>
                <a:cs typeface="Courier New" panose="02070309020205020404" pitchFamily="49" charset="0"/>
              </a:rPr>
              <a:t>);</a:t>
            </a:r>
          </a:p>
          <a:p>
            <a:pPr marL="342900" indent="-342900">
              <a:buAutoNum type="arabicPlain" startAt="7"/>
            </a:pPr>
            <a:r>
              <a:rPr lang="en-GB" sz="1600" b="0" dirty="0">
                <a:latin typeface="Courier New" panose="02070309020205020404" pitchFamily="49" charset="0"/>
                <a:cs typeface="Courier New" panose="02070309020205020404" pitchFamily="49" charset="0"/>
              </a:rPr>
              <a:t>    if(ret &gt; 0)</a:t>
            </a:r>
          </a:p>
          <a:p>
            <a:pPr marL="342900" indent="-342900">
              <a:buAutoNum type="arabicPlain" startAt="7"/>
            </a:pPr>
            <a:r>
              <a:rPr lang="en-GB" sz="1600" b="0" dirty="0">
                <a:latin typeface="Courier New" panose="02070309020205020404" pitchFamily="49" charset="0"/>
                <a:cs typeface="Courier New" panose="02070309020205020404" pitchFamily="49" charset="0"/>
              </a:rPr>
              <a:t>        wait(NULL);</a:t>
            </a:r>
          </a:p>
          <a:p>
            <a:pPr marL="342900" indent="-342900">
              <a:buAutoNum type="arabicPlain" startAt="7"/>
            </a:pPr>
            <a:r>
              <a:rPr lang="en-GB" sz="1600" b="0" dirty="0">
                <a:latin typeface="Courier New" panose="02070309020205020404" pitchFamily="49" charset="0"/>
                <a:cs typeface="Courier New" panose="02070309020205020404" pitchFamily="49" charset="0"/>
              </a:rPr>
              <a:t>}</a:t>
            </a:r>
          </a:p>
          <a:p>
            <a:r>
              <a:rPr lang="en-GB" sz="1600" b="0" dirty="0">
                <a:latin typeface="Courier New" panose="02070309020205020404" pitchFamily="49" charset="0"/>
                <a:cs typeface="Courier New" panose="02070309020205020404" pitchFamily="49" charset="0"/>
              </a:rPr>
              <a:t>12 return 0;</a:t>
            </a:r>
          </a:p>
          <a:p>
            <a:r>
              <a:rPr lang="en-GB" sz="1600" b="0" dirty="0">
                <a:latin typeface="Courier New" panose="02070309020205020404" pitchFamily="49" charset="0"/>
                <a:cs typeface="Courier New" panose="02070309020205020404" pitchFamily="49" charset="0"/>
              </a:rPr>
              <a:t>13 }</a:t>
            </a:r>
            <a:endParaRPr lang="en-SE" sz="1600" b="0" dirty="0">
              <a:latin typeface="Courier New" panose="02070309020205020404" pitchFamily="49" charset="0"/>
              <a:cs typeface="Courier New" panose="02070309020205020404" pitchFamily="49" charset="0"/>
            </a:endParaRPr>
          </a:p>
        </p:txBody>
      </p:sp>
      <p:graphicFrame>
        <p:nvGraphicFramePr>
          <p:cNvPr id="4" name="Table 3">
            <a:extLst>
              <a:ext uri="{FF2B5EF4-FFF2-40B4-BE49-F238E27FC236}">
                <a16:creationId xmlns:a16="http://schemas.microsoft.com/office/drawing/2014/main" id="{5D67267C-1BC5-AA21-CEFC-B61DB256575C}"/>
              </a:ext>
            </a:extLst>
          </p:cNvPr>
          <p:cNvGraphicFramePr>
            <a:graphicFrameLocks noGrp="1"/>
          </p:cNvGraphicFramePr>
          <p:nvPr>
            <p:extLst>
              <p:ext uri="{D42A27DB-BD31-4B8C-83A1-F6EECF244321}">
                <p14:modId xmlns:p14="http://schemas.microsoft.com/office/powerpoint/2010/main" val="4235355362"/>
              </p:ext>
            </p:extLst>
          </p:nvPr>
        </p:nvGraphicFramePr>
        <p:xfrm>
          <a:off x="10211765" y="2590800"/>
          <a:ext cx="381000" cy="1463040"/>
        </p:xfrm>
        <a:graphic>
          <a:graphicData uri="http://schemas.openxmlformats.org/drawingml/2006/table">
            <a:tbl>
              <a:tblPr firstRow="1" bandRow="1">
                <a:tableStyleId>{5940675A-B579-460E-94D1-54222C63F5DA}</a:tableStyleId>
              </a:tblPr>
              <a:tblGrid>
                <a:gridCol w="381000">
                  <a:extLst>
                    <a:ext uri="{9D8B030D-6E8A-4147-A177-3AD203B41FA5}">
                      <a16:colId xmlns:a16="http://schemas.microsoft.com/office/drawing/2014/main" val="985711519"/>
                    </a:ext>
                  </a:extLst>
                </a:gridCol>
              </a:tblGrid>
              <a:tr h="365760">
                <a:tc>
                  <a:txBody>
                    <a:bodyPr/>
                    <a:lstStyle/>
                    <a:p>
                      <a:pPr algn="ctr"/>
                      <a:r>
                        <a:rPr lang="en-US" dirty="0"/>
                        <a:t>0</a:t>
                      </a:r>
                    </a:p>
                  </a:txBody>
                  <a:tcPr>
                    <a:solidFill>
                      <a:schemeClr val="bg1"/>
                    </a:solidFill>
                  </a:tcPr>
                </a:tc>
                <a:extLst>
                  <a:ext uri="{0D108BD9-81ED-4DB2-BD59-A6C34878D82A}">
                    <a16:rowId xmlns:a16="http://schemas.microsoft.com/office/drawing/2014/main" val="4103575840"/>
                  </a:ext>
                </a:extLst>
              </a:tr>
              <a:tr h="365760">
                <a:tc>
                  <a:txBody>
                    <a:bodyPr/>
                    <a:lstStyle/>
                    <a:p>
                      <a:pPr algn="ctr"/>
                      <a:r>
                        <a:rPr lang="en-US" dirty="0"/>
                        <a:t>1</a:t>
                      </a:r>
                    </a:p>
                  </a:txBody>
                  <a:tcPr>
                    <a:solidFill>
                      <a:schemeClr val="bg1"/>
                    </a:solidFill>
                  </a:tcPr>
                </a:tc>
                <a:extLst>
                  <a:ext uri="{0D108BD9-81ED-4DB2-BD59-A6C34878D82A}">
                    <a16:rowId xmlns:a16="http://schemas.microsoft.com/office/drawing/2014/main" val="2524189490"/>
                  </a:ext>
                </a:extLst>
              </a:tr>
              <a:tr h="365760">
                <a:tc>
                  <a:txBody>
                    <a:bodyPr/>
                    <a:lstStyle/>
                    <a:p>
                      <a:pPr algn="ctr"/>
                      <a:r>
                        <a:rPr lang="en-US" dirty="0"/>
                        <a:t>2</a:t>
                      </a:r>
                    </a:p>
                  </a:txBody>
                  <a:tcPr>
                    <a:solidFill>
                      <a:schemeClr val="bg1"/>
                    </a:solidFill>
                  </a:tcPr>
                </a:tc>
                <a:extLst>
                  <a:ext uri="{0D108BD9-81ED-4DB2-BD59-A6C34878D82A}">
                    <a16:rowId xmlns:a16="http://schemas.microsoft.com/office/drawing/2014/main" val="1314026856"/>
                  </a:ext>
                </a:extLst>
              </a:tr>
              <a:tr h="365760">
                <a:tc>
                  <a:txBody>
                    <a:bodyPr/>
                    <a:lstStyle/>
                    <a:p>
                      <a:pPr algn="ctr"/>
                      <a:r>
                        <a:rPr lang="en-US" dirty="0"/>
                        <a:t>3</a:t>
                      </a:r>
                    </a:p>
                  </a:txBody>
                  <a:tcPr>
                    <a:solidFill>
                      <a:schemeClr val="bg1"/>
                    </a:solidFill>
                  </a:tcPr>
                </a:tc>
                <a:extLst>
                  <a:ext uri="{0D108BD9-81ED-4DB2-BD59-A6C34878D82A}">
                    <a16:rowId xmlns:a16="http://schemas.microsoft.com/office/drawing/2014/main" val="3879555514"/>
                  </a:ext>
                </a:extLst>
              </a:tr>
            </a:tbl>
          </a:graphicData>
        </a:graphic>
      </p:graphicFrame>
      <p:graphicFrame>
        <p:nvGraphicFramePr>
          <p:cNvPr id="5" name="Table 4">
            <a:extLst>
              <a:ext uri="{FF2B5EF4-FFF2-40B4-BE49-F238E27FC236}">
                <a16:creationId xmlns:a16="http://schemas.microsoft.com/office/drawing/2014/main" id="{3F5B6721-F35A-1536-1440-E9C6C9F1D578}"/>
              </a:ext>
            </a:extLst>
          </p:cNvPr>
          <p:cNvGraphicFramePr>
            <a:graphicFrameLocks noGrp="1"/>
          </p:cNvGraphicFramePr>
          <p:nvPr>
            <p:extLst>
              <p:ext uri="{D42A27DB-BD31-4B8C-83A1-F6EECF244321}">
                <p14:modId xmlns:p14="http://schemas.microsoft.com/office/powerpoint/2010/main" val="1700816372"/>
              </p:ext>
            </p:extLst>
          </p:nvPr>
        </p:nvGraphicFramePr>
        <p:xfrm>
          <a:off x="10210800" y="4606725"/>
          <a:ext cx="381000" cy="2194560"/>
        </p:xfrm>
        <a:graphic>
          <a:graphicData uri="http://schemas.openxmlformats.org/drawingml/2006/table">
            <a:tbl>
              <a:tblPr firstRow="1" bandRow="1">
                <a:tableStyleId>{5940675A-B579-460E-94D1-54222C63F5DA}</a:tableStyleId>
              </a:tblPr>
              <a:tblGrid>
                <a:gridCol w="381000">
                  <a:extLst>
                    <a:ext uri="{9D8B030D-6E8A-4147-A177-3AD203B41FA5}">
                      <a16:colId xmlns:a16="http://schemas.microsoft.com/office/drawing/2014/main" val="985711519"/>
                    </a:ext>
                  </a:extLst>
                </a:gridCol>
              </a:tblGrid>
              <a:tr h="365760">
                <a:tc>
                  <a:txBody>
                    <a:bodyPr/>
                    <a:lstStyle/>
                    <a:p>
                      <a:pPr algn="ctr"/>
                      <a:r>
                        <a:rPr lang="en-US" dirty="0"/>
                        <a:t>4</a:t>
                      </a:r>
                    </a:p>
                  </a:txBody>
                  <a:tcPr>
                    <a:solidFill>
                      <a:schemeClr val="bg1"/>
                    </a:solidFill>
                  </a:tcPr>
                </a:tc>
                <a:extLst>
                  <a:ext uri="{0D108BD9-81ED-4DB2-BD59-A6C34878D82A}">
                    <a16:rowId xmlns:a16="http://schemas.microsoft.com/office/drawing/2014/main" val="4103575840"/>
                  </a:ext>
                </a:extLst>
              </a:tr>
              <a:tr h="365760">
                <a:tc>
                  <a:txBody>
                    <a:bodyPr/>
                    <a:lstStyle/>
                    <a:p>
                      <a:pPr algn="ctr"/>
                      <a:r>
                        <a:rPr lang="en-US" dirty="0"/>
                        <a:t>5</a:t>
                      </a:r>
                    </a:p>
                  </a:txBody>
                  <a:tcPr>
                    <a:solidFill>
                      <a:schemeClr val="bg1"/>
                    </a:solidFill>
                  </a:tcPr>
                </a:tc>
                <a:extLst>
                  <a:ext uri="{0D108BD9-81ED-4DB2-BD59-A6C34878D82A}">
                    <a16:rowId xmlns:a16="http://schemas.microsoft.com/office/drawing/2014/main" val="2524189490"/>
                  </a:ext>
                </a:extLst>
              </a:tr>
              <a:tr h="365760">
                <a:tc>
                  <a:txBody>
                    <a:bodyPr/>
                    <a:lstStyle/>
                    <a:p>
                      <a:pPr algn="ctr"/>
                      <a:r>
                        <a:rPr lang="en-US" dirty="0"/>
                        <a:t>6</a:t>
                      </a:r>
                    </a:p>
                  </a:txBody>
                  <a:tcPr>
                    <a:solidFill>
                      <a:schemeClr val="bg1"/>
                    </a:solidFill>
                  </a:tcPr>
                </a:tc>
                <a:extLst>
                  <a:ext uri="{0D108BD9-81ED-4DB2-BD59-A6C34878D82A}">
                    <a16:rowId xmlns:a16="http://schemas.microsoft.com/office/drawing/2014/main" val="1314026856"/>
                  </a:ext>
                </a:extLst>
              </a:tr>
              <a:tr h="365760">
                <a:tc>
                  <a:txBody>
                    <a:bodyPr/>
                    <a:lstStyle/>
                    <a:p>
                      <a:pPr algn="ctr"/>
                      <a:r>
                        <a:rPr lang="en-US" dirty="0"/>
                        <a:t>7</a:t>
                      </a:r>
                    </a:p>
                  </a:txBody>
                  <a:tcPr>
                    <a:solidFill>
                      <a:schemeClr val="bg1"/>
                    </a:solidFill>
                  </a:tcPr>
                </a:tc>
                <a:extLst>
                  <a:ext uri="{0D108BD9-81ED-4DB2-BD59-A6C34878D82A}">
                    <a16:rowId xmlns:a16="http://schemas.microsoft.com/office/drawing/2014/main" val="3879555514"/>
                  </a:ext>
                </a:extLst>
              </a:tr>
              <a:tr h="365760">
                <a:tc>
                  <a:txBody>
                    <a:bodyPr/>
                    <a:lstStyle/>
                    <a:p>
                      <a:pPr algn="ctr"/>
                      <a:r>
                        <a:rPr lang="en-US" dirty="0"/>
                        <a:t>8</a:t>
                      </a:r>
                    </a:p>
                  </a:txBody>
                  <a:tcPr>
                    <a:solidFill>
                      <a:schemeClr val="bg1"/>
                    </a:solidFill>
                  </a:tcPr>
                </a:tc>
                <a:extLst>
                  <a:ext uri="{0D108BD9-81ED-4DB2-BD59-A6C34878D82A}">
                    <a16:rowId xmlns:a16="http://schemas.microsoft.com/office/drawing/2014/main" val="14369337"/>
                  </a:ext>
                </a:extLst>
              </a:tr>
              <a:tr h="365760">
                <a:tc>
                  <a:txBody>
                    <a:bodyPr/>
                    <a:lstStyle/>
                    <a:p>
                      <a:pPr algn="ctr"/>
                      <a:r>
                        <a:rPr lang="en-US" dirty="0"/>
                        <a:t>9</a:t>
                      </a:r>
                    </a:p>
                  </a:txBody>
                  <a:tcPr>
                    <a:solidFill>
                      <a:schemeClr val="bg1"/>
                    </a:solidFill>
                  </a:tcPr>
                </a:tc>
                <a:extLst>
                  <a:ext uri="{0D108BD9-81ED-4DB2-BD59-A6C34878D82A}">
                    <a16:rowId xmlns:a16="http://schemas.microsoft.com/office/drawing/2014/main" val="2688088017"/>
                  </a:ext>
                </a:extLst>
              </a:tr>
            </a:tbl>
          </a:graphicData>
        </a:graphic>
      </p:graphicFrame>
      <p:graphicFrame>
        <p:nvGraphicFramePr>
          <p:cNvPr id="7" name="Table 6">
            <a:extLst>
              <a:ext uri="{FF2B5EF4-FFF2-40B4-BE49-F238E27FC236}">
                <a16:creationId xmlns:a16="http://schemas.microsoft.com/office/drawing/2014/main" id="{BA3FD7F7-6731-1FC4-1732-87FE47C0D9F9}"/>
              </a:ext>
            </a:extLst>
          </p:cNvPr>
          <p:cNvGraphicFramePr>
            <a:graphicFrameLocks noGrp="1"/>
          </p:cNvGraphicFramePr>
          <p:nvPr>
            <p:extLst>
              <p:ext uri="{D42A27DB-BD31-4B8C-83A1-F6EECF244321}">
                <p14:modId xmlns:p14="http://schemas.microsoft.com/office/powerpoint/2010/main" val="3449508245"/>
              </p:ext>
            </p:extLst>
          </p:nvPr>
        </p:nvGraphicFramePr>
        <p:xfrm>
          <a:off x="10827152" y="4191000"/>
          <a:ext cx="381000" cy="365760"/>
        </p:xfrm>
        <a:graphic>
          <a:graphicData uri="http://schemas.openxmlformats.org/drawingml/2006/table">
            <a:tbl>
              <a:tblPr firstRow="1" bandRow="1">
                <a:tableStyleId>{5940675A-B579-460E-94D1-54222C63F5DA}</a:tableStyleId>
              </a:tblPr>
              <a:tblGrid>
                <a:gridCol w="381000">
                  <a:extLst>
                    <a:ext uri="{9D8B030D-6E8A-4147-A177-3AD203B41FA5}">
                      <a16:colId xmlns:a16="http://schemas.microsoft.com/office/drawing/2014/main" val="985711519"/>
                    </a:ext>
                  </a:extLst>
                </a:gridCol>
              </a:tblGrid>
              <a:tr h="365760">
                <a:tc>
                  <a:txBody>
                    <a:bodyPr/>
                    <a:lstStyle/>
                    <a:p>
                      <a:pPr algn="ctr"/>
                      <a:r>
                        <a:rPr lang="en-US" dirty="0"/>
                        <a:t>ls</a:t>
                      </a:r>
                    </a:p>
                  </a:txBody>
                  <a:tcPr>
                    <a:solidFill>
                      <a:schemeClr val="bg1"/>
                    </a:solidFill>
                  </a:tcPr>
                </a:tc>
                <a:extLst>
                  <a:ext uri="{0D108BD9-81ED-4DB2-BD59-A6C34878D82A}">
                    <a16:rowId xmlns:a16="http://schemas.microsoft.com/office/drawing/2014/main" val="4103575840"/>
                  </a:ext>
                </a:extLst>
              </a:tr>
            </a:tbl>
          </a:graphicData>
        </a:graphic>
      </p:graphicFrame>
      <p:cxnSp>
        <p:nvCxnSpPr>
          <p:cNvPr id="8" name="Straight Arrow Connector 7">
            <a:extLst>
              <a:ext uri="{FF2B5EF4-FFF2-40B4-BE49-F238E27FC236}">
                <a16:creationId xmlns:a16="http://schemas.microsoft.com/office/drawing/2014/main" id="{2D080D1A-D4D3-62CA-FF63-D3FE82E63A38}"/>
              </a:ext>
            </a:extLst>
          </p:cNvPr>
          <p:cNvCxnSpPr>
            <a:cxnSpLocks/>
            <a:stCxn id="4" idx="2"/>
            <a:endCxn id="7" idx="0"/>
          </p:cNvCxnSpPr>
          <p:nvPr/>
        </p:nvCxnSpPr>
        <p:spPr bwMode="auto">
          <a:xfrm>
            <a:off x="10402265" y="4053840"/>
            <a:ext cx="615387" cy="137160"/>
          </a:xfrm>
          <a:prstGeom prst="straightConnector1">
            <a:avLst/>
          </a:prstGeom>
          <a:solidFill>
            <a:schemeClr val="bg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 name="Straight Arrow Connector 8">
            <a:extLst>
              <a:ext uri="{FF2B5EF4-FFF2-40B4-BE49-F238E27FC236}">
                <a16:creationId xmlns:a16="http://schemas.microsoft.com/office/drawing/2014/main" id="{EFAB7AF9-3555-4AD8-7B1C-5CDBE7031365}"/>
              </a:ext>
            </a:extLst>
          </p:cNvPr>
          <p:cNvCxnSpPr>
            <a:cxnSpLocks/>
          </p:cNvCxnSpPr>
          <p:nvPr/>
        </p:nvCxnSpPr>
        <p:spPr bwMode="auto">
          <a:xfrm>
            <a:off x="10379356" y="4053840"/>
            <a:ext cx="0" cy="464724"/>
          </a:xfrm>
          <a:prstGeom prst="straightConnector1">
            <a:avLst/>
          </a:prstGeom>
          <a:solidFill>
            <a:schemeClr val="bg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0" name="TextBox 9">
            <a:extLst>
              <a:ext uri="{FF2B5EF4-FFF2-40B4-BE49-F238E27FC236}">
                <a16:creationId xmlns:a16="http://schemas.microsoft.com/office/drawing/2014/main" id="{DD4D955B-4FF4-438D-F160-D6C262007CC0}"/>
              </a:ext>
            </a:extLst>
          </p:cNvPr>
          <p:cNvSpPr txBox="1"/>
          <p:nvPr/>
        </p:nvSpPr>
        <p:spPr>
          <a:xfrm>
            <a:off x="10896738" y="3869174"/>
            <a:ext cx="649537" cy="369332"/>
          </a:xfrm>
          <a:prstGeom prst="rect">
            <a:avLst/>
          </a:prstGeom>
          <a:noFill/>
        </p:spPr>
        <p:txBody>
          <a:bodyPr wrap="none" rtlCol="0">
            <a:spAutoFit/>
          </a:bodyPr>
          <a:lstStyle/>
          <a:p>
            <a:r>
              <a:rPr lang="en-US" dirty="0">
                <a:latin typeface="Gill Sans Light"/>
              </a:rPr>
              <a:t>Child</a:t>
            </a:r>
          </a:p>
        </p:txBody>
      </p:sp>
      <p:sp>
        <p:nvSpPr>
          <p:cNvPr id="11" name="TextBox 10">
            <a:extLst>
              <a:ext uri="{FF2B5EF4-FFF2-40B4-BE49-F238E27FC236}">
                <a16:creationId xmlns:a16="http://schemas.microsoft.com/office/drawing/2014/main" id="{7D43448B-3AD8-E188-945D-D315BD0DA137}"/>
              </a:ext>
            </a:extLst>
          </p:cNvPr>
          <p:cNvSpPr txBox="1"/>
          <p:nvPr/>
        </p:nvSpPr>
        <p:spPr>
          <a:xfrm>
            <a:off x="9503670" y="4286202"/>
            <a:ext cx="756682" cy="369332"/>
          </a:xfrm>
          <a:prstGeom prst="rect">
            <a:avLst/>
          </a:prstGeom>
          <a:noFill/>
        </p:spPr>
        <p:txBody>
          <a:bodyPr wrap="none" rtlCol="0">
            <a:spAutoFit/>
          </a:bodyPr>
          <a:lstStyle/>
          <a:p>
            <a:r>
              <a:rPr lang="en-US" dirty="0">
                <a:latin typeface="Gill Sans Light"/>
              </a:rPr>
              <a:t>Parent</a:t>
            </a:r>
          </a:p>
        </p:txBody>
      </p:sp>
      <p:cxnSp>
        <p:nvCxnSpPr>
          <p:cNvPr id="13" name="Straight Arrow Connector 12">
            <a:extLst>
              <a:ext uri="{FF2B5EF4-FFF2-40B4-BE49-F238E27FC236}">
                <a16:creationId xmlns:a16="http://schemas.microsoft.com/office/drawing/2014/main" id="{1C44A5BC-F582-C061-0839-BB3D1765486E}"/>
              </a:ext>
            </a:extLst>
          </p:cNvPr>
          <p:cNvCxnSpPr>
            <a:cxnSpLocks/>
          </p:cNvCxnSpPr>
          <p:nvPr/>
        </p:nvCxnSpPr>
        <p:spPr bwMode="auto">
          <a:xfrm flipH="1">
            <a:off x="10332459" y="4556760"/>
            <a:ext cx="538741" cy="0"/>
          </a:xfrm>
          <a:prstGeom prst="straightConnector1">
            <a:avLst/>
          </a:prstGeom>
          <a:solidFill>
            <a:schemeClr val="bg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2844939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96CE8-8A7E-3FAD-8624-945B46707D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450DBC-4ED0-50FA-5BD1-0B9EFE602668}"/>
              </a:ext>
            </a:extLst>
          </p:cNvPr>
          <p:cNvSpPr>
            <a:spLocks noGrp="1"/>
          </p:cNvSpPr>
          <p:nvPr>
            <p:ph type="title"/>
          </p:nvPr>
        </p:nvSpPr>
        <p:spPr>
          <a:xfrm>
            <a:off x="419449" y="228600"/>
            <a:ext cx="11336392" cy="532956"/>
          </a:xfrm>
        </p:spPr>
        <p:txBody>
          <a:bodyPr/>
          <a:lstStyle/>
          <a:p>
            <a:r>
              <a:rPr lang="en-GB" dirty="0"/>
              <a:t>Q3 Synchronization (a) </a:t>
            </a:r>
            <a:r>
              <a:rPr lang="en-US" dirty="0"/>
              <a:t>ANS</a:t>
            </a:r>
            <a:endParaRPr lang="en-SE" dirty="0"/>
          </a:p>
        </p:txBody>
      </p:sp>
      <p:sp>
        <p:nvSpPr>
          <p:cNvPr id="3" name="Content Placeholder 2">
            <a:extLst>
              <a:ext uri="{FF2B5EF4-FFF2-40B4-BE49-F238E27FC236}">
                <a16:creationId xmlns:a16="http://schemas.microsoft.com/office/drawing/2014/main" id="{3664BC46-97B6-3F77-7FBB-D4ECDEBFB397}"/>
              </a:ext>
            </a:extLst>
          </p:cNvPr>
          <p:cNvSpPr>
            <a:spLocks noGrp="1"/>
          </p:cNvSpPr>
          <p:nvPr>
            <p:ph idx="1"/>
          </p:nvPr>
        </p:nvSpPr>
        <p:spPr>
          <a:xfrm>
            <a:off x="436159" y="761556"/>
            <a:ext cx="11336392" cy="3658044"/>
          </a:xfrm>
        </p:spPr>
        <p:txBody>
          <a:bodyPr/>
          <a:lstStyle/>
          <a:p>
            <a:r>
              <a:rPr lang="en-US" sz="2400" dirty="0"/>
              <a:t>(a) (5 pts) Consider the following concurrent program, where three threads access a shared variable x within critical sections protected by mutex locks. What are the possible final values of x after all threads finish execution? Explain why.</a:t>
            </a:r>
            <a:endParaRPr lang="en-GB" sz="2400" dirty="0"/>
          </a:p>
          <a:p>
            <a:r>
              <a:rPr lang="en-GB" sz="2400" dirty="0"/>
              <a:t>ANS: 0, -1, and 1</a:t>
            </a:r>
          </a:p>
          <a:p>
            <a:r>
              <a:rPr lang="en-GB" sz="2400" dirty="0"/>
              <a:t>With mutex protection, no update to x will be erased. We consider all possible </a:t>
            </a:r>
            <a:r>
              <a:rPr lang="en-GB" sz="2400" dirty="0" err="1"/>
              <a:t>interleavings</a:t>
            </a:r>
            <a:r>
              <a:rPr lang="en-GB" sz="2400" dirty="0"/>
              <a:t> of the three threads.</a:t>
            </a:r>
          </a:p>
          <a:p>
            <a:pPr lvl="1"/>
            <a:r>
              <a:rPr lang="en-GB" sz="1800" dirty="0"/>
              <a:t>Case 1: if T1 and T2 both run before T3, then x=0</a:t>
            </a:r>
          </a:p>
          <a:p>
            <a:pPr lvl="1"/>
            <a:r>
              <a:rPr lang="en-GB" sz="1800" dirty="0"/>
              <a:t>Case 2: if T1 and T2 both run after T3, then x=0</a:t>
            </a:r>
          </a:p>
          <a:p>
            <a:pPr lvl="1"/>
            <a:r>
              <a:rPr lang="en-GB" sz="1800" dirty="0"/>
              <a:t>Case 3: if T1 before T3 before T2, then x=-1</a:t>
            </a:r>
          </a:p>
          <a:p>
            <a:pPr lvl="1"/>
            <a:r>
              <a:rPr lang="en-GB" sz="1800" dirty="0"/>
              <a:t>Case 4: if T2 before T3 before T1, then x=1</a:t>
            </a:r>
          </a:p>
        </p:txBody>
      </p:sp>
      <p:graphicFrame>
        <p:nvGraphicFramePr>
          <p:cNvPr id="6" name="Table 5">
            <a:extLst>
              <a:ext uri="{FF2B5EF4-FFF2-40B4-BE49-F238E27FC236}">
                <a16:creationId xmlns:a16="http://schemas.microsoft.com/office/drawing/2014/main" id="{342CEC8D-05DC-FACA-092C-EF95A207A626}"/>
              </a:ext>
            </a:extLst>
          </p:cNvPr>
          <p:cNvGraphicFramePr>
            <a:graphicFrameLocks noGrp="1"/>
          </p:cNvGraphicFramePr>
          <p:nvPr>
            <p:extLst>
              <p:ext uri="{D42A27DB-BD31-4B8C-83A1-F6EECF244321}">
                <p14:modId xmlns:p14="http://schemas.microsoft.com/office/powerpoint/2010/main" val="4167969693"/>
              </p:ext>
            </p:extLst>
          </p:nvPr>
        </p:nvGraphicFramePr>
        <p:xfrm>
          <a:off x="5939241" y="2968747"/>
          <a:ext cx="5816600" cy="3307080"/>
        </p:xfrm>
        <a:graphic>
          <a:graphicData uri="http://schemas.openxmlformats.org/drawingml/2006/table">
            <a:tbl>
              <a:tblPr firstRow="1" bandRow="1">
                <a:tableStyleId>{5940675A-B579-460E-94D1-54222C63F5DA}</a:tableStyleId>
              </a:tblPr>
              <a:tblGrid>
                <a:gridCol w="5816600">
                  <a:extLst>
                    <a:ext uri="{9D8B030D-6E8A-4147-A177-3AD203B41FA5}">
                      <a16:colId xmlns:a16="http://schemas.microsoft.com/office/drawing/2014/main" val="2983153109"/>
                    </a:ext>
                  </a:extLst>
                </a:gridCol>
              </a:tblGrid>
              <a:tr h="370840">
                <a:tc>
                  <a:txBody>
                    <a:bodyPr/>
                    <a:lstStyle/>
                    <a:p>
                      <a:pPr marL="54610">
                        <a:lnSpc>
                          <a:spcPts val="1420"/>
                        </a:lnSpc>
                      </a:pPr>
                      <a:r>
                        <a:rPr lang="en-GB" sz="1800" b="0" dirty="0" err="1">
                          <a:effectLst/>
                          <a:latin typeface="Courier New" panose="02070309020205020404" pitchFamily="49" charset="0"/>
                          <a:ea typeface="SimSun" panose="02010600030101010101" pitchFamily="2" charset="-122"/>
                          <a:cs typeface="Courier New" panose="02070309020205020404" pitchFamily="49" charset="0"/>
                        </a:rPr>
                        <a:t>pthread_mutex_t</a:t>
                      </a:r>
                      <a:r>
                        <a:rPr lang="en-GB" sz="1800" b="0" dirty="0">
                          <a:effectLst/>
                          <a:latin typeface="Courier New" panose="02070309020205020404" pitchFamily="49" charset="0"/>
                          <a:ea typeface="SimSun" panose="02010600030101010101" pitchFamily="2" charset="-122"/>
                          <a:cs typeface="Courier New" panose="02070309020205020404" pitchFamily="49" charset="0"/>
                        </a:rPr>
                        <a:t> mutex = PTHREAD_MUTEX_INITIALIZER; //mutex is a global shared mutex</a:t>
                      </a:r>
                    </a:p>
                    <a:p>
                      <a:pPr marL="54610">
                        <a:lnSpc>
                          <a:spcPts val="1420"/>
                        </a:lnSpc>
                      </a:pPr>
                      <a:r>
                        <a:rPr lang="en-GB" sz="1800" b="0" dirty="0">
                          <a:effectLst/>
                          <a:latin typeface="Courier New" panose="02070309020205020404" pitchFamily="49" charset="0"/>
                          <a:ea typeface="SimSun" panose="02010600030101010101" pitchFamily="2" charset="-122"/>
                          <a:cs typeface="Courier New" panose="02070309020205020404" pitchFamily="49" charset="0"/>
                        </a:rPr>
                        <a:t>int x=0; //x is a global shared variable</a:t>
                      </a:r>
                    </a:p>
                  </a:txBody>
                  <a:tcPr anchor="ctr"/>
                </a:tc>
                <a:extLst>
                  <a:ext uri="{0D108BD9-81ED-4DB2-BD59-A6C34878D82A}">
                    <a16:rowId xmlns:a16="http://schemas.microsoft.com/office/drawing/2014/main" val="3744293991"/>
                  </a:ext>
                </a:extLst>
              </a:tr>
              <a:tr h="370840">
                <a:tc>
                  <a:txBody>
                    <a:bodyPr/>
                    <a:lstStyle/>
                    <a:p>
                      <a:pPr marL="54610">
                        <a:lnSpc>
                          <a:spcPts val="1420"/>
                        </a:lnSpc>
                      </a:pPr>
                      <a:r>
                        <a:rPr lang="en-GB" sz="1800" b="0" dirty="0">
                          <a:effectLst/>
                          <a:latin typeface="Courier New" panose="02070309020205020404" pitchFamily="49" charset="0"/>
                          <a:ea typeface="SimSun" panose="02010600030101010101" pitchFamily="2" charset="-122"/>
                          <a:cs typeface="Courier New" panose="02070309020205020404" pitchFamily="49" charset="0"/>
                        </a:rPr>
                        <a:t>//Thread T1:</a:t>
                      </a:r>
                    </a:p>
                    <a:p>
                      <a:pPr marL="54610">
                        <a:lnSpc>
                          <a:spcPts val="1420"/>
                        </a:lnSpc>
                      </a:pPr>
                      <a:r>
                        <a:rPr lang="en-GB" sz="1800" b="0" dirty="0" err="1">
                          <a:effectLst/>
                          <a:latin typeface="Courier New" panose="02070309020205020404" pitchFamily="49" charset="0"/>
                          <a:ea typeface="SimSun" panose="02010600030101010101" pitchFamily="2" charset="-122"/>
                          <a:cs typeface="Courier New" panose="02070309020205020404" pitchFamily="49" charset="0"/>
                        </a:rPr>
                        <a:t>pthread_mutex_lock</a:t>
                      </a:r>
                      <a:r>
                        <a:rPr lang="en-GB" sz="1800" b="0" dirty="0">
                          <a:effectLst/>
                          <a:latin typeface="Courier New" panose="02070309020205020404" pitchFamily="49" charset="0"/>
                          <a:ea typeface="SimSun" panose="02010600030101010101" pitchFamily="2" charset="-122"/>
                          <a:cs typeface="Courier New" panose="02070309020205020404" pitchFamily="49" charset="0"/>
                        </a:rPr>
                        <a:t>(&amp;mutex);</a:t>
                      </a:r>
                    </a:p>
                    <a:p>
                      <a:pPr marL="54610">
                        <a:lnSpc>
                          <a:spcPts val="1420"/>
                        </a:lnSpc>
                      </a:pPr>
                      <a:r>
                        <a:rPr lang="en-GB" sz="1800" b="0" dirty="0">
                          <a:effectLst/>
                          <a:latin typeface="Courier New" panose="02070309020205020404" pitchFamily="49" charset="0"/>
                          <a:ea typeface="SimSun" panose="02010600030101010101" pitchFamily="2" charset="-122"/>
                          <a:cs typeface="Courier New" panose="02070309020205020404" pitchFamily="49" charset="0"/>
                        </a:rPr>
                        <a:t>x = x + 2;</a:t>
                      </a:r>
                    </a:p>
                    <a:p>
                      <a:pPr marL="54610">
                        <a:lnSpc>
                          <a:spcPts val="1420"/>
                        </a:lnSpc>
                      </a:pPr>
                      <a:r>
                        <a:rPr lang="en-GB" sz="1800" b="0" dirty="0" err="1">
                          <a:effectLst/>
                          <a:latin typeface="Courier New" panose="02070309020205020404" pitchFamily="49" charset="0"/>
                          <a:ea typeface="SimSun" panose="02010600030101010101" pitchFamily="2" charset="-122"/>
                          <a:cs typeface="Courier New" panose="02070309020205020404" pitchFamily="49" charset="0"/>
                        </a:rPr>
                        <a:t>pthread_mutex_unlock</a:t>
                      </a:r>
                      <a:r>
                        <a:rPr lang="en-GB" sz="1800" b="0" dirty="0">
                          <a:effectLst/>
                          <a:latin typeface="Courier New" panose="02070309020205020404" pitchFamily="49" charset="0"/>
                          <a:ea typeface="SimSun" panose="02010600030101010101" pitchFamily="2" charset="-122"/>
                          <a:cs typeface="Courier New" panose="02070309020205020404" pitchFamily="49" charset="0"/>
                        </a:rPr>
                        <a:t>(&amp;mutex);</a:t>
                      </a:r>
                    </a:p>
                  </a:txBody>
                  <a:tcPr anchor="ctr"/>
                </a:tc>
                <a:extLst>
                  <a:ext uri="{0D108BD9-81ED-4DB2-BD59-A6C34878D82A}">
                    <a16:rowId xmlns:a16="http://schemas.microsoft.com/office/drawing/2014/main" val="2430047613"/>
                  </a:ext>
                </a:extLst>
              </a:tr>
              <a:tr h="370840">
                <a:tc>
                  <a:txBody>
                    <a:bodyPr/>
                    <a:lstStyle/>
                    <a:p>
                      <a:pPr marL="54610">
                        <a:lnSpc>
                          <a:spcPts val="1420"/>
                        </a:lnSpc>
                      </a:pPr>
                      <a:r>
                        <a:rPr lang="en-GB" sz="1800" b="0" dirty="0">
                          <a:effectLst/>
                          <a:latin typeface="Courier New" panose="02070309020205020404" pitchFamily="49" charset="0"/>
                          <a:ea typeface="SimSun" panose="02010600030101010101" pitchFamily="2" charset="-122"/>
                          <a:cs typeface="Courier New" panose="02070309020205020404" pitchFamily="49" charset="0"/>
                        </a:rPr>
                        <a:t>//Thread T2:</a:t>
                      </a:r>
                    </a:p>
                    <a:p>
                      <a:pPr marL="54610">
                        <a:lnSpc>
                          <a:spcPts val="1420"/>
                        </a:lnSpc>
                      </a:pPr>
                      <a:r>
                        <a:rPr lang="en-GB" sz="1800" b="0" dirty="0" err="1">
                          <a:effectLst/>
                          <a:latin typeface="Courier New" panose="02070309020205020404" pitchFamily="49" charset="0"/>
                          <a:ea typeface="SimSun" panose="02010600030101010101" pitchFamily="2" charset="-122"/>
                          <a:cs typeface="Courier New" panose="02070309020205020404" pitchFamily="49" charset="0"/>
                        </a:rPr>
                        <a:t>pthread_mutex_lock</a:t>
                      </a:r>
                      <a:r>
                        <a:rPr lang="en-GB" sz="1800" b="0" dirty="0">
                          <a:effectLst/>
                          <a:latin typeface="Courier New" panose="02070309020205020404" pitchFamily="49" charset="0"/>
                          <a:ea typeface="SimSun" panose="02010600030101010101" pitchFamily="2" charset="-122"/>
                          <a:cs typeface="Courier New" panose="02070309020205020404" pitchFamily="49" charset="0"/>
                        </a:rPr>
                        <a:t>(&amp;mutex);</a:t>
                      </a:r>
                    </a:p>
                    <a:p>
                      <a:pPr marL="54610">
                        <a:lnSpc>
                          <a:spcPts val="1420"/>
                        </a:lnSpc>
                      </a:pPr>
                      <a:r>
                        <a:rPr lang="en-GB" sz="1800" b="0" dirty="0">
                          <a:effectLst/>
                          <a:latin typeface="Courier New" panose="02070309020205020404" pitchFamily="49" charset="0"/>
                          <a:ea typeface="SimSun" panose="02010600030101010101" pitchFamily="2" charset="-122"/>
                          <a:cs typeface="Courier New" panose="02070309020205020404" pitchFamily="49" charset="0"/>
                        </a:rPr>
                        <a:t>x = x - 2;</a:t>
                      </a:r>
                    </a:p>
                    <a:p>
                      <a:pPr marL="54610">
                        <a:lnSpc>
                          <a:spcPts val="1420"/>
                        </a:lnSpc>
                      </a:pPr>
                      <a:r>
                        <a:rPr lang="en-GB" sz="1800" b="0" dirty="0" err="1">
                          <a:effectLst/>
                          <a:latin typeface="Courier New" panose="02070309020205020404" pitchFamily="49" charset="0"/>
                          <a:ea typeface="SimSun" panose="02010600030101010101" pitchFamily="2" charset="-122"/>
                          <a:cs typeface="Courier New" panose="02070309020205020404" pitchFamily="49" charset="0"/>
                        </a:rPr>
                        <a:t>pthread_mutex_unlock</a:t>
                      </a:r>
                      <a:r>
                        <a:rPr lang="en-GB" sz="1800" b="0" dirty="0">
                          <a:effectLst/>
                          <a:latin typeface="Courier New" panose="02070309020205020404" pitchFamily="49" charset="0"/>
                          <a:ea typeface="SimSun" panose="02010600030101010101" pitchFamily="2" charset="-122"/>
                          <a:cs typeface="Courier New" panose="02070309020205020404" pitchFamily="49" charset="0"/>
                        </a:rPr>
                        <a:t>(&amp;mutex);</a:t>
                      </a:r>
                    </a:p>
                  </a:txBody>
                  <a:tcPr anchor="ctr"/>
                </a:tc>
                <a:extLst>
                  <a:ext uri="{0D108BD9-81ED-4DB2-BD59-A6C34878D82A}">
                    <a16:rowId xmlns:a16="http://schemas.microsoft.com/office/drawing/2014/main" val="2861292142"/>
                  </a:ext>
                </a:extLst>
              </a:tr>
              <a:tr h="370840">
                <a:tc>
                  <a:txBody>
                    <a:bodyPr/>
                    <a:lstStyle/>
                    <a:p>
                      <a:pPr marL="54610">
                        <a:lnSpc>
                          <a:spcPts val="1420"/>
                        </a:lnSpc>
                      </a:pPr>
                      <a:r>
                        <a:rPr lang="en-GB" sz="1800" b="0" dirty="0">
                          <a:effectLst/>
                          <a:latin typeface="Courier New" panose="02070309020205020404" pitchFamily="49" charset="0"/>
                          <a:ea typeface="SimSun" panose="02010600030101010101" pitchFamily="2" charset="-122"/>
                          <a:cs typeface="Courier New" panose="02070309020205020404" pitchFamily="49" charset="0"/>
                        </a:rPr>
                        <a:t>//Thread T3:</a:t>
                      </a:r>
                    </a:p>
                    <a:p>
                      <a:pPr marL="54610">
                        <a:lnSpc>
                          <a:spcPts val="1420"/>
                        </a:lnSpc>
                      </a:pPr>
                      <a:r>
                        <a:rPr lang="en-GB" sz="1800" b="0" dirty="0" err="1">
                          <a:effectLst/>
                          <a:latin typeface="Courier New" panose="02070309020205020404" pitchFamily="49" charset="0"/>
                          <a:ea typeface="SimSun" panose="02010600030101010101" pitchFamily="2" charset="-122"/>
                          <a:cs typeface="Courier New" panose="02070309020205020404" pitchFamily="49" charset="0"/>
                        </a:rPr>
                        <a:t>pthread_mutex_lock</a:t>
                      </a:r>
                      <a:r>
                        <a:rPr lang="en-GB" sz="1800" b="0" dirty="0">
                          <a:effectLst/>
                          <a:latin typeface="Courier New" panose="02070309020205020404" pitchFamily="49" charset="0"/>
                          <a:ea typeface="SimSun" panose="02010600030101010101" pitchFamily="2" charset="-122"/>
                          <a:cs typeface="Courier New" panose="02070309020205020404" pitchFamily="49" charset="0"/>
                        </a:rPr>
                        <a:t>(&amp;mutex);</a:t>
                      </a:r>
                    </a:p>
                    <a:p>
                      <a:pPr marL="54610">
                        <a:lnSpc>
                          <a:spcPts val="1420"/>
                        </a:lnSpc>
                      </a:pPr>
                      <a:r>
                        <a:rPr lang="en-GB" sz="1800" b="0" dirty="0">
                          <a:effectLst/>
                          <a:latin typeface="Courier New" panose="02070309020205020404" pitchFamily="49" charset="0"/>
                          <a:ea typeface="SimSun" panose="02010600030101010101" pitchFamily="2" charset="-122"/>
                          <a:cs typeface="Courier New" panose="02070309020205020404" pitchFamily="49" charset="0"/>
                        </a:rPr>
                        <a:t>x = x / 2;</a:t>
                      </a:r>
                    </a:p>
                    <a:p>
                      <a:pPr marL="54610">
                        <a:lnSpc>
                          <a:spcPts val="1420"/>
                        </a:lnSpc>
                      </a:pPr>
                      <a:r>
                        <a:rPr lang="en-GB" sz="1800" b="0" dirty="0" err="1">
                          <a:effectLst/>
                          <a:latin typeface="Courier New" panose="02070309020205020404" pitchFamily="49" charset="0"/>
                          <a:ea typeface="SimSun" panose="02010600030101010101" pitchFamily="2" charset="-122"/>
                          <a:cs typeface="Courier New" panose="02070309020205020404" pitchFamily="49" charset="0"/>
                        </a:rPr>
                        <a:t>pthread_mutex_unlock</a:t>
                      </a:r>
                      <a:r>
                        <a:rPr lang="en-GB" sz="1800" b="0" dirty="0">
                          <a:effectLst/>
                          <a:latin typeface="Courier New" panose="02070309020205020404" pitchFamily="49" charset="0"/>
                          <a:ea typeface="SimSun" panose="02010600030101010101" pitchFamily="2" charset="-122"/>
                          <a:cs typeface="Courier New" panose="02070309020205020404" pitchFamily="49" charset="0"/>
                        </a:rPr>
                        <a:t>(&amp;mutex);</a:t>
                      </a:r>
                    </a:p>
                  </a:txBody>
                  <a:tcPr anchor="ctr"/>
                </a:tc>
                <a:extLst>
                  <a:ext uri="{0D108BD9-81ED-4DB2-BD59-A6C34878D82A}">
                    <a16:rowId xmlns:a16="http://schemas.microsoft.com/office/drawing/2014/main" val="1280205064"/>
                  </a:ext>
                </a:extLst>
              </a:tr>
            </a:tbl>
          </a:graphicData>
        </a:graphic>
      </p:graphicFrame>
    </p:spTree>
    <p:extLst>
      <p:ext uri="{BB962C8B-B14F-4D97-AF65-F5344CB8AC3E}">
        <p14:creationId xmlns:p14="http://schemas.microsoft.com/office/powerpoint/2010/main" val="4078534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69147-D8A5-744A-22F3-73C159A85D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772A3-9ECC-F465-C8FC-D24AA32D9BC6}"/>
              </a:ext>
            </a:extLst>
          </p:cNvPr>
          <p:cNvSpPr>
            <a:spLocks noGrp="1"/>
          </p:cNvSpPr>
          <p:nvPr>
            <p:ph type="title"/>
          </p:nvPr>
        </p:nvSpPr>
        <p:spPr>
          <a:xfrm>
            <a:off x="419449" y="228600"/>
            <a:ext cx="11336392" cy="532956"/>
          </a:xfrm>
        </p:spPr>
        <p:txBody>
          <a:bodyPr/>
          <a:lstStyle/>
          <a:p>
            <a:r>
              <a:rPr lang="en-GB" dirty="0"/>
              <a:t>Q3 Synchronization (b) </a:t>
            </a:r>
            <a:r>
              <a:rPr lang="en-US" dirty="0"/>
              <a:t>ANS</a:t>
            </a:r>
            <a:endParaRPr lang="en-SE" dirty="0"/>
          </a:p>
        </p:txBody>
      </p:sp>
      <p:sp>
        <p:nvSpPr>
          <p:cNvPr id="3" name="Content Placeholder 2">
            <a:extLst>
              <a:ext uri="{FF2B5EF4-FFF2-40B4-BE49-F238E27FC236}">
                <a16:creationId xmlns:a16="http://schemas.microsoft.com/office/drawing/2014/main" id="{9BAD4A21-F929-CC23-D968-3DA8ADD1DDCB}"/>
              </a:ext>
            </a:extLst>
          </p:cNvPr>
          <p:cNvSpPr>
            <a:spLocks noGrp="1"/>
          </p:cNvSpPr>
          <p:nvPr>
            <p:ph idx="1"/>
          </p:nvPr>
        </p:nvSpPr>
        <p:spPr>
          <a:xfrm>
            <a:off x="419449" y="761556"/>
            <a:ext cx="11336392" cy="4267644"/>
          </a:xfrm>
        </p:spPr>
        <p:txBody>
          <a:bodyPr>
            <a:normAutofit fontScale="70000" lnSpcReduction="20000"/>
          </a:bodyPr>
          <a:lstStyle/>
          <a:p>
            <a:r>
              <a:rPr lang="en-US" dirty="0"/>
              <a:t>(b) (5 pts) Consider the following concurrent program, where three threads access a shared variable x without mutex locks. What are the possible final values of x after all threads finish execution? Explain why. </a:t>
            </a:r>
          </a:p>
          <a:p>
            <a:r>
              <a:rPr lang="en-GB" dirty="0"/>
              <a:t>ANS: -2,-1,0,1, or 2.</a:t>
            </a:r>
          </a:p>
          <a:p>
            <a:r>
              <a:rPr lang="en-GB" dirty="0"/>
              <a:t>Each update statement to x can be “erased” by “sneaking in between” the load and store of another update x statement. (c.f. Slide 5 “Race Condition” in L3 Synchronization.) The x=x+2 statement can either do nothing (if erased) or increase x by 2. The x=x-2 statement can either do nothing (if erased) or decrease x by 2. The x=x/2 statement can either do nothing (if erased) or divide x by 2.</a:t>
            </a:r>
          </a:p>
          <a:p>
            <a:r>
              <a:rPr lang="en-GB" dirty="0"/>
              <a:t>Case 1: none of the update statements are erased, so we have 3 possible outputs 0, -1, and 1 as in part a)</a:t>
            </a:r>
          </a:p>
          <a:p>
            <a:r>
              <a:rPr lang="en-GB" dirty="0"/>
              <a:t>Case 2: x=x+2 in T1 and x=x/2 in T3 are both erased, so only x=x-2 in T2 runs successfully, then x=-2. This is the minimum possible value of x.</a:t>
            </a:r>
          </a:p>
          <a:p>
            <a:r>
              <a:rPr lang="en-GB" dirty="0"/>
              <a:t>Case 2: x=x-2 in T2 and x=x/2 in T3 are both erased, so only x=x+2 in T1 runs successfully, then x=2. This is the maximum possible value of x.</a:t>
            </a:r>
          </a:p>
          <a:p>
            <a:r>
              <a:rPr lang="en-GB" dirty="0"/>
              <a:t>You may think of other possible cases, but it is not necessary to enumerate all of them, since they do not </a:t>
            </a:r>
            <a:r>
              <a:rPr lang="en-US" altLang="zh-CN" dirty="0"/>
              <a:t>result in</a:t>
            </a:r>
            <a:r>
              <a:rPr lang="en-GB" dirty="0"/>
              <a:t> any new values for x.</a:t>
            </a:r>
            <a:endParaRPr lang="en-SE" dirty="0"/>
          </a:p>
        </p:txBody>
      </p:sp>
      <p:graphicFrame>
        <p:nvGraphicFramePr>
          <p:cNvPr id="5" name="Table 4">
            <a:extLst>
              <a:ext uri="{FF2B5EF4-FFF2-40B4-BE49-F238E27FC236}">
                <a16:creationId xmlns:a16="http://schemas.microsoft.com/office/drawing/2014/main" id="{B99B1297-A774-517C-8668-C2EA528E8DA7}"/>
              </a:ext>
            </a:extLst>
          </p:cNvPr>
          <p:cNvGraphicFramePr>
            <a:graphicFrameLocks noGrp="1"/>
          </p:cNvGraphicFramePr>
          <p:nvPr>
            <p:extLst>
              <p:ext uri="{D42A27DB-BD31-4B8C-83A1-F6EECF244321}">
                <p14:modId xmlns:p14="http://schemas.microsoft.com/office/powerpoint/2010/main" val="1764141292"/>
              </p:ext>
            </p:extLst>
          </p:nvPr>
        </p:nvGraphicFramePr>
        <p:xfrm>
          <a:off x="3179345" y="4877529"/>
          <a:ext cx="5816600" cy="1784350"/>
        </p:xfrm>
        <a:graphic>
          <a:graphicData uri="http://schemas.openxmlformats.org/drawingml/2006/table">
            <a:tbl>
              <a:tblPr firstRow="1" bandRow="1">
                <a:tableStyleId>{5940675A-B579-460E-94D1-54222C63F5DA}</a:tableStyleId>
              </a:tblPr>
              <a:tblGrid>
                <a:gridCol w="5816600">
                  <a:extLst>
                    <a:ext uri="{9D8B030D-6E8A-4147-A177-3AD203B41FA5}">
                      <a16:colId xmlns:a16="http://schemas.microsoft.com/office/drawing/2014/main" val="2983153109"/>
                    </a:ext>
                  </a:extLst>
                </a:gridCol>
              </a:tblGrid>
              <a:tr h="370840">
                <a:tc>
                  <a:txBody>
                    <a:bodyPr/>
                    <a:lstStyle/>
                    <a:p>
                      <a:pPr marL="54610">
                        <a:lnSpc>
                          <a:spcPts val="1420"/>
                        </a:lnSpc>
                      </a:pPr>
                      <a:r>
                        <a:rPr lang="en-GB" sz="1800" b="0" dirty="0">
                          <a:effectLst/>
                          <a:latin typeface="Courier New" panose="02070309020205020404" pitchFamily="49" charset="0"/>
                          <a:ea typeface="SimSun" panose="02010600030101010101" pitchFamily="2" charset="-122"/>
                          <a:cs typeface="Courier New" panose="02070309020205020404" pitchFamily="49" charset="0"/>
                        </a:rPr>
                        <a:t>int x=0; //x is a global shared variable</a:t>
                      </a:r>
                    </a:p>
                  </a:txBody>
                  <a:tcPr anchor="ctr"/>
                </a:tc>
                <a:extLst>
                  <a:ext uri="{0D108BD9-81ED-4DB2-BD59-A6C34878D82A}">
                    <a16:rowId xmlns:a16="http://schemas.microsoft.com/office/drawing/2014/main" val="3744293991"/>
                  </a:ext>
                </a:extLst>
              </a:tr>
              <a:tr h="370840">
                <a:tc>
                  <a:txBody>
                    <a:bodyPr/>
                    <a:lstStyle/>
                    <a:p>
                      <a:pPr marL="54610">
                        <a:lnSpc>
                          <a:spcPts val="1420"/>
                        </a:lnSpc>
                      </a:pPr>
                      <a:r>
                        <a:rPr lang="en-GB" sz="1800" b="0" dirty="0">
                          <a:effectLst/>
                          <a:latin typeface="Courier New" panose="02070309020205020404" pitchFamily="49" charset="0"/>
                          <a:ea typeface="SimSun" panose="02010600030101010101" pitchFamily="2" charset="-122"/>
                          <a:cs typeface="Courier New" panose="02070309020205020404" pitchFamily="49" charset="0"/>
                        </a:rPr>
                        <a:t>//Thread T1:</a:t>
                      </a:r>
                    </a:p>
                    <a:p>
                      <a:pPr marL="54610">
                        <a:lnSpc>
                          <a:spcPts val="1420"/>
                        </a:lnSpc>
                      </a:pPr>
                      <a:r>
                        <a:rPr lang="en-GB" sz="1800" b="0" dirty="0">
                          <a:effectLst/>
                          <a:latin typeface="Courier New" panose="02070309020205020404" pitchFamily="49" charset="0"/>
                          <a:ea typeface="SimSun" panose="02010600030101010101" pitchFamily="2" charset="-122"/>
                          <a:cs typeface="Courier New" panose="02070309020205020404" pitchFamily="49" charset="0"/>
                        </a:rPr>
                        <a:t>x = x + 2;</a:t>
                      </a:r>
                    </a:p>
                  </a:txBody>
                  <a:tcPr anchor="ctr"/>
                </a:tc>
                <a:extLst>
                  <a:ext uri="{0D108BD9-81ED-4DB2-BD59-A6C34878D82A}">
                    <a16:rowId xmlns:a16="http://schemas.microsoft.com/office/drawing/2014/main" val="2430047613"/>
                  </a:ext>
                </a:extLst>
              </a:tr>
              <a:tr h="370840">
                <a:tc>
                  <a:txBody>
                    <a:bodyPr/>
                    <a:lstStyle/>
                    <a:p>
                      <a:pPr marL="54610">
                        <a:lnSpc>
                          <a:spcPts val="1420"/>
                        </a:lnSpc>
                      </a:pPr>
                      <a:r>
                        <a:rPr lang="en-GB" sz="1800" b="0" dirty="0">
                          <a:effectLst/>
                          <a:latin typeface="Courier New" panose="02070309020205020404" pitchFamily="49" charset="0"/>
                          <a:ea typeface="SimSun" panose="02010600030101010101" pitchFamily="2" charset="-122"/>
                          <a:cs typeface="Courier New" panose="02070309020205020404" pitchFamily="49" charset="0"/>
                        </a:rPr>
                        <a:t>//Thread T2:</a:t>
                      </a:r>
                    </a:p>
                    <a:p>
                      <a:pPr marL="54610">
                        <a:lnSpc>
                          <a:spcPts val="1420"/>
                        </a:lnSpc>
                      </a:pPr>
                      <a:r>
                        <a:rPr lang="en-GB" sz="1800" b="0" dirty="0">
                          <a:effectLst/>
                          <a:latin typeface="Courier New" panose="02070309020205020404" pitchFamily="49" charset="0"/>
                          <a:ea typeface="SimSun" panose="02010600030101010101" pitchFamily="2" charset="-122"/>
                          <a:cs typeface="Courier New" panose="02070309020205020404" pitchFamily="49" charset="0"/>
                        </a:rPr>
                        <a:t>x = x - 2;</a:t>
                      </a:r>
                    </a:p>
                  </a:txBody>
                  <a:tcPr anchor="ctr"/>
                </a:tc>
                <a:extLst>
                  <a:ext uri="{0D108BD9-81ED-4DB2-BD59-A6C34878D82A}">
                    <a16:rowId xmlns:a16="http://schemas.microsoft.com/office/drawing/2014/main" val="2861292142"/>
                  </a:ext>
                </a:extLst>
              </a:tr>
              <a:tr h="0">
                <a:tc>
                  <a:txBody>
                    <a:bodyPr/>
                    <a:lstStyle/>
                    <a:p>
                      <a:pPr marL="54610">
                        <a:lnSpc>
                          <a:spcPts val="1420"/>
                        </a:lnSpc>
                      </a:pPr>
                      <a:r>
                        <a:rPr lang="en-GB" sz="1800" b="0" dirty="0">
                          <a:effectLst/>
                          <a:latin typeface="Courier New" panose="02070309020205020404" pitchFamily="49" charset="0"/>
                          <a:ea typeface="SimSun" panose="02010600030101010101" pitchFamily="2" charset="-122"/>
                          <a:cs typeface="Courier New" panose="02070309020205020404" pitchFamily="49" charset="0"/>
                        </a:rPr>
                        <a:t>//Thread T3:</a:t>
                      </a:r>
                    </a:p>
                    <a:p>
                      <a:pPr marL="54610">
                        <a:lnSpc>
                          <a:spcPts val="1420"/>
                        </a:lnSpc>
                      </a:pPr>
                      <a:r>
                        <a:rPr lang="en-GB" sz="1800" b="0" dirty="0">
                          <a:effectLst/>
                          <a:latin typeface="Courier New" panose="02070309020205020404" pitchFamily="49" charset="0"/>
                          <a:ea typeface="SimSun" panose="02010600030101010101" pitchFamily="2" charset="-122"/>
                          <a:cs typeface="Courier New" panose="02070309020205020404" pitchFamily="49" charset="0"/>
                        </a:rPr>
                        <a:t>x = x / 2;</a:t>
                      </a:r>
                    </a:p>
                  </a:txBody>
                  <a:tcPr anchor="ctr"/>
                </a:tc>
                <a:extLst>
                  <a:ext uri="{0D108BD9-81ED-4DB2-BD59-A6C34878D82A}">
                    <a16:rowId xmlns:a16="http://schemas.microsoft.com/office/drawing/2014/main" val="1280205064"/>
                  </a:ext>
                </a:extLst>
              </a:tr>
            </a:tbl>
          </a:graphicData>
        </a:graphic>
      </p:graphicFrame>
    </p:spTree>
    <p:extLst>
      <p:ext uri="{BB962C8B-B14F-4D97-AF65-F5344CB8AC3E}">
        <p14:creationId xmlns:p14="http://schemas.microsoft.com/office/powerpoint/2010/main" val="9792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66AA0-2768-AC09-E748-D8ECED63CF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81E5B7-DD30-96A1-7B2F-E527A6BECFD8}"/>
              </a:ext>
            </a:extLst>
          </p:cNvPr>
          <p:cNvSpPr>
            <a:spLocks noGrp="1"/>
          </p:cNvSpPr>
          <p:nvPr>
            <p:ph type="title"/>
          </p:nvPr>
        </p:nvSpPr>
        <p:spPr/>
        <p:txBody>
          <a:bodyPr/>
          <a:lstStyle/>
          <a:p>
            <a:r>
              <a:rPr lang="en-GB" dirty="0"/>
              <a:t>Q4 Deadlocks (20 pts)</a:t>
            </a:r>
            <a:endParaRPr lang="en-SE" dirty="0"/>
          </a:p>
        </p:txBody>
      </p:sp>
      <p:sp>
        <p:nvSpPr>
          <p:cNvPr id="3" name="Content Placeholder 2">
            <a:extLst>
              <a:ext uri="{FF2B5EF4-FFF2-40B4-BE49-F238E27FC236}">
                <a16:creationId xmlns:a16="http://schemas.microsoft.com/office/drawing/2014/main" id="{FF3E39E9-BEAC-94AA-B28D-D0D66EE17AB0}"/>
              </a:ext>
            </a:extLst>
          </p:cNvPr>
          <p:cNvSpPr>
            <a:spLocks noGrp="1"/>
          </p:cNvSpPr>
          <p:nvPr>
            <p:ph idx="1"/>
          </p:nvPr>
        </p:nvSpPr>
        <p:spPr>
          <a:xfrm>
            <a:off x="419449" y="1073427"/>
            <a:ext cx="11336392" cy="5138531"/>
          </a:xfrm>
        </p:spPr>
        <p:txBody>
          <a:bodyPr/>
          <a:lstStyle/>
          <a:p>
            <a:r>
              <a:rPr lang="en-GB" dirty="0"/>
              <a:t>Consider the following Resource Allocation Graph with 4 processes and 2 resource types. Number of small circles in the box of resource </a:t>
            </a:r>
            <a:r>
              <a:rPr lang="en-GB" dirty="0" err="1"/>
              <a:t>Rj</a:t>
            </a:r>
            <a:r>
              <a:rPr lang="en-GB" dirty="0"/>
              <a:t> indicates the number of instances of resource </a:t>
            </a:r>
            <a:r>
              <a:rPr lang="en-GB" dirty="0" err="1"/>
              <a:t>Rj</a:t>
            </a:r>
            <a:r>
              <a:rPr lang="en-GB" dirty="0"/>
              <a:t>. An arrow from process Ti to resource </a:t>
            </a:r>
            <a:r>
              <a:rPr lang="en-GB" dirty="0" err="1"/>
              <a:t>Rj</a:t>
            </a:r>
            <a:r>
              <a:rPr lang="en-GB" dirty="0"/>
              <a:t> indicates that Ti requests 1 instance of </a:t>
            </a:r>
            <a:r>
              <a:rPr lang="en-GB" dirty="0" err="1"/>
              <a:t>Rj</a:t>
            </a:r>
            <a:r>
              <a:rPr lang="en-GB" dirty="0"/>
              <a:t>; an arrow from resource </a:t>
            </a:r>
            <a:r>
              <a:rPr lang="en-GB" dirty="0" err="1"/>
              <a:t>Rj</a:t>
            </a:r>
            <a:r>
              <a:rPr lang="en-GB" dirty="0"/>
              <a:t> to process Ti  indicates that Ti is holding 1 instance of </a:t>
            </a:r>
            <a:r>
              <a:rPr lang="en-GB" dirty="0" err="1"/>
              <a:t>Rj</a:t>
            </a:r>
            <a:r>
              <a:rPr lang="en-GB" dirty="0"/>
              <a:t>. </a:t>
            </a:r>
          </a:p>
          <a:p>
            <a:r>
              <a:rPr lang="en-GB" dirty="0"/>
              <a:t>Run Banker’s algorithm to check if the current state is safe, by writing out the matrices Max, Allocation and Need, and vectors Total and Available. If yes, give a safe sequence of process completions and fill in the table with the sequence of process completions without deadlock, and available resources after the completion of each process.</a:t>
            </a:r>
            <a:endParaRPr lang="en-SE" dirty="0"/>
          </a:p>
        </p:txBody>
      </p:sp>
    </p:spTree>
    <p:extLst>
      <p:ext uri="{BB962C8B-B14F-4D97-AF65-F5344CB8AC3E}">
        <p14:creationId xmlns:p14="http://schemas.microsoft.com/office/powerpoint/2010/main" val="2271732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B320E-8294-5709-58E3-2C1035E916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33ABA6-E28D-AEA5-8CA7-38EC5626F154}"/>
              </a:ext>
            </a:extLst>
          </p:cNvPr>
          <p:cNvSpPr>
            <a:spLocks noGrp="1"/>
          </p:cNvSpPr>
          <p:nvPr>
            <p:ph type="title"/>
          </p:nvPr>
        </p:nvSpPr>
        <p:spPr/>
        <p:txBody>
          <a:bodyPr/>
          <a:lstStyle/>
          <a:p>
            <a:r>
              <a:rPr lang="en-GB" dirty="0"/>
              <a:t>Q4 Deadlocks </a:t>
            </a:r>
            <a:r>
              <a:rPr lang="en-GB" dirty="0" err="1"/>
              <a:t>Con’t</a:t>
            </a:r>
            <a:r>
              <a:rPr lang="en-GB" dirty="0"/>
              <a:t> (20 pts)</a:t>
            </a:r>
            <a:endParaRPr lang="en-SE" dirty="0">
              <a:solidFill>
                <a:srgbClr val="FF0000"/>
              </a:solidFill>
            </a:endParaRPr>
          </a:p>
        </p:txBody>
      </p:sp>
      <p:graphicFrame>
        <p:nvGraphicFramePr>
          <p:cNvPr id="6" name="Content Placeholder 5">
            <a:extLst>
              <a:ext uri="{FF2B5EF4-FFF2-40B4-BE49-F238E27FC236}">
                <a16:creationId xmlns:a16="http://schemas.microsoft.com/office/drawing/2014/main" id="{EC5BB419-9A30-FDFB-99D0-B3C0ACF717EE}"/>
              </a:ext>
            </a:extLst>
          </p:cNvPr>
          <p:cNvGraphicFramePr>
            <a:graphicFrameLocks noGrp="1"/>
          </p:cNvGraphicFramePr>
          <p:nvPr>
            <p:ph idx="1"/>
            <p:extLst>
              <p:ext uri="{D42A27DB-BD31-4B8C-83A1-F6EECF244321}">
                <p14:modId xmlns:p14="http://schemas.microsoft.com/office/powerpoint/2010/main" val="2801778720"/>
              </p:ext>
            </p:extLst>
          </p:nvPr>
        </p:nvGraphicFramePr>
        <p:xfrm>
          <a:off x="6549499" y="1360487"/>
          <a:ext cx="1592643" cy="1981200"/>
        </p:xfrm>
        <a:graphic>
          <a:graphicData uri="http://schemas.openxmlformats.org/drawingml/2006/table">
            <a:tbl>
              <a:tblPr firstRow="1" bandRow="1">
                <a:tableStyleId>{5940675A-B579-460E-94D1-54222C63F5DA}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3030728590"/>
                  </a:ext>
                </a:extLst>
              </a:tr>
              <a:tr h="370840">
                <a:tc>
                  <a:txBody>
                    <a:bodyPr/>
                    <a:lstStyle/>
                    <a:p>
                      <a:pPr algn="ctr"/>
                      <a:r>
                        <a:rPr lang="en-US" sz="2000" dirty="0"/>
                        <a:t>T4</a:t>
                      </a: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2126198186"/>
                  </a:ext>
                </a:extLst>
              </a:tr>
            </a:tbl>
          </a:graphicData>
        </a:graphic>
      </p:graphicFrame>
      <p:graphicFrame>
        <p:nvGraphicFramePr>
          <p:cNvPr id="11" name="Content Placeholder 5">
            <a:extLst>
              <a:ext uri="{FF2B5EF4-FFF2-40B4-BE49-F238E27FC236}">
                <a16:creationId xmlns:a16="http://schemas.microsoft.com/office/drawing/2014/main" id="{2483C95A-87B2-2665-CEE2-96087FE1D258}"/>
              </a:ext>
            </a:extLst>
          </p:cNvPr>
          <p:cNvGraphicFramePr>
            <a:graphicFrameLocks/>
          </p:cNvGraphicFramePr>
          <p:nvPr>
            <p:extLst>
              <p:ext uri="{D42A27DB-BD31-4B8C-83A1-F6EECF244321}">
                <p14:modId xmlns:p14="http://schemas.microsoft.com/office/powerpoint/2010/main" val="2546499369"/>
              </p:ext>
            </p:extLst>
          </p:nvPr>
        </p:nvGraphicFramePr>
        <p:xfrm>
          <a:off x="6825337" y="3844607"/>
          <a:ext cx="1061762" cy="792480"/>
        </p:xfrm>
        <a:graphic>
          <a:graphicData uri="http://schemas.openxmlformats.org/drawingml/2006/table">
            <a:tbl>
              <a:tblPr firstRow="1" bandRow="1">
                <a:tableStyleId>{5940675A-B579-460E-94D1-54222C63F5DA}</a:tableStyleId>
              </a:tblPr>
              <a:tblGrid>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tblGrid>
              <a:tr h="370840">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extLst>
                  <a:ext uri="{0D108BD9-81ED-4DB2-BD59-A6C34878D82A}">
                    <a16:rowId xmlns:a16="http://schemas.microsoft.com/office/drawing/2014/main" val="117063772"/>
                  </a:ext>
                </a:extLst>
              </a:tr>
              <a:tr h="370840">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3030728590"/>
                  </a:ext>
                </a:extLst>
              </a:tr>
            </a:tbl>
          </a:graphicData>
        </a:graphic>
      </p:graphicFrame>
      <p:sp>
        <p:nvSpPr>
          <p:cNvPr id="12" name="TextBox 11">
            <a:extLst>
              <a:ext uri="{FF2B5EF4-FFF2-40B4-BE49-F238E27FC236}">
                <a16:creationId xmlns:a16="http://schemas.microsoft.com/office/drawing/2014/main" id="{9E7411D7-5DE5-618F-635E-3A4C3BD0F592}"/>
              </a:ext>
            </a:extLst>
          </p:cNvPr>
          <p:cNvSpPr txBox="1"/>
          <p:nvPr/>
        </p:nvSpPr>
        <p:spPr>
          <a:xfrm>
            <a:off x="6990357" y="1002411"/>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13" name="TextBox 12">
            <a:extLst>
              <a:ext uri="{FF2B5EF4-FFF2-40B4-BE49-F238E27FC236}">
                <a16:creationId xmlns:a16="http://schemas.microsoft.com/office/drawing/2014/main" id="{5B8C9350-3071-95D5-ECAB-38C2ADCBA0ED}"/>
              </a:ext>
            </a:extLst>
          </p:cNvPr>
          <p:cNvSpPr txBox="1"/>
          <p:nvPr/>
        </p:nvSpPr>
        <p:spPr>
          <a:xfrm>
            <a:off x="8449296" y="1002411"/>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14" name="TextBox 13">
            <a:extLst>
              <a:ext uri="{FF2B5EF4-FFF2-40B4-BE49-F238E27FC236}">
                <a16:creationId xmlns:a16="http://schemas.microsoft.com/office/drawing/2014/main" id="{7D440DCA-164D-FB6D-5434-39CF00737434}"/>
              </a:ext>
            </a:extLst>
          </p:cNvPr>
          <p:cNvSpPr txBox="1"/>
          <p:nvPr/>
        </p:nvSpPr>
        <p:spPr>
          <a:xfrm>
            <a:off x="6913844" y="3474977"/>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15" name="TextBox 14">
            <a:extLst>
              <a:ext uri="{FF2B5EF4-FFF2-40B4-BE49-F238E27FC236}">
                <a16:creationId xmlns:a16="http://schemas.microsoft.com/office/drawing/2014/main" id="{55EDC360-9CD2-E91F-E14E-56131B372D8E}"/>
              </a:ext>
            </a:extLst>
          </p:cNvPr>
          <p:cNvSpPr txBox="1"/>
          <p:nvPr/>
        </p:nvSpPr>
        <p:spPr>
          <a:xfrm>
            <a:off x="8419749" y="3474977"/>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graphicFrame>
        <p:nvGraphicFramePr>
          <p:cNvPr id="17" name="Content Placeholder 5">
            <a:extLst>
              <a:ext uri="{FF2B5EF4-FFF2-40B4-BE49-F238E27FC236}">
                <a16:creationId xmlns:a16="http://schemas.microsoft.com/office/drawing/2014/main" id="{6399B877-29EE-60E2-F4FE-28DD2218F4A6}"/>
              </a:ext>
            </a:extLst>
          </p:cNvPr>
          <p:cNvGraphicFramePr>
            <a:graphicFrameLocks/>
          </p:cNvGraphicFramePr>
          <p:nvPr>
            <p:extLst>
              <p:ext uri="{D42A27DB-BD31-4B8C-83A1-F6EECF244321}">
                <p14:modId xmlns:p14="http://schemas.microsoft.com/office/powerpoint/2010/main" val="171550029"/>
              </p:ext>
            </p:extLst>
          </p:nvPr>
        </p:nvGraphicFramePr>
        <p:xfrm>
          <a:off x="8557746" y="3844607"/>
          <a:ext cx="1061762" cy="792480"/>
        </p:xfrm>
        <a:graphic>
          <a:graphicData uri="http://schemas.openxmlformats.org/drawingml/2006/table">
            <a:tbl>
              <a:tblPr firstRow="1" bandRow="1">
                <a:tableStyleId>{5940675A-B579-460E-94D1-54222C63F5DA}</a:tableStyleId>
              </a:tblPr>
              <a:tblGrid>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tblGrid>
              <a:tr h="370840">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extLst>
                  <a:ext uri="{0D108BD9-81ED-4DB2-BD59-A6C34878D82A}">
                    <a16:rowId xmlns:a16="http://schemas.microsoft.com/office/drawing/2014/main" val="117063772"/>
                  </a:ext>
                </a:extLst>
              </a:tr>
              <a:tr h="370840">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3030728590"/>
                  </a:ext>
                </a:extLst>
              </a:tr>
            </a:tbl>
          </a:graphicData>
        </a:graphic>
      </p:graphicFrame>
      <p:sp>
        <p:nvSpPr>
          <p:cNvPr id="20" name="TextBox 19">
            <a:extLst>
              <a:ext uri="{FF2B5EF4-FFF2-40B4-BE49-F238E27FC236}">
                <a16:creationId xmlns:a16="http://schemas.microsoft.com/office/drawing/2014/main" id="{907BFFA4-28F8-4804-8899-BE550CDD6E77}"/>
              </a:ext>
            </a:extLst>
          </p:cNvPr>
          <p:cNvSpPr txBox="1"/>
          <p:nvPr/>
        </p:nvSpPr>
        <p:spPr>
          <a:xfrm>
            <a:off x="10523915" y="1002411"/>
            <a:ext cx="822661" cy="400110"/>
          </a:xfrm>
          <a:prstGeom prst="rect">
            <a:avLst/>
          </a:prstGeom>
          <a:noFill/>
        </p:spPr>
        <p:txBody>
          <a:bodyPr wrap="none" rtlCol="0">
            <a:spAutoFit/>
          </a:bodyPr>
          <a:lstStyle/>
          <a:p>
            <a:r>
              <a:rPr lang="en-GB" sz="2000" b="0" dirty="0">
                <a:solidFill>
                  <a:schemeClr val="dk1"/>
                </a:solidFill>
                <a:latin typeface="+mn-lt"/>
                <a:ea typeface="+mn-ea"/>
                <a:cs typeface="+mn-cs"/>
              </a:rPr>
              <a:t>Need</a:t>
            </a:r>
          </a:p>
        </p:txBody>
      </p:sp>
      <p:grpSp>
        <p:nvGrpSpPr>
          <p:cNvPr id="7" name="Group 248">
            <a:extLst>
              <a:ext uri="{FF2B5EF4-FFF2-40B4-BE49-F238E27FC236}">
                <a16:creationId xmlns:a16="http://schemas.microsoft.com/office/drawing/2014/main" id="{24EE15F0-CD46-1C51-41DF-E7D6C0EBDDC4}"/>
              </a:ext>
            </a:extLst>
          </p:cNvPr>
          <p:cNvGrpSpPr>
            <a:grpSpLocks/>
          </p:cNvGrpSpPr>
          <p:nvPr/>
        </p:nvGrpSpPr>
        <p:grpSpPr bwMode="auto">
          <a:xfrm>
            <a:off x="437920" y="1372511"/>
            <a:ext cx="2782886" cy="3809999"/>
            <a:chOff x="3792" y="624"/>
            <a:chExt cx="1753" cy="2400"/>
          </a:xfrm>
        </p:grpSpPr>
        <p:sp>
          <p:nvSpPr>
            <p:cNvPr id="53" name="Rectangle 200">
              <a:extLst>
                <a:ext uri="{FF2B5EF4-FFF2-40B4-BE49-F238E27FC236}">
                  <a16:creationId xmlns:a16="http://schemas.microsoft.com/office/drawing/2014/main" id="{FE32F780-32B4-D5AE-60FB-9A0C8D1685EE}"/>
                </a:ext>
              </a:extLst>
            </p:cNvPr>
            <p:cNvSpPr>
              <a:spLocks noChangeArrowheads="1"/>
            </p:cNvSpPr>
            <p:nvPr/>
          </p:nvSpPr>
          <p:spPr bwMode="auto">
            <a:xfrm>
              <a:off x="3792" y="624"/>
              <a:ext cx="1753" cy="2400"/>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54" name="Group 247">
              <a:extLst>
                <a:ext uri="{FF2B5EF4-FFF2-40B4-BE49-F238E27FC236}">
                  <a16:creationId xmlns:a16="http://schemas.microsoft.com/office/drawing/2014/main" id="{C5A9C202-0079-4912-1B82-CB3A5CAC95D4}"/>
                </a:ext>
              </a:extLst>
            </p:cNvPr>
            <p:cNvGrpSpPr>
              <a:grpSpLocks/>
            </p:cNvGrpSpPr>
            <p:nvPr/>
          </p:nvGrpSpPr>
          <p:grpSpPr bwMode="auto">
            <a:xfrm>
              <a:off x="3896" y="768"/>
              <a:ext cx="1471" cy="2055"/>
              <a:chOff x="3896" y="768"/>
              <a:chExt cx="1471" cy="2055"/>
            </a:xfrm>
          </p:grpSpPr>
          <p:sp>
            <p:nvSpPr>
              <p:cNvPr id="55" name="Oval 202">
                <a:extLst>
                  <a:ext uri="{FF2B5EF4-FFF2-40B4-BE49-F238E27FC236}">
                    <a16:creationId xmlns:a16="http://schemas.microsoft.com/office/drawing/2014/main" id="{D5B8F928-A534-00F3-8048-623B278F9AD1}"/>
                  </a:ext>
                </a:extLst>
              </p:cNvPr>
              <p:cNvSpPr>
                <a:spLocks noChangeArrowheads="1"/>
              </p:cNvSpPr>
              <p:nvPr/>
            </p:nvSpPr>
            <p:spPr bwMode="auto">
              <a:xfrm>
                <a:off x="3896" y="1631"/>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1</a:t>
                </a:r>
                <a:endParaRPr lang="en-US" b="0">
                  <a:solidFill>
                    <a:srgbClr val="000000"/>
                  </a:solidFill>
                  <a:latin typeface="Helvetica"/>
                </a:endParaRPr>
              </a:p>
            </p:txBody>
          </p:sp>
          <p:sp>
            <p:nvSpPr>
              <p:cNvPr id="56" name="Oval 203">
                <a:extLst>
                  <a:ext uri="{FF2B5EF4-FFF2-40B4-BE49-F238E27FC236}">
                    <a16:creationId xmlns:a16="http://schemas.microsoft.com/office/drawing/2014/main" id="{DBF193A3-8FE4-8717-9C69-C6616F8DEEA6}"/>
                  </a:ext>
                </a:extLst>
              </p:cNvPr>
              <p:cNvSpPr>
                <a:spLocks noChangeArrowheads="1"/>
              </p:cNvSpPr>
              <p:nvPr/>
            </p:nvSpPr>
            <p:spPr bwMode="auto">
              <a:xfrm>
                <a:off x="4969" y="770"/>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2</a:t>
                </a:r>
                <a:endParaRPr lang="en-US" b="0">
                  <a:solidFill>
                    <a:srgbClr val="000000"/>
                  </a:solidFill>
                  <a:latin typeface="Helvetica"/>
                </a:endParaRPr>
              </a:p>
            </p:txBody>
          </p:sp>
          <p:sp>
            <p:nvSpPr>
              <p:cNvPr id="57" name="Oval 204">
                <a:extLst>
                  <a:ext uri="{FF2B5EF4-FFF2-40B4-BE49-F238E27FC236}">
                    <a16:creationId xmlns:a16="http://schemas.microsoft.com/office/drawing/2014/main" id="{AACD4101-F7EB-FE85-709A-4CC6DA2A2A90}"/>
                  </a:ext>
                </a:extLst>
              </p:cNvPr>
              <p:cNvSpPr>
                <a:spLocks noChangeArrowheads="1"/>
              </p:cNvSpPr>
              <p:nvPr/>
            </p:nvSpPr>
            <p:spPr bwMode="auto">
              <a:xfrm>
                <a:off x="4992" y="163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3</a:t>
                </a:r>
                <a:endParaRPr lang="en-US" b="0">
                  <a:solidFill>
                    <a:srgbClr val="000000"/>
                  </a:solidFill>
                  <a:latin typeface="Helvetica"/>
                </a:endParaRPr>
              </a:p>
            </p:txBody>
          </p:sp>
          <p:grpSp>
            <p:nvGrpSpPr>
              <p:cNvPr id="58" name="Group 215">
                <a:extLst>
                  <a:ext uri="{FF2B5EF4-FFF2-40B4-BE49-F238E27FC236}">
                    <a16:creationId xmlns:a16="http://schemas.microsoft.com/office/drawing/2014/main" id="{FCEFC01B-1365-4901-0FF7-4704D1BA110E}"/>
                  </a:ext>
                </a:extLst>
              </p:cNvPr>
              <p:cNvGrpSpPr>
                <a:grpSpLocks/>
              </p:cNvGrpSpPr>
              <p:nvPr/>
            </p:nvGrpSpPr>
            <p:grpSpPr bwMode="auto">
              <a:xfrm>
                <a:off x="4368" y="2160"/>
                <a:ext cx="375" cy="654"/>
                <a:chOff x="672" y="2112"/>
                <a:chExt cx="384" cy="670"/>
              </a:xfrm>
            </p:grpSpPr>
            <p:grpSp>
              <p:nvGrpSpPr>
                <p:cNvPr id="72" name="Group 216">
                  <a:extLst>
                    <a:ext uri="{FF2B5EF4-FFF2-40B4-BE49-F238E27FC236}">
                      <a16:creationId xmlns:a16="http://schemas.microsoft.com/office/drawing/2014/main" id="{1FECEE45-4C75-3579-CCB6-F5C1E12C2E3B}"/>
                    </a:ext>
                  </a:extLst>
                </p:cNvPr>
                <p:cNvGrpSpPr>
                  <a:grpSpLocks/>
                </p:cNvGrpSpPr>
                <p:nvPr/>
              </p:nvGrpSpPr>
              <p:grpSpPr bwMode="auto">
                <a:xfrm>
                  <a:off x="672" y="2112"/>
                  <a:ext cx="384" cy="432"/>
                  <a:chOff x="672" y="2064"/>
                  <a:chExt cx="384" cy="432"/>
                </a:xfrm>
              </p:grpSpPr>
              <p:sp>
                <p:nvSpPr>
                  <p:cNvPr id="74" name="Rectangle 217">
                    <a:extLst>
                      <a:ext uri="{FF2B5EF4-FFF2-40B4-BE49-F238E27FC236}">
                        <a16:creationId xmlns:a16="http://schemas.microsoft.com/office/drawing/2014/main" id="{906D5C57-B38A-A484-F6E3-F4C4BE90FA02}"/>
                      </a:ext>
                    </a:extLst>
                  </p:cNvPr>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75" name="Oval 218">
                    <a:extLst>
                      <a:ext uri="{FF2B5EF4-FFF2-40B4-BE49-F238E27FC236}">
                        <a16:creationId xmlns:a16="http://schemas.microsoft.com/office/drawing/2014/main" id="{F5E9F68A-25A8-86AA-E37E-090C2A7BBC24}"/>
                      </a:ext>
                    </a:extLst>
                  </p:cNvPr>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76" name="Oval 219">
                    <a:extLst>
                      <a:ext uri="{FF2B5EF4-FFF2-40B4-BE49-F238E27FC236}">
                        <a16:creationId xmlns:a16="http://schemas.microsoft.com/office/drawing/2014/main" id="{12B94706-A604-D902-765C-02F3FF9EB5AF}"/>
                      </a:ext>
                    </a:extLst>
                  </p:cNvPr>
                  <p:cNvSpPr>
                    <a:spLocks noChangeArrowheads="1"/>
                  </p:cNvSpPr>
                  <p:nvPr/>
                </p:nvSpPr>
                <p:spPr bwMode="auto">
                  <a:xfrm>
                    <a:off x="840" y="2324"/>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73" name="Text Box 220">
                  <a:extLst>
                    <a:ext uri="{FF2B5EF4-FFF2-40B4-BE49-F238E27FC236}">
                      <a16:creationId xmlns:a16="http://schemas.microsoft.com/office/drawing/2014/main" id="{D7B6139B-355E-0582-12AF-F6E62B0CFF13}"/>
                    </a:ext>
                  </a:extLst>
                </p:cNvPr>
                <p:cNvSpPr txBox="1">
                  <a:spLocks noChangeArrowheads="1"/>
                </p:cNvSpPr>
                <p:nvPr/>
              </p:nvSpPr>
              <p:spPr bwMode="auto">
                <a:xfrm>
                  <a:off x="723" y="2544"/>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2</a:t>
                  </a:r>
                  <a:endParaRPr lang="en-US" b="0">
                    <a:solidFill>
                      <a:srgbClr val="000000"/>
                    </a:solidFill>
                    <a:latin typeface="Helvetica"/>
                  </a:endParaRPr>
                </a:p>
              </p:txBody>
            </p:sp>
          </p:grpSp>
          <p:sp>
            <p:nvSpPr>
              <p:cNvPr id="59" name="Line 228">
                <a:extLst>
                  <a:ext uri="{FF2B5EF4-FFF2-40B4-BE49-F238E27FC236}">
                    <a16:creationId xmlns:a16="http://schemas.microsoft.com/office/drawing/2014/main" id="{42558049-4185-BA7A-A479-18CFEB01411B}"/>
                  </a:ext>
                </a:extLst>
              </p:cNvPr>
              <p:cNvSpPr>
                <a:spLocks noChangeShapeType="1"/>
              </p:cNvSpPr>
              <p:nvPr/>
            </p:nvSpPr>
            <p:spPr bwMode="auto">
              <a:xfrm flipV="1">
                <a:off x="4178" y="1425"/>
                <a:ext cx="184" cy="254"/>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60" name="Line 232">
                <a:extLst>
                  <a:ext uri="{FF2B5EF4-FFF2-40B4-BE49-F238E27FC236}">
                    <a16:creationId xmlns:a16="http://schemas.microsoft.com/office/drawing/2014/main" id="{DFD043DC-4A81-1DCC-5663-4E044DDE9640}"/>
                  </a:ext>
                </a:extLst>
              </p:cNvPr>
              <p:cNvSpPr>
                <a:spLocks noChangeShapeType="1"/>
              </p:cNvSpPr>
              <p:nvPr/>
            </p:nvSpPr>
            <p:spPr bwMode="auto">
              <a:xfrm flipH="1" flipV="1">
                <a:off x="4194" y="1969"/>
                <a:ext cx="355" cy="32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61" name="Line 233">
                <a:extLst>
                  <a:ext uri="{FF2B5EF4-FFF2-40B4-BE49-F238E27FC236}">
                    <a16:creationId xmlns:a16="http://schemas.microsoft.com/office/drawing/2014/main" id="{BAE1C063-FAA8-912A-A191-966F3AD1B9A1}"/>
                  </a:ext>
                </a:extLst>
              </p:cNvPr>
              <p:cNvSpPr>
                <a:spLocks noChangeShapeType="1"/>
              </p:cNvSpPr>
              <p:nvPr/>
            </p:nvSpPr>
            <p:spPr bwMode="auto">
              <a:xfrm>
                <a:off x="4547" y="2437"/>
                <a:ext cx="445" cy="155"/>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62" name="Line 234">
                <a:extLst>
                  <a:ext uri="{FF2B5EF4-FFF2-40B4-BE49-F238E27FC236}">
                    <a16:creationId xmlns:a16="http://schemas.microsoft.com/office/drawing/2014/main" id="{DAFCADE4-B912-9616-3F9A-8DD060676DFE}"/>
                  </a:ext>
                </a:extLst>
              </p:cNvPr>
              <p:cNvSpPr>
                <a:spLocks noChangeShapeType="1"/>
              </p:cNvSpPr>
              <p:nvPr/>
            </p:nvSpPr>
            <p:spPr bwMode="auto">
              <a:xfrm flipH="1">
                <a:off x="4750" y="1926"/>
                <a:ext cx="274" cy="23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63" name="Group 243">
                <a:extLst>
                  <a:ext uri="{FF2B5EF4-FFF2-40B4-BE49-F238E27FC236}">
                    <a16:creationId xmlns:a16="http://schemas.microsoft.com/office/drawing/2014/main" id="{CF126840-7B09-7868-F392-384CA9318E5A}"/>
                  </a:ext>
                </a:extLst>
              </p:cNvPr>
              <p:cNvGrpSpPr>
                <a:grpSpLocks/>
              </p:cNvGrpSpPr>
              <p:nvPr/>
            </p:nvGrpSpPr>
            <p:grpSpPr bwMode="auto">
              <a:xfrm>
                <a:off x="4368" y="768"/>
                <a:ext cx="375" cy="662"/>
                <a:chOff x="4368" y="768"/>
                <a:chExt cx="375" cy="662"/>
              </a:xfrm>
            </p:grpSpPr>
            <p:grpSp>
              <p:nvGrpSpPr>
                <p:cNvPr id="67" name="Group 237">
                  <a:extLst>
                    <a:ext uri="{FF2B5EF4-FFF2-40B4-BE49-F238E27FC236}">
                      <a16:creationId xmlns:a16="http://schemas.microsoft.com/office/drawing/2014/main" id="{B3D8DA62-DB9A-26C4-23A6-2256640C8CF9}"/>
                    </a:ext>
                  </a:extLst>
                </p:cNvPr>
                <p:cNvGrpSpPr>
                  <a:grpSpLocks/>
                </p:cNvGrpSpPr>
                <p:nvPr/>
              </p:nvGrpSpPr>
              <p:grpSpPr bwMode="auto">
                <a:xfrm flipV="1">
                  <a:off x="4368" y="1008"/>
                  <a:ext cx="375" cy="422"/>
                  <a:chOff x="672" y="2064"/>
                  <a:chExt cx="384" cy="432"/>
                </a:xfrm>
              </p:grpSpPr>
              <p:sp>
                <p:nvSpPr>
                  <p:cNvPr id="69" name="Rectangle 238">
                    <a:extLst>
                      <a:ext uri="{FF2B5EF4-FFF2-40B4-BE49-F238E27FC236}">
                        <a16:creationId xmlns:a16="http://schemas.microsoft.com/office/drawing/2014/main" id="{2E99FC25-406D-A7EC-699A-9116305A9389}"/>
                      </a:ext>
                    </a:extLst>
                  </p:cNvPr>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70" name="Oval 239">
                    <a:extLst>
                      <a:ext uri="{FF2B5EF4-FFF2-40B4-BE49-F238E27FC236}">
                        <a16:creationId xmlns:a16="http://schemas.microsoft.com/office/drawing/2014/main" id="{98EE13F5-7473-F194-F3D8-24E5F787093D}"/>
                      </a:ext>
                    </a:extLst>
                  </p:cNvPr>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71" name="Oval 240">
                    <a:extLst>
                      <a:ext uri="{FF2B5EF4-FFF2-40B4-BE49-F238E27FC236}">
                        <a16:creationId xmlns:a16="http://schemas.microsoft.com/office/drawing/2014/main" id="{DD9E7A5B-C9D4-3074-00B8-45D6DD4AF59E}"/>
                      </a:ext>
                    </a:extLst>
                  </p:cNvPr>
                  <p:cNvSpPr>
                    <a:spLocks noChangeArrowheads="1"/>
                  </p:cNvSpPr>
                  <p:nvPr/>
                </p:nvSpPr>
                <p:spPr bwMode="auto">
                  <a:xfrm>
                    <a:off x="840" y="2324"/>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68" name="Text Box 241">
                  <a:extLst>
                    <a:ext uri="{FF2B5EF4-FFF2-40B4-BE49-F238E27FC236}">
                      <a16:creationId xmlns:a16="http://schemas.microsoft.com/office/drawing/2014/main" id="{618AF7DA-D921-A01B-19C4-5B0C5E2A8039}"/>
                    </a:ext>
                  </a:extLst>
                </p:cNvPr>
                <p:cNvSpPr txBox="1">
                  <a:spLocks noChangeArrowheads="1"/>
                </p:cNvSpPr>
                <p:nvPr/>
              </p:nvSpPr>
              <p:spPr bwMode="auto">
                <a:xfrm>
                  <a:off x="4412" y="768"/>
                  <a:ext cx="275" cy="233"/>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1</a:t>
                  </a:r>
                  <a:endParaRPr lang="en-US" b="0">
                    <a:solidFill>
                      <a:srgbClr val="000000"/>
                    </a:solidFill>
                    <a:latin typeface="Helvetica"/>
                  </a:endParaRPr>
                </a:p>
              </p:txBody>
            </p:sp>
          </p:grpSp>
          <p:sp>
            <p:nvSpPr>
              <p:cNvPr id="64" name="Oval 242">
                <a:extLst>
                  <a:ext uri="{FF2B5EF4-FFF2-40B4-BE49-F238E27FC236}">
                    <a16:creationId xmlns:a16="http://schemas.microsoft.com/office/drawing/2014/main" id="{4EF8D12F-0A83-23E6-9FB0-5B10C6C81901}"/>
                  </a:ext>
                </a:extLst>
              </p:cNvPr>
              <p:cNvSpPr>
                <a:spLocks noChangeArrowheads="1"/>
              </p:cNvSpPr>
              <p:nvPr/>
            </p:nvSpPr>
            <p:spPr bwMode="auto">
              <a:xfrm>
                <a:off x="4992" y="2448"/>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4</a:t>
                </a:r>
                <a:endParaRPr lang="en-US" b="0">
                  <a:solidFill>
                    <a:srgbClr val="000000"/>
                  </a:solidFill>
                  <a:latin typeface="Helvetica"/>
                </a:endParaRPr>
              </a:p>
            </p:txBody>
          </p:sp>
          <p:sp>
            <p:nvSpPr>
              <p:cNvPr id="65" name="Line 244">
                <a:extLst>
                  <a:ext uri="{FF2B5EF4-FFF2-40B4-BE49-F238E27FC236}">
                    <a16:creationId xmlns:a16="http://schemas.microsoft.com/office/drawing/2014/main" id="{3DEC0E3C-4B5D-42D4-2ADD-B59EEA9DC8D3}"/>
                  </a:ext>
                </a:extLst>
              </p:cNvPr>
              <p:cNvSpPr>
                <a:spLocks noChangeShapeType="1"/>
              </p:cNvSpPr>
              <p:nvPr/>
            </p:nvSpPr>
            <p:spPr bwMode="auto">
              <a:xfrm>
                <a:off x="4553" y="1302"/>
                <a:ext cx="465" cy="387"/>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66" name="Line 245">
                <a:extLst>
                  <a:ext uri="{FF2B5EF4-FFF2-40B4-BE49-F238E27FC236}">
                    <a16:creationId xmlns:a16="http://schemas.microsoft.com/office/drawing/2014/main" id="{3B34F2FB-A55B-1C08-B08B-00B17BFA32CA}"/>
                  </a:ext>
                </a:extLst>
              </p:cNvPr>
              <p:cNvSpPr>
                <a:spLocks noChangeShapeType="1"/>
              </p:cNvSpPr>
              <p:nvPr/>
            </p:nvSpPr>
            <p:spPr bwMode="auto">
              <a:xfrm flipV="1">
                <a:off x="4553" y="1002"/>
                <a:ext cx="418" cy="158"/>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grpSp>
      <p:graphicFrame>
        <p:nvGraphicFramePr>
          <p:cNvPr id="77" name="Content Placeholder 5">
            <a:extLst>
              <a:ext uri="{FF2B5EF4-FFF2-40B4-BE49-F238E27FC236}">
                <a16:creationId xmlns:a16="http://schemas.microsoft.com/office/drawing/2014/main" id="{FF703E7E-2A67-46E2-EDB5-26CD77FDC9AD}"/>
              </a:ext>
            </a:extLst>
          </p:cNvPr>
          <p:cNvGraphicFramePr>
            <a:graphicFrameLocks/>
          </p:cNvGraphicFramePr>
          <p:nvPr>
            <p:extLst>
              <p:ext uri="{D42A27DB-BD31-4B8C-83A1-F6EECF244321}">
                <p14:modId xmlns:p14="http://schemas.microsoft.com/office/powerpoint/2010/main" val="2834340052"/>
              </p:ext>
            </p:extLst>
          </p:nvPr>
        </p:nvGraphicFramePr>
        <p:xfrm>
          <a:off x="8392177" y="1360487"/>
          <a:ext cx="1592643" cy="1981200"/>
        </p:xfrm>
        <a:graphic>
          <a:graphicData uri="http://schemas.openxmlformats.org/drawingml/2006/table">
            <a:tbl>
              <a:tblPr firstRow="1" bandRow="1">
                <a:tableStyleId>{5940675A-B579-460E-94D1-54222C63F5DA}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3030728590"/>
                  </a:ext>
                </a:extLst>
              </a:tr>
              <a:tr h="370840">
                <a:tc>
                  <a:txBody>
                    <a:bodyPr/>
                    <a:lstStyle/>
                    <a:p>
                      <a:pPr algn="ctr"/>
                      <a:r>
                        <a:rPr lang="en-US" sz="2000" dirty="0"/>
                        <a:t>T4</a:t>
                      </a: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2126198186"/>
                  </a:ext>
                </a:extLst>
              </a:tr>
            </a:tbl>
          </a:graphicData>
        </a:graphic>
      </p:graphicFrame>
      <p:graphicFrame>
        <p:nvGraphicFramePr>
          <p:cNvPr id="78" name="Content Placeholder 5">
            <a:extLst>
              <a:ext uri="{FF2B5EF4-FFF2-40B4-BE49-F238E27FC236}">
                <a16:creationId xmlns:a16="http://schemas.microsoft.com/office/drawing/2014/main" id="{25805496-44EE-B1DE-600E-BFE8B8A3EE81}"/>
              </a:ext>
            </a:extLst>
          </p:cNvPr>
          <p:cNvGraphicFramePr>
            <a:graphicFrameLocks/>
          </p:cNvGraphicFramePr>
          <p:nvPr>
            <p:extLst>
              <p:ext uri="{D42A27DB-BD31-4B8C-83A1-F6EECF244321}">
                <p14:modId xmlns:p14="http://schemas.microsoft.com/office/powerpoint/2010/main" val="2334099785"/>
              </p:ext>
            </p:extLst>
          </p:nvPr>
        </p:nvGraphicFramePr>
        <p:xfrm>
          <a:off x="10178783" y="1360487"/>
          <a:ext cx="1592643" cy="1981200"/>
        </p:xfrm>
        <a:graphic>
          <a:graphicData uri="http://schemas.openxmlformats.org/drawingml/2006/table">
            <a:tbl>
              <a:tblPr firstRow="1" bandRow="1">
                <a:tableStyleId>{5940675A-B579-460E-94D1-54222C63F5DA}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3030728590"/>
                  </a:ext>
                </a:extLst>
              </a:tr>
              <a:tr h="370840">
                <a:tc>
                  <a:txBody>
                    <a:bodyPr/>
                    <a:lstStyle/>
                    <a:p>
                      <a:pPr algn="ctr"/>
                      <a:r>
                        <a:rPr lang="en-US" sz="2000" dirty="0"/>
                        <a:t>T4</a:t>
                      </a: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2126198186"/>
                  </a:ext>
                </a:extLst>
              </a:tr>
            </a:tbl>
          </a:graphicData>
        </a:graphic>
      </p:graphicFrame>
      <p:graphicFrame>
        <p:nvGraphicFramePr>
          <p:cNvPr id="80" name="Content Placeholder 5">
            <a:extLst>
              <a:ext uri="{FF2B5EF4-FFF2-40B4-BE49-F238E27FC236}">
                <a16:creationId xmlns:a16="http://schemas.microsoft.com/office/drawing/2014/main" id="{64953870-9B06-9AF9-CED8-58E349BF5647}"/>
              </a:ext>
            </a:extLst>
          </p:cNvPr>
          <p:cNvGraphicFramePr>
            <a:graphicFrameLocks/>
          </p:cNvGraphicFramePr>
          <p:nvPr>
            <p:extLst>
              <p:ext uri="{D42A27DB-BD31-4B8C-83A1-F6EECF244321}">
                <p14:modId xmlns:p14="http://schemas.microsoft.com/office/powerpoint/2010/main" val="1159138960"/>
              </p:ext>
            </p:extLst>
          </p:nvPr>
        </p:nvGraphicFramePr>
        <p:xfrm>
          <a:off x="10047142" y="3844607"/>
          <a:ext cx="1891746" cy="2377440"/>
        </p:xfrm>
        <a:graphic>
          <a:graphicData uri="http://schemas.openxmlformats.org/drawingml/2006/table">
            <a:tbl>
              <a:tblPr firstRow="1" bandRow="1">
                <a:tableStyleId>{5940675A-B579-460E-94D1-54222C63F5DA}</a:tableStyleId>
              </a:tblPr>
              <a:tblGrid>
                <a:gridCol w="670416">
                  <a:extLst>
                    <a:ext uri="{9D8B030D-6E8A-4147-A177-3AD203B41FA5}">
                      <a16:colId xmlns:a16="http://schemas.microsoft.com/office/drawing/2014/main" val="1619986141"/>
                    </a:ext>
                  </a:extLst>
                </a:gridCol>
                <a:gridCol w="590748">
                  <a:extLst>
                    <a:ext uri="{9D8B030D-6E8A-4147-A177-3AD203B41FA5}">
                      <a16:colId xmlns:a16="http://schemas.microsoft.com/office/drawing/2014/main" val="3558990718"/>
                    </a:ext>
                  </a:extLst>
                </a:gridCol>
                <a:gridCol w="630582">
                  <a:extLst>
                    <a:ext uri="{9D8B030D-6E8A-4147-A177-3AD203B41FA5}">
                      <a16:colId xmlns:a16="http://schemas.microsoft.com/office/drawing/2014/main" val="2817522056"/>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extLst>
                  <a:ext uri="{0D108BD9-81ED-4DB2-BD59-A6C34878D82A}">
                    <a16:rowId xmlns:a16="http://schemas.microsoft.com/office/drawing/2014/main" val="117063772"/>
                  </a:ext>
                </a:extLst>
              </a:tr>
              <a:tr h="370840">
                <a:tc>
                  <a:txBody>
                    <a:bodyPr/>
                    <a:lstStyle/>
                    <a:p>
                      <a:pPr algn="ctr"/>
                      <a:r>
                        <a:rPr lang="en-US" sz="2000" dirty="0"/>
                        <a:t>Init</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1884641263"/>
                  </a:ext>
                </a:extLst>
              </a:tr>
              <a:tr h="370840">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3030728590"/>
                  </a:ext>
                </a:extLst>
              </a:tr>
              <a:tr h="370840">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3263484799"/>
                  </a:ext>
                </a:extLst>
              </a:tr>
              <a:tr h="370840">
                <a:tc>
                  <a:txBody>
                    <a:bodyPr/>
                    <a:lstStyle/>
                    <a:p>
                      <a:pPr algn="ctr"/>
                      <a:endParaRPr lang="en-SE" sz="2000" dirty="0"/>
                    </a:p>
                  </a:txBody>
                  <a:tcPr/>
                </a:tc>
                <a:tc>
                  <a:txBody>
                    <a:bodyPr/>
                    <a:lstStyle/>
                    <a:p>
                      <a:pPr algn="ctr"/>
                      <a:endParaRPr lang="en-SE" sz="2000" dirty="0"/>
                    </a:p>
                  </a:txBody>
                  <a:tcPr/>
                </a:tc>
                <a:tc>
                  <a:txBody>
                    <a:bodyPr/>
                    <a:lstStyle/>
                    <a:p>
                      <a:pPr algn="ctr"/>
                      <a:endParaRPr lang="en-SE" sz="2000" dirty="0"/>
                    </a:p>
                  </a:txBody>
                  <a:tcPr/>
                </a:tc>
                <a:extLst>
                  <a:ext uri="{0D108BD9-81ED-4DB2-BD59-A6C34878D82A}">
                    <a16:rowId xmlns:a16="http://schemas.microsoft.com/office/drawing/2014/main" val="3164451786"/>
                  </a:ext>
                </a:extLst>
              </a:tr>
            </a:tbl>
          </a:graphicData>
        </a:graphic>
      </p:graphicFrame>
      <p:sp>
        <p:nvSpPr>
          <p:cNvPr id="81" name="TextBox 80">
            <a:extLst>
              <a:ext uri="{FF2B5EF4-FFF2-40B4-BE49-F238E27FC236}">
                <a16:creationId xmlns:a16="http://schemas.microsoft.com/office/drawing/2014/main" id="{F1B12C89-340A-0E5E-0C15-AAB37D402AFE}"/>
              </a:ext>
            </a:extLst>
          </p:cNvPr>
          <p:cNvSpPr txBox="1"/>
          <p:nvPr/>
        </p:nvSpPr>
        <p:spPr>
          <a:xfrm>
            <a:off x="10428142" y="3474977"/>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grpSp>
        <p:nvGrpSpPr>
          <p:cNvPr id="8" name="Group 248">
            <a:extLst>
              <a:ext uri="{FF2B5EF4-FFF2-40B4-BE49-F238E27FC236}">
                <a16:creationId xmlns:a16="http://schemas.microsoft.com/office/drawing/2014/main" id="{A9AB7B6D-8A71-2982-D691-42A264129C7D}"/>
              </a:ext>
            </a:extLst>
          </p:cNvPr>
          <p:cNvGrpSpPr>
            <a:grpSpLocks/>
          </p:cNvGrpSpPr>
          <p:nvPr/>
        </p:nvGrpSpPr>
        <p:grpSpPr bwMode="auto">
          <a:xfrm>
            <a:off x="3609607" y="1372511"/>
            <a:ext cx="2782886" cy="3809999"/>
            <a:chOff x="3792" y="624"/>
            <a:chExt cx="1753" cy="2400"/>
          </a:xfrm>
        </p:grpSpPr>
        <p:sp>
          <p:nvSpPr>
            <p:cNvPr id="10" name="Rectangle 200">
              <a:extLst>
                <a:ext uri="{FF2B5EF4-FFF2-40B4-BE49-F238E27FC236}">
                  <a16:creationId xmlns:a16="http://schemas.microsoft.com/office/drawing/2014/main" id="{56F2C17A-DBCD-4DF4-F3B5-68FFA1A91C6E}"/>
                </a:ext>
              </a:extLst>
            </p:cNvPr>
            <p:cNvSpPr>
              <a:spLocks noChangeArrowheads="1"/>
            </p:cNvSpPr>
            <p:nvPr/>
          </p:nvSpPr>
          <p:spPr bwMode="auto">
            <a:xfrm>
              <a:off x="3792" y="624"/>
              <a:ext cx="1753" cy="2400"/>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18" name="Group 247">
              <a:extLst>
                <a:ext uri="{FF2B5EF4-FFF2-40B4-BE49-F238E27FC236}">
                  <a16:creationId xmlns:a16="http://schemas.microsoft.com/office/drawing/2014/main" id="{923F7E6E-35DF-E5A3-EF4A-903CE4EFDD13}"/>
                </a:ext>
              </a:extLst>
            </p:cNvPr>
            <p:cNvGrpSpPr>
              <a:grpSpLocks/>
            </p:cNvGrpSpPr>
            <p:nvPr/>
          </p:nvGrpSpPr>
          <p:grpSpPr bwMode="auto">
            <a:xfrm>
              <a:off x="3896" y="768"/>
              <a:ext cx="1471" cy="2055"/>
              <a:chOff x="3896" y="768"/>
              <a:chExt cx="1471" cy="2055"/>
            </a:xfrm>
          </p:grpSpPr>
          <p:sp>
            <p:nvSpPr>
              <p:cNvPr id="19" name="Oval 202">
                <a:extLst>
                  <a:ext uri="{FF2B5EF4-FFF2-40B4-BE49-F238E27FC236}">
                    <a16:creationId xmlns:a16="http://schemas.microsoft.com/office/drawing/2014/main" id="{E7D782C3-772E-6C5C-F556-B1007FD1C628}"/>
                  </a:ext>
                </a:extLst>
              </p:cNvPr>
              <p:cNvSpPr>
                <a:spLocks noChangeArrowheads="1"/>
              </p:cNvSpPr>
              <p:nvPr/>
            </p:nvSpPr>
            <p:spPr bwMode="auto">
              <a:xfrm>
                <a:off x="3896" y="1631"/>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1</a:t>
                </a:r>
                <a:endParaRPr lang="en-US" b="0">
                  <a:solidFill>
                    <a:srgbClr val="000000"/>
                  </a:solidFill>
                  <a:latin typeface="Helvetica"/>
                </a:endParaRPr>
              </a:p>
            </p:txBody>
          </p:sp>
          <p:sp>
            <p:nvSpPr>
              <p:cNvPr id="21" name="Oval 203">
                <a:extLst>
                  <a:ext uri="{FF2B5EF4-FFF2-40B4-BE49-F238E27FC236}">
                    <a16:creationId xmlns:a16="http://schemas.microsoft.com/office/drawing/2014/main" id="{30F5EF69-A9AE-ACB5-7B3C-6706E6599A4F}"/>
                  </a:ext>
                </a:extLst>
              </p:cNvPr>
              <p:cNvSpPr>
                <a:spLocks noChangeArrowheads="1"/>
              </p:cNvSpPr>
              <p:nvPr/>
            </p:nvSpPr>
            <p:spPr bwMode="auto">
              <a:xfrm>
                <a:off x="4969" y="770"/>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2</a:t>
                </a:r>
                <a:endParaRPr lang="en-US" b="0">
                  <a:solidFill>
                    <a:srgbClr val="000000"/>
                  </a:solidFill>
                  <a:latin typeface="Helvetica"/>
                </a:endParaRPr>
              </a:p>
            </p:txBody>
          </p:sp>
          <p:sp>
            <p:nvSpPr>
              <p:cNvPr id="22" name="Oval 204">
                <a:extLst>
                  <a:ext uri="{FF2B5EF4-FFF2-40B4-BE49-F238E27FC236}">
                    <a16:creationId xmlns:a16="http://schemas.microsoft.com/office/drawing/2014/main" id="{5D237F95-9A01-2751-B3FD-1103824EBF64}"/>
                  </a:ext>
                </a:extLst>
              </p:cNvPr>
              <p:cNvSpPr>
                <a:spLocks noChangeArrowheads="1"/>
              </p:cNvSpPr>
              <p:nvPr/>
            </p:nvSpPr>
            <p:spPr bwMode="auto">
              <a:xfrm>
                <a:off x="4992" y="163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3</a:t>
                </a:r>
                <a:endParaRPr lang="en-US" b="0">
                  <a:solidFill>
                    <a:srgbClr val="000000"/>
                  </a:solidFill>
                  <a:latin typeface="Helvetica"/>
                </a:endParaRPr>
              </a:p>
            </p:txBody>
          </p:sp>
          <p:grpSp>
            <p:nvGrpSpPr>
              <p:cNvPr id="23" name="Group 215">
                <a:extLst>
                  <a:ext uri="{FF2B5EF4-FFF2-40B4-BE49-F238E27FC236}">
                    <a16:creationId xmlns:a16="http://schemas.microsoft.com/office/drawing/2014/main" id="{DB1CA829-AA4F-217C-881A-3060E846E528}"/>
                  </a:ext>
                </a:extLst>
              </p:cNvPr>
              <p:cNvGrpSpPr>
                <a:grpSpLocks/>
              </p:cNvGrpSpPr>
              <p:nvPr/>
            </p:nvGrpSpPr>
            <p:grpSpPr bwMode="auto">
              <a:xfrm>
                <a:off x="4368" y="2160"/>
                <a:ext cx="375" cy="654"/>
                <a:chOff x="672" y="2112"/>
                <a:chExt cx="384" cy="670"/>
              </a:xfrm>
            </p:grpSpPr>
            <p:grpSp>
              <p:nvGrpSpPr>
                <p:cNvPr id="36" name="Group 216">
                  <a:extLst>
                    <a:ext uri="{FF2B5EF4-FFF2-40B4-BE49-F238E27FC236}">
                      <a16:creationId xmlns:a16="http://schemas.microsoft.com/office/drawing/2014/main" id="{AEA71AC7-BE2C-5011-1AF9-919181519F27}"/>
                    </a:ext>
                  </a:extLst>
                </p:cNvPr>
                <p:cNvGrpSpPr>
                  <a:grpSpLocks/>
                </p:cNvGrpSpPr>
                <p:nvPr/>
              </p:nvGrpSpPr>
              <p:grpSpPr bwMode="auto">
                <a:xfrm>
                  <a:off x="672" y="2112"/>
                  <a:ext cx="384" cy="432"/>
                  <a:chOff x="672" y="2064"/>
                  <a:chExt cx="384" cy="432"/>
                </a:xfrm>
              </p:grpSpPr>
              <p:sp>
                <p:nvSpPr>
                  <p:cNvPr id="38" name="Rectangle 217">
                    <a:extLst>
                      <a:ext uri="{FF2B5EF4-FFF2-40B4-BE49-F238E27FC236}">
                        <a16:creationId xmlns:a16="http://schemas.microsoft.com/office/drawing/2014/main" id="{F06C25EF-1CCD-225C-40B2-37935A303D33}"/>
                      </a:ext>
                    </a:extLst>
                  </p:cNvPr>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9" name="Oval 218">
                    <a:extLst>
                      <a:ext uri="{FF2B5EF4-FFF2-40B4-BE49-F238E27FC236}">
                        <a16:creationId xmlns:a16="http://schemas.microsoft.com/office/drawing/2014/main" id="{8FAB7912-4691-4EFD-B2BB-11FA20703016}"/>
                      </a:ext>
                    </a:extLst>
                  </p:cNvPr>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40" name="Oval 219">
                    <a:extLst>
                      <a:ext uri="{FF2B5EF4-FFF2-40B4-BE49-F238E27FC236}">
                        <a16:creationId xmlns:a16="http://schemas.microsoft.com/office/drawing/2014/main" id="{2D21944C-5619-E609-4D73-8DFA61A37107}"/>
                      </a:ext>
                    </a:extLst>
                  </p:cNvPr>
                  <p:cNvSpPr>
                    <a:spLocks noChangeArrowheads="1"/>
                  </p:cNvSpPr>
                  <p:nvPr/>
                </p:nvSpPr>
                <p:spPr bwMode="auto">
                  <a:xfrm>
                    <a:off x="840" y="2324"/>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37" name="Text Box 220">
                  <a:extLst>
                    <a:ext uri="{FF2B5EF4-FFF2-40B4-BE49-F238E27FC236}">
                      <a16:creationId xmlns:a16="http://schemas.microsoft.com/office/drawing/2014/main" id="{0C19C367-E9B1-908C-BC77-BD833C002B74}"/>
                    </a:ext>
                  </a:extLst>
                </p:cNvPr>
                <p:cNvSpPr txBox="1">
                  <a:spLocks noChangeArrowheads="1"/>
                </p:cNvSpPr>
                <p:nvPr/>
              </p:nvSpPr>
              <p:spPr bwMode="auto">
                <a:xfrm>
                  <a:off x="723" y="2544"/>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2</a:t>
                  </a:r>
                  <a:endParaRPr lang="en-US" b="0">
                    <a:solidFill>
                      <a:srgbClr val="000000"/>
                    </a:solidFill>
                    <a:latin typeface="Helvetica"/>
                  </a:endParaRPr>
                </a:p>
              </p:txBody>
            </p:sp>
          </p:grpSp>
          <p:sp>
            <p:nvSpPr>
              <p:cNvPr id="24" name="Line 228">
                <a:extLst>
                  <a:ext uri="{FF2B5EF4-FFF2-40B4-BE49-F238E27FC236}">
                    <a16:creationId xmlns:a16="http://schemas.microsoft.com/office/drawing/2014/main" id="{3BEB835E-8D10-2E01-C6F9-3F92B7F7F0CA}"/>
                  </a:ext>
                </a:extLst>
              </p:cNvPr>
              <p:cNvSpPr>
                <a:spLocks noChangeShapeType="1"/>
              </p:cNvSpPr>
              <p:nvPr/>
            </p:nvSpPr>
            <p:spPr bwMode="auto">
              <a:xfrm flipV="1">
                <a:off x="4178" y="1425"/>
                <a:ext cx="184" cy="254"/>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25" name="Line 232">
                <a:extLst>
                  <a:ext uri="{FF2B5EF4-FFF2-40B4-BE49-F238E27FC236}">
                    <a16:creationId xmlns:a16="http://schemas.microsoft.com/office/drawing/2014/main" id="{923E7B19-5AC5-0873-598E-A6A47E4AC3BA}"/>
                  </a:ext>
                </a:extLst>
              </p:cNvPr>
              <p:cNvSpPr>
                <a:spLocks noChangeShapeType="1"/>
              </p:cNvSpPr>
              <p:nvPr/>
            </p:nvSpPr>
            <p:spPr bwMode="auto">
              <a:xfrm flipH="1" flipV="1">
                <a:off x="4194" y="1969"/>
                <a:ext cx="355" cy="32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26" name="Line 233">
                <a:extLst>
                  <a:ext uri="{FF2B5EF4-FFF2-40B4-BE49-F238E27FC236}">
                    <a16:creationId xmlns:a16="http://schemas.microsoft.com/office/drawing/2014/main" id="{04DAEA4B-3D0A-1B44-038D-3C82A2D90E94}"/>
                  </a:ext>
                </a:extLst>
              </p:cNvPr>
              <p:cNvSpPr>
                <a:spLocks noChangeShapeType="1"/>
              </p:cNvSpPr>
              <p:nvPr/>
            </p:nvSpPr>
            <p:spPr bwMode="auto">
              <a:xfrm>
                <a:off x="4547" y="2437"/>
                <a:ext cx="445" cy="155"/>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27" name="Line 234">
                <a:extLst>
                  <a:ext uri="{FF2B5EF4-FFF2-40B4-BE49-F238E27FC236}">
                    <a16:creationId xmlns:a16="http://schemas.microsoft.com/office/drawing/2014/main" id="{FDC88B3F-F20D-6BA2-9FEC-C92876ABF036}"/>
                  </a:ext>
                </a:extLst>
              </p:cNvPr>
              <p:cNvSpPr>
                <a:spLocks noChangeShapeType="1"/>
              </p:cNvSpPr>
              <p:nvPr/>
            </p:nvSpPr>
            <p:spPr bwMode="auto">
              <a:xfrm flipH="1">
                <a:off x="4750" y="1926"/>
                <a:ext cx="274" cy="23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28" name="Group 243">
                <a:extLst>
                  <a:ext uri="{FF2B5EF4-FFF2-40B4-BE49-F238E27FC236}">
                    <a16:creationId xmlns:a16="http://schemas.microsoft.com/office/drawing/2014/main" id="{0B745CFA-22B2-E774-A183-44F478A0DA43}"/>
                  </a:ext>
                </a:extLst>
              </p:cNvPr>
              <p:cNvGrpSpPr>
                <a:grpSpLocks/>
              </p:cNvGrpSpPr>
              <p:nvPr/>
            </p:nvGrpSpPr>
            <p:grpSpPr bwMode="auto">
              <a:xfrm>
                <a:off x="4368" y="768"/>
                <a:ext cx="375" cy="662"/>
                <a:chOff x="4368" y="768"/>
                <a:chExt cx="375" cy="662"/>
              </a:xfrm>
            </p:grpSpPr>
            <p:grpSp>
              <p:nvGrpSpPr>
                <p:cNvPr id="32" name="Group 237">
                  <a:extLst>
                    <a:ext uri="{FF2B5EF4-FFF2-40B4-BE49-F238E27FC236}">
                      <a16:creationId xmlns:a16="http://schemas.microsoft.com/office/drawing/2014/main" id="{1C2BBED2-5F78-9372-D75D-4CCB81BED3B4}"/>
                    </a:ext>
                  </a:extLst>
                </p:cNvPr>
                <p:cNvGrpSpPr>
                  <a:grpSpLocks/>
                </p:cNvGrpSpPr>
                <p:nvPr/>
              </p:nvGrpSpPr>
              <p:grpSpPr bwMode="auto">
                <a:xfrm flipV="1">
                  <a:off x="4368" y="1008"/>
                  <a:ext cx="375" cy="422"/>
                  <a:chOff x="672" y="2064"/>
                  <a:chExt cx="384" cy="432"/>
                </a:xfrm>
              </p:grpSpPr>
              <p:sp>
                <p:nvSpPr>
                  <p:cNvPr id="34" name="Rectangle 238">
                    <a:extLst>
                      <a:ext uri="{FF2B5EF4-FFF2-40B4-BE49-F238E27FC236}">
                        <a16:creationId xmlns:a16="http://schemas.microsoft.com/office/drawing/2014/main" id="{9FBF1A92-A4E4-0066-5C80-9F07CA8887BC}"/>
                      </a:ext>
                    </a:extLst>
                  </p:cNvPr>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5" name="Oval 239">
                    <a:extLst>
                      <a:ext uri="{FF2B5EF4-FFF2-40B4-BE49-F238E27FC236}">
                        <a16:creationId xmlns:a16="http://schemas.microsoft.com/office/drawing/2014/main" id="{55CA43A5-46BC-3EED-0F13-E7BE9373566E}"/>
                      </a:ext>
                    </a:extLst>
                  </p:cNvPr>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33" name="Text Box 241">
                  <a:extLst>
                    <a:ext uri="{FF2B5EF4-FFF2-40B4-BE49-F238E27FC236}">
                      <a16:creationId xmlns:a16="http://schemas.microsoft.com/office/drawing/2014/main" id="{3A9E7DE4-9E87-7EF4-0ED6-439F00C87DD4}"/>
                    </a:ext>
                  </a:extLst>
                </p:cNvPr>
                <p:cNvSpPr txBox="1">
                  <a:spLocks noChangeArrowheads="1"/>
                </p:cNvSpPr>
                <p:nvPr/>
              </p:nvSpPr>
              <p:spPr bwMode="auto">
                <a:xfrm>
                  <a:off x="4412" y="768"/>
                  <a:ext cx="275" cy="233"/>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1</a:t>
                  </a:r>
                  <a:endParaRPr lang="en-US" b="0">
                    <a:solidFill>
                      <a:srgbClr val="000000"/>
                    </a:solidFill>
                    <a:latin typeface="Helvetica"/>
                  </a:endParaRPr>
                </a:p>
              </p:txBody>
            </p:sp>
          </p:grpSp>
          <p:sp>
            <p:nvSpPr>
              <p:cNvPr id="29" name="Oval 242">
                <a:extLst>
                  <a:ext uri="{FF2B5EF4-FFF2-40B4-BE49-F238E27FC236}">
                    <a16:creationId xmlns:a16="http://schemas.microsoft.com/office/drawing/2014/main" id="{1E842DEF-01B6-802C-AC2A-87CA383FA16E}"/>
                  </a:ext>
                </a:extLst>
              </p:cNvPr>
              <p:cNvSpPr>
                <a:spLocks noChangeArrowheads="1"/>
              </p:cNvSpPr>
              <p:nvPr/>
            </p:nvSpPr>
            <p:spPr bwMode="auto">
              <a:xfrm>
                <a:off x="4992" y="2448"/>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4</a:t>
                </a:r>
                <a:endParaRPr lang="en-US" b="0">
                  <a:solidFill>
                    <a:srgbClr val="000000"/>
                  </a:solidFill>
                  <a:latin typeface="Helvetica"/>
                </a:endParaRPr>
              </a:p>
            </p:txBody>
          </p:sp>
          <p:sp>
            <p:nvSpPr>
              <p:cNvPr id="30" name="Line 244">
                <a:extLst>
                  <a:ext uri="{FF2B5EF4-FFF2-40B4-BE49-F238E27FC236}">
                    <a16:creationId xmlns:a16="http://schemas.microsoft.com/office/drawing/2014/main" id="{A5E58225-75E6-1F7E-75FF-2A9A9827F76F}"/>
                  </a:ext>
                </a:extLst>
              </p:cNvPr>
              <p:cNvSpPr>
                <a:spLocks noChangeShapeType="1"/>
              </p:cNvSpPr>
              <p:nvPr/>
            </p:nvSpPr>
            <p:spPr bwMode="auto">
              <a:xfrm>
                <a:off x="4553" y="1302"/>
                <a:ext cx="465" cy="387"/>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31" name="Line 245">
                <a:extLst>
                  <a:ext uri="{FF2B5EF4-FFF2-40B4-BE49-F238E27FC236}">
                    <a16:creationId xmlns:a16="http://schemas.microsoft.com/office/drawing/2014/main" id="{2BECCE19-8F51-60FC-9260-1975EA7753EC}"/>
                  </a:ext>
                </a:extLst>
              </p:cNvPr>
              <p:cNvSpPr>
                <a:spLocks noChangeShapeType="1"/>
              </p:cNvSpPr>
              <p:nvPr/>
            </p:nvSpPr>
            <p:spPr bwMode="auto">
              <a:xfrm flipV="1">
                <a:off x="4749" y="1002"/>
                <a:ext cx="222" cy="127"/>
              </a:xfrm>
              <a:prstGeom prst="line">
                <a:avLst/>
              </a:prstGeom>
              <a:ln>
                <a:headEnd type="triangle" w="med" len="med"/>
                <a:tailEnd type="none"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grpSp>
      <p:sp>
        <p:nvSpPr>
          <p:cNvPr id="41" name="TextBox 40">
            <a:extLst>
              <a:ext uri="{FF2B5EF4-FFF2-40B4-BE49-F238E27FC236}">
                <a16:creationId xmlns:a16="http://schemas.microsoft.com/office/drawing/2014/main" id="{A726EC5A-6EF3-8362-278E-84944250EEEA}"/>
              </a:ext>
            </a:extLst>
          </p:cNvPr>
          <p:cNvSpPr txBox="1"/>
          <p:nvPr/>
        </p:nvSpPr>
        <p:spPr>
          <a:xfrm>
            <a:off x="1829363" y="5562600"/>
            <a:ext cx="400879" cy="369332"/>
          </a:xfrm>
          <a:prstGeom prst="rect">
            <a:avLst/>
          </a:prstGeom>
          <a:noFill/>
        </p:spPr>
        <p:txBody>
          <a:bodyPr wrap="none" rtlCol="0">
            <a:spAutoFit/>
          </a:bodyPr>
          <a:lstStyle/>
          <a:p>
            <a:r>
              <a:rPr lang="en-US" dirty="0">
                <a:latin typeface="Gill Sans Light"/>
              </a:rPr>
              <a:t>(a)</a:t>
            </a:r>
          </a:p>
        </p:txBody>
      </p:sp>
      <p:sp>
        <p:nvSpPr>
          <p:cNvPr id="42" name="TextBox 41">
            <a:extLst>
              <a:ext uri="{FF2B5EF4-FFF2-40B4-BE49-F238E27FC236}">
                <a16:creationId xmlns:a16="http://schemas.microsoft.com/office/drawing/2014/main" id="{A42D740A-0752-5B75-7201-23579FCCB6C9}"/>
              </a:ext>
            </a:extLst>
          </p:cNvPr>
          <p:cNvSpPr txBox="1"/>
          <p:nvPr/>
        </p:nvSpPr>
        <p:spPr>
          <a:xfrm>
            <a:off x="4893262" y="5550810"/>
            <a:ext cx="431593" cy="369332"/>
          </a:xfrm>
          <a:prstGeom prst="rect">
            <a:avLst/>
          </a:prstGeom>
          <a:noFill/>
        </p:spPr>
        <p:txBody>
          <a:bodyPr wrap="none" rtlCol="0">
            <a:spAutoFit/>
          </a:bodyPr>
          <a:lstStyle/>
          <a:p>
            <a:r>
              <a:rPr lang="en-US" dirty="0">
                <a:latin typeface="Gill Sans Light"/>
              </a:rPr>
              <a:t>(b)</a:t>
            </a:r>
          </a:p>
        </p:txBody>
      </p:sp>
    </p:spTree>
    <p:extLst>
      <p:ext uri="{BB962C8B-B14F-4D97-AF65-F5344CB8AC3E}">
        <p14:creationId xmlns:p14="http://schemas.microsoft.com/office/powerpoint/2010/main" val="398059675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E08F2-9E2D-DBD8-01A8-CDB860ED3A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381B0-0068-C23E-96BA-770D471A5BA6}"/>
              </a:ext>
            </a:extLst>
          </p:cNvPr>
          <p:cNvSpPr>
            <a:spLocks noGrp="1"/>
          </p:cNvSpPr>
          <p:nvPr>
            <p:ph type="title"/>
          </p:nvPr>
        </p:nvSpPr>
        <p:spPr/>
        <p:txBody>
          <a:bodyPr/>
          <a:lstStyle/>
          <a:p>
            <a:r>
              <a:rPr lang="en-GB" dirty="0"/>
              <a:t>Q4 Deadlocks (a) </a:t>
            </a:r>
            <a:r>
              <a:rPr lang="en-US" dirty="0"/>
              <a:t>ANS</a:t>
            </a:r>
            <a:endParaRPr lang="en-SE" dirty="0">
              <a:solidFill>
                <a:srgbClr val="FF0000"/>
              </a:solidFill>
            </a:endParaRPr>
          </a:p>
        </p:txBody>
      </p:sp>
      <p:graphicFrame>
        <p:nvGraphicFramePr>
          <p:cNvPr id="6" name="Content Placeholder 5">
            <a:extLst>
              <a:ext uri="{FF2B5EF4-FFF2-40B4-BE49-F238E27FC236}">
                <a16:creationId xmlns:a16="http://schemas.microsoft.com/office/drawing/2014/main" id="{15E6C632-C257-2ED7-8486-159F21F41284}"/>
              </a:ext>
            </a:extLst>
          </p:cNvPr>
          <p:cNvGraphicFramePr>
            <a:graphicFrameLocks noGrp="1"/>
          </p:cNvGraphicFramePr>
          <p:nvPr>
            <p:ph idx="1"/>
          </p:nvPr>
        </p:nvGraphicFramePr>
        <p:xfrm>
          <a:off x="638562" y="1447800"/>
          <a:ext cx="1592643" cy="198120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3030728590"/>
                  </a:ext>
                </a:extLst>
              </a:tr>
              <a:tr h="370840">
                <a:tc>
                  <a:txBody>
                    <a:bodyPr/>
                    <a:lstStyle/>
                    <a:p>
                      <a:pPr algn="ctr"/>
                      <a:r>
                        <a:rPr lang="en-US" sz="2000" dirty="0"/>
                        <a:t>T4</a:t>
                      </a:r>
                      <a:endParaRPr lang="en-SE" sz="2000" dirty="0"/>
                    </a:p>
                  </a:txBody>
                  <a:tcPr/>
                </a:tc>
                <a:tc>
                  <a:txBody>
                    <a:bodyPr/>
                    <a:lstStyle/>
                    <a:p>
                      <a:pPr algn="ctr"/>
                      <a:r>
                        <a:rPr lang="en-US" sz="2000" dirty="0"/>
                        <a:t>0</a:t>
                      </a:r>
                      <a:endParaRPr lang="en-SE" sz="2000" dirty="0"/>
                    </a:p>
                  </a:txBody>
                  <a:tcPr/>
                </a:tc>
                <a:tc>
                  <a:txBody>
                    <a:bodyPr/>
                    <a:lstStyle/>
                    <a:p>
                      <a:pPr algn="ctr"/>
                      <a:r>
                        <a:rPr lang="en-US" sz="2000" dirty="0"/>
                        <a:t>1</a:t>
                      </a:r>
                      <a:endParaRPr lang="en-SE" sz="2000" dirty="0"/>
                    </a:p>
                  </a:txBody>
                  <a:tcPr/>
                </a:tc>
                <a:extLst>
                  <a:ext uri="{0D108BD9-81ED-4DB2-BD59-A6C34878D82A}">
                    <a16:rowId xmlns:a16="http://schemas.microsoft.com/office/drawing/2014/main" val="2126198186"/>
                  </a:ext>
                </a:extLst>
              </a:tr>
            </a:tbl>
          </a:graphicData>
        </a:graphic>
      </p:graphicFrame>
      <p:graphicFrame>
        <p:nvGraphicFramePr>
          <p:cNvPr id="11" name="Content Placeholder 5">
            <a:extLst>
              <a:ext uri="{FF2B5EF4-FFF2-40B4-BE49-F238E27FC236}">
                <a16:creationId xmlns:a16="http://schemas.microsoft.com/office/drawing/2014/main" id="{44E089FA-4AC7-5CEF-0EE3-71A09846534F}"/>
              </a:ext>
            </a:extLst>
          </p:cNvPr>
          <p:cNvGraphicFramePr>
            <a:graphicFrameLocks/>
          </p:cNvGraphicFramePr>
          <p:nvPr/>
        </p:nvGraphicFramePr>
        <p:xfrm>
          <a:off x="914400" y="3931920"/>
          <a:ext cx="1061762" cy="79248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tblGrid>
              <a:tr h="370840">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2</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3030728590"/>
                  </a:ext>
                </a:extLst>
              </a:tr>
            </a:tbl>
          </a:graphicData>
        </a:graphic>
      </p:graphicFrame>
      <p:sp>
        <p:nvSpPr>
          <p:cNvPr id="12" name="TextBox 11">
            <a:extLst>
              <a:ext uri="{FF2B5EF4-FFF2-40B4-BE49-F238E27FC236}">
                <a16:creationId xmlns:a16="http://schemas.microsoft.com/office/drawing/2014/main" id="{2F9B646F-25E2-B7C3-F578-2522FFB9A567}"/>
              </a:ext>
            </a:extLst>
          </p:cNvPr>
          <p:cNvSpPr txBox="1"/>
          <p:nvPr/>
        </p:nvSpPr>
        <p:spPr>
          <a:xfrm>
            <a:off x="1079420" y="1089724"/>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13" name="TextBox 12">
            <a:extLst>
              <a:ext uri="{FF2B5EF4-FFF2-40B4-BE49-F238E27FC236}">
                <a16:creationId xmlns:a16="http://schemas.microsoft.com/office/drawing/2014/main" id="{FC076133-46C8-B279-A37D-56EC550BF66D}"/>
              </a:ext>
            </a:extLst>
          </p:cNvPr>
          <p:cNvSpPr txBox="1"/>
          <p:nvPr/>
        </p:nvSpPr>
        <p:spPr>
          <a:xfrm>
            <a:off x="3812354" y="1089724"/>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14" name="TextBox 13">
            <a:extLst>
              <a:ext uri="{FF2B5EF4-FFF2-40B4-BE49-F238E27FC236}">
                <a16:creationId xmlns:a16="http://schemas.microsoft.com/office/drawing/2014/main" id="{C4FDA981-2A61-4128-F243-72E8178920B9}"/>
              </a:ext>
            </a:extLst>
          </p:cNvPr>
          <p:cNvSpPr txBox="1"/>
          <p:nvPr/>
        </p:nvSpPr>
        <p:spPr>
          <a:xfrm>
            <a:off x="1002907" y="3562290"/>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15" name="TextBox 14">
            <a:extLst>
              <a:ext uri="{FF2B5EF4-FFF2-40B4-BE49-F238E27FC236}">
                <a16:creationId xmlns:a16="http://schemas.microsoft.com/office/drawing/2014/main" id="{71097631-C90B-51A3-8AA3-6F648CDE1685}"/>
              </a:ext>
            </a:extLst>
          </p:cNvPr>
          <p:cNvSpPr txBox="1"/>
          <p:nvPr/>
        </p:nvSpPr>
        <p:spPr>
          <a:xfrm>
            <a:off x="3782807" y="3562290"/>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graphicFrame>
        <p:nvGraphicFramePr>
          <p:cNvPr id="17" name="Content Placeholder 5">
            <a:extLst>
              <a:ext uri="{FF2B5EF4-FFF2-40B4-BE49-F238E27FC236}">
                <a16:creationId xmlns:a16="http://schemas.microsoft.com/office/drawing/2014/main" id="{D8B1A79A-E4D0-829D-6779-48B2AFE3A576}"/>
              </a:ext>
            </a:extLst>
          </p:cNvPr>
          <p:cNvGraphicFramePr>
            <a:graphicFrameLocks/>
          </p:cNvGraphicFramePr>
          <p:nvPr/>
        </p:nvGraphicFramePr>
        <p:xfrm>
          <a:off x="3920804" y="3931920"/>
          <a:ext cx="1061762" cy="79248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tblGrid>
              <a:tr h="370840">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3030728590"/>
                  </a:ext>
                </a:extLst>
              </a:tr>
            </a:tbl>
          </a:graphicData>
        </a:graphic>
      </p:graphicFrame>
      <p:sp>
        <p:nvSpPr>
          <p:cNvPr id="20" name="TextBox 19">
            <a:extLst>
              <a:ext uri="{FF2B5EF4-FFF2-40B4-BE49-F238E27FC236}">
                <a16:creationId xmlns:a16="http://schemas.microsoft.com/office/drawing/2014/main" id="{407B5AB7-2DA3-3F77-80ED-247E49F848E8}"/>
              </a:ext>
            </a:extLst>
          </p:cNvPr>
          <p:cNvSpPr txBox="1"/>
          <p:nvPr/>
        </p:nvSpPr>
        <p:spPr>
          <a:xfrm>
            <a:off x="7103552" y="1089724"/>
            <a:ext cx="822661" cy="400110"/>
          </a:xfrm>
          <a:prstGeom prst="rect">
            <a:avLst/>
          </a:prstGeom>
          <a:noFill/>
        </p:spPr>
        <p:txBody>
          <a:bodyPr wrap="none" rtlCol="0">
            <a:spAutoFit/>
          </a:bodyPr>
          <a:lstStyle/>
          <a:p>
            <a:r>
              <a:rPr lang="en-GB" sz="2000" b="0" dirty="0">
                <a:solidFill>
                  <a:schemeClr val="dk1"/>
                </a:solidFill>
                <a:latin typeface="+mn-lt"/>
                <a:ea typeface="+mn-ea"/>
                <a:cs typeface="+mn-cs"/>
              </a:rPr>
              <a:t>Need</a:t>
            </a:r>
          </a:p>
        </p:txBody>
      </p:sp>
      <p:sp>
        <p:nvSpPr>
          <p:cNvPr id="5" name="TextBox 4">
            <a:extLst>
              <a:ext uri="{FF2B5EF4-FFF2-40B4-BE49-F238E27FC236}">
                <a16:creationId xmlns:a16="http://schemas.microsoft.com/office/drawing/2014/main" id="{02B5E0DA-A56D-0D45-2466-B2D7D54D5F3D}"/>
              </a:ext>
            </a:extLst>
          </p:cNvPr>
          <p:cNvSpPr txBox="1"/>
          <p:nvPr/>
        </p:nvSpPr>
        <p:spPr>
          <a:xfrm>
            <a:off x="622855" y="5009335"/>
            <a:ext cx="1891746" cy="461665"/>
          </a:xfrm>
          <a:prstGeom prst="rect">
            <a:avLst/>
          </a:prstGeom>
          <a:noFill/>
        </p:spPr>
        <p:txBody>
          <a:bodyPr wrap="square" rtlCol="0">
            <a:spAutoFit/>
          </a:bodyPr>
          <a:lstStyle/>
          <a:p>
            <a:r>
              <a:rPr lang="en-GB" altLang="zh-CN" sz="2400" b="0" dirty="0">
                <a:solidFill>
                  <a:schemeClr val="dk1"/>
                </a:solidFill>
                <a:latin typeface="Gill Sans" panose="020B0502020104020203"/>
                <a:ea typeface="+mn-ea"/>
                <a:cs typeface="+mn-cs"/>
              </a:rPr>
              <a:t>No deadlock</a:t>
            </a:r>
            <a:endParaRPr lang="en-GB" sz="2400" b="0" dirty="0">
              <a:solidFill>
                <a:schemeClr val="dk1"/>
              </a:solidFill>
              <a:latin typeface="Gill Sans" panose="020B0502020104020203"/>
              <a:ea typeface="+mn-ea"/>
              <a:cs typeface="+mn-cs"/>
            </a:endParaRPr>
          </a:p>
        </p:txBody>
      </p:sp>
      <p:grpSp>
        <p:nvGrpSpPr>
          <p:cNvPr id="3" name="Group 265">
            <a:extLst>
              <a:ext uri="{FF2B5EF4-FFF2-40B4-BE49-F238E27FC236}">
                <a16:creationId xmlns:a16="http://schemas.microsoft.com/office/drawing/2014/main" id="{DD5492A3-8824-6A2A-5B84-D120AF55B85C}"/>
              </a:ext>
            </a:extLst>
          </p:cNvPr>
          <p:cNvGrpSpPr>
            <a:grpSpLocks/>
          </p:cNvGrpSpPr>
          <p:nvPr/>
        </p:nvGrpSpPr>
        <p:grpSpPr bwMode="auto">
          <a:xfrm>
            <a:off x="9001334" y="1199336"/>
            <a:ext cx="2782886" cy="4741861"/>
            <a:chOff x="3792" y="1200"/>
            <a:chExt cx="1753" cy="2987"/>
          </a:xfrm>
        </p:grpSpPr>
        <p:grpSp>
          <p:nvGrpSpPr>
            <p:cNvPr id="7" name="Group 248">
              <a:extLst>
                <a:ext uri="{FF2B5EF4-FFF2-40B4-BE49-F238E27FC236}">
                  <a16:creationId xmlns:a16="http://schemas.microsoft.com/office/drawing/2014/main" id="{69757541-B84D-4E47-BAA3-D1A2F5C3B745}"/>
                </a:ext>
              </a:extLst>
            </p:cNvPr>
            <p:cNvGrpSpPr>
              <a:grpSpLocks/>
            </p:cNvGrpSpPr>
            <p:nvPr/>
          </p:nvGrpSpPr>
          <p:grpSpPr bwMode="auto">
            <a:xfrm>
              <a:off x="3792" y="1200"/>
              <a:ext cx="1753" cy="2400"/>
              <a:chOff x="3792" y="624"/>
              <a:chExt cx="1753" cy="2400"/>
            </a:xfrm>
          </p:grpSpPr>
          <p:sp>
            <p:nvSpPr>
              <p:cNvPr id="53" name="Rectangle 200">
                <a:extLst>
                  <a:ext uri="{FF2B5EF4-FFF2-40B4-BE49-F238E27FC236}">
                    <a16:creationId xmlns:a16="http://schemas.microsoft.com/office/drawing/2014/main" id="{53A87BF8-B997-09A5-3BD9-1F9434B7ABDB}"/>
                  </a:ext>
                </a:extLst>
              </p:cNvPr>
              <p:cNvSpPr>
                <a:spLocks noChangeArrowheads="1"/>
              </p:cNvSpPr>
              <p:nvPr/>
            </p:nvSpPr>
            <p:spPr bwMode="auto">
              <a:xfrm>
                <a:off x="3792" y="624"/>
                <a:ext cx="1753" cy="2400"/>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54" name="Group 247">
                <a:extLst>
                  <a:ext uri="{FF2B5EF4-FFF2-40B4-BE49-F238E27FC236}">
                    <a16:creationId xmlns:a16="http://schemas.microsoft.com/office/drawing/2014/main" id="{78E1845C-2710-D808-11C6-F70D64303031}"/>
                  </a:ext>
                </a:extLst>
              </p:cNvPr>
              <p:cNvGrpSpPr>
                <a:grpSpLocks/>
              </p:cNvGrpSpPr>
              <p:nvPr/>
            </p:nvGrpSpPr>
            <p:grpSpPr bwMode="auto">
              <a:xfrm>
                <a:off x="3896" y="768"/>
                <a:ext cx="1471" cy="2055"/>
                <a:chOff x="3896" y="768"/>
                <a:chExt cx="1471" cy="2055"/>
              </a:xfrm>
            </p:grpSpPr>
            <p:sp>
              <p:nvSpPr>
                <p:cNvPr id="55" name="Oval 202">
                  <a:extLst>
                    <a:ext uri="{FF2B5EF4-FFF2-40B4-BE49-F238E27FC236}">
                      <a16:creationId xmlns:a16="http://schemas.microsoft.com/office/drawing/2014/main" id="{A8AB5D93-4991-1087-C886-A97C54066958}"/>
                    </a:ext>
                  </a:extLst>
                </p:cNvPr>
                <p:cNvSpPr>
                  <a:spLocks noChangeArrowheads="1"/>
                </p:cNvSpPr>
                <p:nvPr/>
              </p:nvSpPr>
              <p:spPr bwMode="auto">
                <a:xfrm>
                  <a:off x="3896" y="1631"/>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1</a:t>
                  </a:r>
                  <a:endParaRPr lang="en-US" b="0">
                    <a:solidFill>
                      <a:srgbClr val="000000"/>
                    </a:solidFill>
                    <a:latin typeface="Helvetica"/>
                  </a:endParaRPr>
                </a:p>
              </p:txBody>
            </p:sp>
            <p:sp>
              <p:nvSpPr>
                <p:cNvPr id="56" name="Oval 203">
                  <a:extLst>
                    <a:ext uri="{FF2B5EF4-FFF2-40B4-BE49-F238E27FC236}">
                      <a16:creationId xmlns:a16="http://schemas.microsoft.com/office/drawing/2014/main" id="{20CAB7F7-1217-0310-8935-822FF6C6D9D8}"/>
                    </a:ext>
                  </a:extLst>
                </p:cNvPr>
                <p:cNvSpPr>
                  <a:spLocks noChangeArrowheads="1"/>
                </p:cNvSpPr>
                <p:nvPr/>
              </p:nvSpPr>
              <p:spPr bwMode="auto">
                <a:xfrm>
                  <a:off x="4969" y="770"/>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2</a:t>
                  </a:r>
                  <a:endParaRPr lang="en-US" b="0">
                    <a:solidFill>
                      <a:srgbClr val="000000"/>
                    </a:solidFill>
                    <a:latin typeface="Helvetica"/>
                  </a:endParaRPr>
                </a:p>
              </p:txBody>
            </p:sp>
            <p:sp>
              <p:nvSpPr>
                <p:cNvPr id="57" name="Oval 204">
                  <a:extLst>
                    <a:ext uri="{FF2B5EF4-FFF2-40B4-BE49-F238E27FC236}">
                      <a16:creationId xmlns:a16="http://schemas.microsoft.com/office/drawing/2014/main" id="{364CC2E8-18D5-58DF-348A-081901E9FF4B}"/>
                    </a:ext>
                  </a:extLst>
                </p:cNvPr>
                <p:cNvSpPr>
                  <a:spLocks noChangeArrowheads="1"/>
                </p:cNvSpPr>
                <p:nvPr/>
              </p:nvSpPr>
              <p:spPr bwMode="auto">
                <a:xfrm>
                  <a:off x="4992" y="163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3</a:t>
                  </a:r>
                  <a:endParaRPr lang="en-US" b="0">
                    <a:solidFill>
                      <a:srgbClr val="000000"/>
                    </a:solidFill>
                    <a:latin typeface="Helvetica"/>
                  </a:endParaRPr>
                </a:p>
              </p:txBody>
            </p:sp>
            <p:grpSp>
              <p:nvGrpSpPr>
                <p:cNvPr id="58" name="Group 215">
                  <a:extLst>
                    <a:ext uri="{FF2B5EF4-FFF2-40B4-BE49-F238E27FC236}">
                      <a16:creationId xmlns:a16="http://schemas.microsoft.com/office/drawing/2014/main" id="{D60DDE88-9401-CC23-9D16-07746A13E31B}"/>
                    </a:ext>
                  </a:extLst>
                </p:cNvPr>
                <p:cNvGrpSpPr>
                  <a:grpSpLocks/>
                </p:cNvGrpSpPr>
                <p:nvPr/>
              </p:nvGrpSpPr>
              <p:grpSpPr bwMode="auto">
                <a:xfrm>
                  <a:off x="4368" y="2160"/>
                  <a:ext cx="375" cy="654"/>
                  <a:chOff x="672" y="2112"/>
                  <a:chExt cx="384" cy="670"/>
                </a:xfrm>
              </p:grpSpPr>
              <p:grpSp>
                <p:nvGrpSpPr>
                  <p:cNvPr id="72" name="Group 216">
                    <a:extLst>
                      <a:ext uri="{FF2B5EF4-FFF2-40B4-BE49-F238E27FC236}">
                        <a16:creationId xmlns:a16="http://schemas.microsoft.com/office/drawing/2014/main" id="{1BBB6014-7EEB-EE52-4058-C989BCE58E07}"/>
                      </a:ext>
                    </a:extLst>
                  </p:cNvPr>
                  <p:cNvGrpSpPr>
                    <a:grpSpLocks/>
                  </p:cNvGrpSpPr>
                  <p:nvPr/>
                </p:nvGrpSpPr>
                <p:grpSpPr bwMode="auto">
                  <a:xfrm>
                    <a:off x="672" y="2112"/>
                    <a:ext cx="384" cy="432"/>
                    <a:chOff x="672" y="2064"/>
                    <a:chExt cx="384" cy="432"/>
                  </a:xfrm>
                </p:grpSpPr>
                <p:sp>
                  <p:nvSpPr>
                    <p:cNvPr id="74" name="Rectangle 217">
                      <a:extLst>
                        <a:ext uri="{FF2B5EF4-FFF2-40B4-BE49-F238E27FC236}">
                          <a16:creationId xmlns:a16="http://schemas.microsoft.com/office/drawing/2014/main" id="{DACC2BE2-2D64-D2D0-0246-E33BC50EB3E2}"/>
                        </a:ext>
                      </a:extLst>
                    </p:cNvPr>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75" name="Oval 218">
                      <a:extLst>
                        <a:ext uri="{FF2B5EF4-FFF2-40B4-BE49-F238E27FC236}">
                          <a16:creationId xmlns:a16="http://schemas.microsoft.com/office/drawing/2014/main" id="{1469E3BD-395A-D5DE-2587-A279D12E47F8}"/>
                        </a:ext>
                      </a:extLst>
                    </p:cNvPr>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76" name="Oval 219">
                      <a:extLst>
                        <a:ext uri="{FF2B5EF4-FFF2-40B4-BE49-F238E27FC236}">
                          <a16:creationId xmlns:a16="http://schemas.microsoft.com/office/drawing/2014/main" id="{143C9F95-6AEA-303F-5763-9273F09CA49C}"/>
                        </a:ext>
                      </a:extLst>
                    </p:cNvPr>
                    <p:cNvSpPr>
                      <a:spLocks noChangeArrowheads="1"/>
                    </p:cNvSpPr>
                    <p:nvPr/>
                  </p:nvSpPr>
                  <p:spPr bwMode="auto">
                    <a:xfrm>
                      <a:off x="840" y="2324"/>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73" name="Text Box 220">
                    <a:extLst>
                      <a:ext uri="{FF2B5EF4-FFF2-40B4-BE49-F238E27FC236}">
                        <a16:creationId xmlns:a16="http://schemas.microsoft.com/office/drawing/2014/main" id="{72D778E1-2928-B0A4-22B0-60A4A3EF1AC5}"/>
                      </a:ext>
                    </a:extLst>
                  </p:cNvPr>
                  <p:cNvSpPr txBox="1">
                    <a:spLocks noChangeArrowheads="1"/>
                  </p:cNvSpPr>
                  <p:nvPr/>
                </p:nvSpPr>
                <p:spPr bwMode="auto">
                  <a:xfrm>
                    <a:off x="723" y="2544"/>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2</a:t>
                    </a:r>
                    <a:endParaRPr lang="en-US" b="0">
                      <a:solidFill>
                        <a:srgbClr val="000000"/>
                      </a:solidFill>
                      <a:latin typeface="Helvetica"/>
                    </a:endParaRPr>
                  </a:p>
                </p:txBody>
              </p:sp>
            </p:grpSp>
            <p:sp>
              <p:nvSpPr>
                <p:cNvPr id="59" name="Line 228">
                  <a:extLst>
                    <a:ext uri="{FF2B5EF4-FFF2-40B4-BE49-F238E27FC236}">
                      <a16:creationId xmlns:a16="http://schemas.microsoft.com/office/drawing/2014/main" id="{F58F9EF7-586B-62EB-E190-64106C58D8F8}"/>
                    </a:ext>
                  </a:extLst>
                </p:cNvPr>
                <p:cNvSpPr>
                  <a:spLocks noChangeShapeType="1"/>
                </p:cNvSpPr>
                <p:nvPr/>
              </p:nvSpPr>
              <p:spPr bwMode="auto">
                <a:xfrm flipV="1">
                  <a:off x="4178" y="1425"/>
                  <a:ext cx="184" cy="254"/>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60" name="Line 232">
                  <a:extLst>
                    <a:ext uri="{FF2B5EF4-FFF2-40B4-BE49-F238E27FC236}">
                      <a16:creationId xmlns:a16="http://schemas.microsoft.com/office/drawing/2014/main" id="{2AEB9744-E042-B9E0-6F16-A8E657A1200D}"/>
                    </a:ext>
                  </a:extLst>
                </p:cNvPr>
                <p:cNvSpPr>
                  <a:spLocks noChangeShapeType="1"/>
                </p:cNvSpPr>
                <p:nvPr/>
              </p:nvSpPr>
              <p:spPr bwMode="auto">
                <a:xfrm flipH="1" flipV="1">
                  <a:off x="4194" y="1969"/>
                  <a:ext cx="355" cy="32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61" name="Line 233">
                  <a:extLst>
                    <a:ext uri="{FF2B5EF4-FFF2-40B4-BE49-F238E27FC236}">
                      <a16:creationId xmlns:a16="http://schemas.microsoft.com/office/drawing/2014/main" id="{4308102C-7B8B-04C6-3B20-A752FABF6386}"/>
                    </a:ext>
                  </a:extLst>
                </p:cNvPr>
                <p:cNvSpPr>
                  <a:spLocks noChangeShapeType="1"/>
                </p:cNvSpPr>
                <p:nvPr/>
              </p:nvSpPr>
              <p:spPr bwMode="auto">
                <a:xfrm>
                  <a:off x="4547" y="2437"/>
                  <a:ext cx="445" cy="155"/>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62" name="Line 234">
                  <a:extLst>
                    <a:ext uri="{FF2B5EF4-FFF2-40B4-BE49-F238E27FC236}">
                      <a16:creationId xmlns:a16="http://schemas.microsoft.com/office/drawing/2014/main" id="{FBB7539E-8F6C-FD39-8817-D2D3B4BB7D95}"/>
                    </a:ext>
                  </a:extLst>
                </p:cNvPr>
                <p:cNvSpPr>
                  <a:spLocks noChangeShapeType="1"/>
                </p:cNvSpPr>
                <p:nvPr/>
              </p:nvSpPr>
              <p:spPr bwMode="auto">
                <a:xfrm flipH="1">
                  <a:off x="4750" y="1926"/>
                  <a:ext cx="274" cy="23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63" name="Group 243">
                  <a:extLst>
                    <a:ext uri="{FF2B5EF4-FFF2-40B4-BE49-F238E27FC236}">
                      <a16:creationId xmlns:a16="http://schemas.microsoft.com/office/drawing/2014/main" id="{A1D07322-B09F-76F8-608D-F8DB2BE4A5A5}"/>
                    </a:ext>
                  </a:extLst>
                </p:cNvPr>
                <p:cNvGrpSpPr>
                  <a:grpSpLocks/>
                </p:cNvGrpSpPr>
                <p:nvPr/>
              </p:nvGrpSpPr>
              <p:grpSpPr bwMode="auto">
                <a:xfrm>
                  <a:off x="4368" y="768"/>
                  <a:ext cx="375" cy="662"/>
                  <a:chOff x="4368" y="768"/>
                  <a:chExt cx="375" cy="662"/>
                </a:xfrm>
              </p:grpSpPr>
              <p:grpSp>
                <p:nvGrpSpPr>
                  <p:cNvPr id="67" name="Group 237">
                    <a:extLst>
                      <a:ext uri="{FF2B5EF4-FFF2-40B4-BE49-F238E27FC236}">
                        <a16:creationId xmlns:a16="http://schemas.microsoft.com/office/drawing/2014/main" id="{E439CA1D-5C3C-6C24-EC37-8583F8C6D58F}"/>
                      </a:ext>
                    </a:extLst>
                  </p:cNvPr>
                  <p:cNvGrpSpPr>
                    <a:grpSpLocks/>
                  </p:cNvGrpSpPr>
                  <p:nvPr/>
                </p:nvGrpSpPr>
                <p:grpSpPr bwMode="auto">
                  <a:xfrm flipV="1">
                    <a:off x="4368" y="1008"/>
                    <a:ext cx="375" cy="422"/>
                    <a:chOff x="672" y="2064"/>
                    <a:chExt cx="384" cy="432"/>
                  </a:xfrm>
                </p:grpSpPr>
                <p:sp>
                  <p:nvSpPr>
                    <p:cNvPr id="69" name="Rectangle 238">
                      <a:extLst>
                        <a:ext uri="{FF2B5EF4-FFF2-40B4-BE49-F238E27FC236}">
                          <a16:creationId xmlns:a16="http://schemas.microsoft.com/office/drawing/2014/main" id="{B37FBA54-08A3-0351-9531-C9829BF92AE6}"/>
                        </a:ext>
                      </a:extLst>
                    </p:cNvPr>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70" name="Oval 239">
                      <a:extLst>
                        <a:ext uri="{FF2B5EF4-FFF2-40B4-BE49-F238E27FC236}">
                          <a16:creationId xmlns:a16="http://schemas.microsoft.com/office/drawing/2014/main" id="{82CC1A51-2D21-4774-1A7C-43AFC71F5513}"/>
                        </a:ext>
                      </a:extLst>
                    </p:cNvPr>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71" name="Oval 240">
                      <a:extLst>
                        <a:ext uri="{FF2B5EF4-FFF2-40B4-BE49-F238E27FC236}">
                          <a16:creationId xmlns:a16="http://schemas.microsoft.com/office/drawing/2014/main" id="{5C5FC572-7F62-907F-7C20-7E675622B559}"/>
                        </a:ext>
                      </a:extLst>
                    </p:cNvPr>
                    <p:cNvSpPr>
                      <a:spLocks noChangeArrowheads="1"/>
                    </p:cNvSpPr>
                    <p:nvPr/>
                  </p:nvSpPr>
                  <p:spPr bwMode="auto">
                    <a:xfrm>
                      <a:off x="840" y="2324"/>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68" name="Text Box 241">
                    <a:extLst>
                      <a:ext uri="{FF2B5EF4-FFF2-40B4-BE49-F238E27FC236}">
                        <a16:creationId xmlns:a16="http://schemas.microsoft.com/office/drawing/2014/main" id="{0DB696FC-5441-3BAD-09C6-724A15EAC753}"/>
                      </a:ext>
                    </a:extLst>
                  </p:cNvPr>
                  <p:cNvSpPr txBox="1">
                    <a:spLocks noChangeArrowheads="1"/>
                  </p:cNvSpPr>
                  <p:nvPr/>
                </p:nvSpPr>
                <p:spPr bwMode="auto">
                  <a:xfrm>
                    <a:off x="4412" y="768"/>
                    <a:ext cx="275" cy="233"/>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1</a:t>
                    </a:r>
                    <a:endParaRPr lang="en-US" b="0">
                      <a:solidFill>
                        <a:srgbClr val="000000"/>
                      </a:solidFill>
                      <a:latin typeface="Helvetica"/>
                    </a:endParaRPr>
                  </a:p>
                </p:txBody>
              </p:sp>
            </p:grpSp>
            <p:sp>
              <p:nvSpPr>
                <p:cNvPr id="64" name="Oval 242">
                  <a:extLst>
                    <a:ext uri="{FF2B5EF4-FFF2-40B4-BE49-F238E27FC236}">
                      <a16:creationId xmlns:a16="http://schemas.microsoft.com/office/drawing/2014/main" id="{0D4F4E57-B1FE-5FB2-D166-87C566BE3266}"/>
                    </a:ext>
                  </a:extLst>
                </p:cNvPr>
                <p:cNvSpPr>
                  <a:spLocks noChangeArrowheads="1"/>
                </p:cNvSpPr>
                <p:nvPr/>
              </p:nvSpPr>
              <p:spPr bwMode="auto">
                <a:xfrm>
                  <a:off x="4992" y="2448"/>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4</a:t>
                  </a:r>
                  <a:endParaRPr lang="en-US" b="0">
                    <a:solidFill>
                      <a:srgbClr val="000000"/>
                    </a:solidFill>
                    <a:latin typeface="Helvetica"/>
                  </a:endParaRPr>
                </a:p>
              </p:txBody>
            </p:sp>
            <p:sp>
              <p:nvSpPr>
                <p:cNvPr id="65" name="Line 244">
                  <a:extLst>
                    <a:ext uri="{FF2B5EF4-FFF2-40B4-BE49-F238E27FC236}">
                      <a16:creationId xmlns:a16="http://schemas.microsoft.com/office/drawing/2014/main" id="{7A4BB37D-01CE-1D6F-6840-DB5A4811123F}"/>
                    </a:ext>
                  </a:extLst>
                </p:cNvPr>
                <p:cNvSpPr>
                  <a:spLocks noChangeShapeType="1"/>
                </p:cNvSpPr>
                <p:nvPr/>
              </p:nvSpPr>
              <p:spPr bwMode="auto">
                <a:xfrm>
                  <a:off x="4553" y="1302"/>
                  <a:ext cx="465" cy="387"/>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66" name="Line 245">
                  <a:extLst>
                    <a:ext uri="{FF2B5EF4-FFF2-40B4-BE49-F238E27FC236}">
                      <a16:creationId xmlns:a16="http://schemas.microsoft.com/office/drawing/2014/main" id="{9677751C-82EE-873B-C189-4D6CCB085432}"/>
                    </a:ext>
                  </a:extLst>
                </p:cNvPr>
                <p:cNvSpPr>
                  <a:spLocks noChangeShapeType="1"/>
                </p:cNvSpPr>
                <p:nvPr/>
              </p:nvSpPr>
              <p:spPr bwMode="auto">
                <a:xfrm flipV="1">
                  <a:off x="4553" y="1002"/>
                  <a:ext cx="418" cy="158"/>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grpSp>
        <p:sp>
          <p:nvSpPr>
            <p:cNvPr id="16" name="Text Box 253">
              <a:extLst>
                <a:ext uri="{FF2B5EF4-FFF2-40B4-BE49-F238E27FC236}">
                  <a16:creationId xmlns:a16="http://schemas.microsoft.com/office/drawing/2014/main" id="{26CA15C0-2A28-4A28-66FC-F50ECE7E08FB}"/>
                </a:ext>
              </a:extLst>
            </p:cNvPr>
            <p:cNvSpPr txBox="1">
              <a:spLocks noChangeArrowheads="1"/>
            </p:cNvSpPr>
            <p:nvPr/>
          </p:nvSpPr>
          <p:spPr bwMode="auto">
            <a:xfrm>
              <a:off x="3792" y="3605"/>
              <a:ext cx="1753" cy="582"/>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b="0" dirty="0">
                  <a:solidFill>
                    <a:srgbClr val="000000"/>
                  </a:solidFill>
                  <a:latin typeface="Helvetica"/>
                </a:rPr>
                <a:t>Cycle, </a:t>
              </a:r>
            </a:p>
            <a:p>
              <a:pPr algn="ctr"/>
              <a:r>
                <a:rPr lang="en-US" b="0" dirty="0">
                  <a:solidFill>
                    <a:srgbClr val="000000"/>
                  </a:solidFill>
                  <a:latin typeface="Helvetica"/>
                </a:rPr>
                <a:t>but No Deadlock</a:t>
              </a:r>
            </a:p>
            <a:p>
              <a:pPr algn="ctr"/>
              <a:r>
                <a:rPr lang="en-US" b="0" dirty="0">
                  <a:solidFill>
                    <a:srgbClr val="000000"/>
                  </a:solidFill>
                  <a:latin typeface="Helvetica"/>
                </a:rPr>
                <a:t>(T</a:t>
              </a:r>
              <a:r>
                <a:rPr lang="en-US" b="0" baseline="-25000" dirty="0">
                  <a:solidFill>
                    <a:srgbClr val="000000"/>
                  </a:solidFill>
                  <a:latin typeface="Helvetica"/>
                </a:rPr>
                <a:t>2</a:t>
              </a:r>
              <a:r>
                <a:rPr lang="en-US" b="0" dirty="0">
                  <a:solidFill>
                    <a:srgbClr val="000000"/>
                  </a:solidFill>
                  <a:latin typeface="Helvetica"/>
                </a:rPr>
                <a:t> or T</a:t>
              </a:r>
              <a:r>
                <a:rPr lang="en-US" b="0" baseline="-25000" dirty="0">
                  <a:solidFill>
                    <a:srgbClr val="000000"/>
                  </a:solidFill>
                  <a:latin typeface="Helvetica"/>
                </a:rPr>
                <a:t>4 </a:t>
              </a:r>
              <a:r>
                <a:rPr lang="en-US" b="0" dirty="0">
                  <a:solidFill>
                    <a:srgbClr val="000000"/>
                  </a:solidFill>
                  <a:latin typeface="Helvetica"/>
                </a:rPr>
                <a:t>may release res)</a:t>
              </a:r>
            </a:p>
          </p:txBody>
        </p:sp>
      </p:grpSp>
      <p:graphicFrame>
        <p:nvGraphicFramePr>
          <p:cNvPr id="77" name="Content Placeholder 5">
            <a:extLst>
              <a:ext uri="{FF2B5EF4-FFF2-40B4-BE49-F238E27FC236}">
                <a16:creationId xmlns:a16="http://schemas.microsoft.com/office/drawing/2014/main" id="{730DE87C-6E5F-0730-9EF6-5F24F1276C3D}"/>
              </a:ext>
            </a:extLst>
          </p:cNvPr>
          <p:cNvGraphicFramePr>
            <a:graphicFrameLocks/>
          </p:cNvGraphicFramePr>
          <p:nvPr/>
        </p:nvGraphicFramePr>
        <p:xfrm>
          <a:off x="3755235" y="1447800"/>
          <a:ext cx="1592643" cy="198120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3030728590"/>
                  </a:ext>
                </a:extLst>
              </a:tr>
              <a:tr h="370840">
                <a:tc>
                  <a:txBody>
                    <a:bodyPr/>
                    <a:lstStyle/>
                    <a:p>
                      <a:pPr algn="ctr"/>
                      <a:r>
                        <a:rPr lang="en-US" sz="2000" dirty="0"/>
                        <a:t>T4</a:t>
                      </a:r>
                      <a:endParaRPr lang="en-SE" sz="2000" dirty="0"/>
                    </a:p>
                  </a:txBody>
                  <a:tcPr/>
                </a:tc>
                <a:tc>
                  <a:txBody>
                    <a:bodyPr/>
                    <a:lstStyle/>
                    <a:p>
                      <a:pPr algn="ctr"/>
                      <a:r>
                        <a:rPr lang="en-US" sz="2000" dirty="0"/>
                        <a:t>0</a:t>
                      </a:r>
                      <a:endParaRPr lang="en-SE" sz="2000" dirty="0"/>
                    </a:p>
                  </a:txBody>
                  <a:tcPr/>
                </a:tc>
                <a:tc>
                  <a:txBody>
                    <a:bodyPr/>
                    <a:lstStyle/>
                    <a:p>
                      <a:pPr algn="ctr"/>
                      <a:r>
                        <a:rPr lang="en-US" sz="2000" dirty="0"/>
                        <a:t>1</a:t>
                      </a:r>
                      <a:endParaRPr lang="en-SE" sz="2000" dirty="0"/>
                    </a:p>
                  </a:txBody>
                  <a:tcPr/>
                </a:tc>
                <a:extLst>
                  <a:ext uri="{0D108BD9-81ED-4DB2-BD59-A6C34878D82A}">
                    <a16:rowId xmlns:a16="http://schemas.microsoft.com/office/drawing/2014/main" val="2126198186"/>
                  </a:ext>
                </a:extLst>
              </a:tr>
            </a:tbl>
          </a:graphicData>
        </a:graphic>
      </p:graphicFrame>
      <p:graphicFrame>
        <p:nvGraphicFramePr>
          <p:cNvPr id="78" name="Content Placeholder 5">
            <a:extLst>
              <a:ext uri="{FF2B5EF4-FFF2-40B4-BE49-F238E27FC236}">
                <a16:creationId xmlns:a16="http://schemas.microsoft.com/office/drawing/2014/main" id="{D3BDDD7E-EFF9-E1CD-8486-73BE0E8332BF}"/>
              </a:ext>
            </a:extLst>
          </p:cNvPr>
          <p:cNvGraphicFramePr>
            <a:graphicFrameLocks/>
          </p:cNvGraphicFramePr>
          <p:nvPr/>
        </p:nvGraphicFramePr>
        <p:xfrm>
          <a:off x="6758420" y="1447800"/>
          <a:ext cx="1592643" cy="198120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3030728590"/>
                  </a:ext>
                </a:extLst>
              </a:tr>
              <a:tr h="370840">
                <a:tc>
                  <a:txBody>
                    <a:bodyPr/>
                    <a:lstStyle/>
                    <a:p>
                      <a:pPr algn="ctr"/>
                      <a:r>
                        <a:rPr lang="en-US" sz="2000" dirty="0"/>
                        <a:t>T4</a:t>
                      </a:r>
                      <a:endParaRPr lang="en-SE" sz="2000" dirty="0"/>
                    </a:p>
                  </a:txBody>
                  <a:tcPr/>
                </a:tc>
                <a:tc>
                  <a:txBody>
                    <a:bodyPr/>
                    <a:lstStyle/>
                    <a:p>
                      <a:pPr algn="ctr"/>
                      <a:r>
                        <a:rPr lang="en-US" sz="2000" dirty="0"/>
                        <a:t>0</a:t>
                      </a:r>
                      <a:endParaRPr lang="en-SE" sz="2000" dirty="0"/>
                    </a:p>
                  </a:txBody>
                  <a:tcPr/>
                </a:tc>
                <a:tc>
                  <a:txBody>
                    <a:bodyPr/>
                    <a:lstStyle/>
                    <a:p>
                      <a:pPr algn="ctr"/>
                      <a:r>
                        <a:rPr lang="en-US" sz="2000" dirty="0"/>
                        <a:t>0</a:t>
                      </a:r>
                      <a:endParaRPr lang="en-SE" sz="2000" dirty="0"/>
                    </a:p>
                  </a:txBody>
                  <a:tcPr/>
                </a:tc>
                <a:extLst>
                  <a:ext uri="{0D108BD9-81ED-4DB2-BD59-A6C34878D82A}">
                    <a16:rowId xmlns:a16="http://schemas.microsoft.com/office/drawing/2014/main" val="2126198186"/>
                  </a:ext>
                </a:extLst>
              </a:tr>
            </a:tbl>
          </a:graphicData>
        </a:graphic>
      </p:graphicFrame>
      <p:sp>
        <p:nvSpPr>
          <p:cNvPr id="79" name="TextBox 78">
            <a:extLst>
              <a:ext uri="{FF2B5EF4-FFF2-40B4-BE49-F238E27FC236}">
                <a16:creationId xmlns:a16="http://schemas.microsoft.com/office/drawing/2014/main" id="{87F519EC-6932-D5C8-7D98-5FAF807B8CE0}"/>
              </a:ext>
            </a:extLst>
          </p:cNvPr>
          <p:cNvSpPr txBox="1"/>
          <p:nvPr/>
        </p:nvSpPr>
        <p:spPr>
          <a:xfrm>
            <a:off x="2087378" y="5349829"/>
            <a:ext cx="4756046" cy="1200329"/>
          </a:xfrm>
          <a:prstGeom prst="rect">
            <a:avLst/>
          </a:prstGeom>
          <a:noFill/>
        </p:spPr>
        <p:txBody>
          <a:bodyPr wrap="none" rtlCol="0">
            <a:spAutoFit/>
          </a:bodyPr>
          <a:lstStyle/>
          <a:p>
            <a:r>
              <a:rPr lang="en-US" altLang="zh-CN" sz="2400" b="0" dirty="0">
                <a:solidFill>
                  <a:schemeClr val="dk1"/>
                </a:solidFill>
                <a:latin typeface="Gill Sans" panose="020B0502020104020203"/>
                <a:ea typeface="+mn-ea"/>
                <a:cs typeface="+mn-cs"/>
              </a:rPr>
              <a:t>Safe Sequence: T4, T3, T1, T2)</a:t>
            </a:r>
          </a:p>
          <a:p>
            <a:r>
              <a:rPr lang="en-US" sz="2400" b="0" dirty="0">
                <a:solidFill>
                  <a:schemeClr val="dk1"/>
                </a:solidFill>
                <a:latin typeface="Gill Sans" panose="020B0502020104020203"/>
                <a:ea typeface="+mn-ea"/>
                <a:cs typeface="+mn-cs"/>
              </a:rPr>
              <a:t>(or T2, T4, T1, T3)</a:t>
            </a:r>
          </a:p>
          <a:p>
            <a:r>
              <a:rPr lang="en-US" sz="2400" b="0" dirty="0">
                <a:solidFill>
                  <a:schemeClr val="dk1"/>
                </a:solidFill>
                <a:latin typeface="Gill Sans" panose="020B0502020104020203"/>
                <a:ea typeface="+mn-ea"/>
                <a:cs typeface="+mn-cs"/>
              </a:rPr>
              <a:t>Or other as T2, T4 can finish anytime</a:t>
            </a:r>
            <a:endParaRPr lang="en-GB" sz="2400" b="0" dirty="0">
              <a:solidFill>
                <a:schemeClr val="dk1"/>
              </a:solidFill>
              <a:latin typeface="Gill Sans" panose="020B0502020104020203"/>
              <a:ea typeface="+mn-ea"/>
              <a:cs typeface="+mn-cs"/>
            </a:endParaRPr>
          </a:p>
        </p:txBody>
      </p:sp>
      <p:sp>
        <p:nvSpPr>
          <p:cNvPr id="81" name="TextBox 80">
            <a:extLst>
              <a:ext uri="{FF2B5EF4-FFF2-40B4-BE49-F238E27FC236}">
                <a16:creationId xmlns:a16="http://schemas.microsoft.com/office/drawing/2014/main" id="{EBAEFEA2-F557-7DF9-DF73-35DEE423E505}"/>
              </a:ext>
            </a:extLst>
          </p:cNvPr>
          <p:cNvSpPr txBox="1"/>
          <p:nvPr/>
        </p:nvSpPr>
        <p:spPr>
          <a:xfrm>
            <a:off x="6808472" y="3562290"/>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graphicFrame>
        <p:nvGraphicFramePr>
          <p:cNvPr id="4" name="Content Placeholder 5">
            <a:extLst>
              <a:ext uri="{FF2B5EF4-FFF2-40B4-BE49-F238E27FC236}">
                <a16:creationId xmlns:a16="http://schemas.microsoft.com/office/drawing/2014/main" id="{CC37D77F-3A63-7624-0A7B-7739CA265D3A}"/>
              </a:ext>
            </a:extLst>
          </p:cNvPr>
          <p:cNvGraphicFramePr>
            <a:graphicFrameLocks/>
          </p:cNvGraphicFramePr>
          <p:nvPr>
            <p:extLst>
              <p:ext uri="{D42A27DB-BD31-4B8C-83A1-F6EECF244321}">
                <p14:modId xmlns:p14="http://schemas.microsoft.com/office/powerpoint/2010/main" val="111194953"/>
              </p:ext>
            </p:extLst>
          </p:nvPr>
        </p:nvGraphicFramePr>
        <p:xfrm>
          <a:off x="6731406" y="3931920"/>
          <a:ext cx="1850760" cy="2377440"/>
        </p:xfrm>
        <a:graphic>
          <a:graphicData uri="http://schemas.openxmlformats.org/drawingml/2006/table">
            <a:tbl>
              <a:tblPr firstRow="1" bandRow="1">
                <a:tableStyleId>{5C22544A-7EE6-4342-B048-85BDC9FD1C3A}</a:tableStyleId>
              </a:tblPr>
              <a:tblGrid>
                <a:gridCol w="671459">
                  <a:extLst>
                    <a:ext uri="{9D8B030D-6E8A-4147-A177-3AD203B41FA5}">
                      <a16:colId xmlns:a16="http://schemas.microsoft.com/office/drawing/2014/main" val="1619986141"/>
                    </a:ext>
                  </a:extLst>
                </a:gridCol>
                <a:gridCol w="562381">
                  <a:extLst>
                    <a:ext uri="{9D8B030D-6E8A-4147-A177-3AD203B41FA5}">
                      <a16:colId xmlns:a16="http://schemas.microsoft.com/office/drawing/2014/main" val="3558990718"/>
                    </a:ext>
                  </a:extLst>
                </a:gridCol>
                <a:gridCol w="616920">
                  <a:extLst>
                    <a:ext uri="{9D8B030D-6E8A-4147-A177-3AD203B41FA5}">
                      <a16:colId xmlns:a16="http://schemas.microsoft.com/office/drawing/2014/main" val="2817522056"/>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extLst>
                  <a:ext uri="{0D108BD9-81ED-4DB2-BD59-A6C34878D82A}">
                    <a16:rowId xmlns:a16="http://schemas.microsoft.com/office/drawing/2014/main" val="117063772"/>
                  </a:ext>
                </a:extLst>
              </a:tr>
              <a:tr h="370840">
                <a:tc>
                  <a:txBody>
                    <a:bodyPr/>
                    <a:lstStyle/>
                    <a:p>
                      <a:pPr algn="ctr"/>
                      <a:r>
                        <a:rPr lang="en-US" sz="2000" dirty="0"/>
                        <a:t>Init</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T4</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3030728590"/>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3263484799"/>
                  </a:ext>
                </a:extLst>
              </a:tr>
              <a:tr h="370840">
                <a:tc>
                  <a:txBody>
                    <a:bodyPr/>
                    <a:lstStyle/>
                    <a:p>
                      <a:pPr algn="ctr"/>
                      <a:r>
                        <a:rPr lang="en-US" sz="2000" dirty="0"/>
                        <a:t>T2</a:t>
                      </a:r>
                      <a:endParaRPr lang="en-SE" sz="2000" dirty="0"/>
                    </a:p>
                  </a:txBody>
                  <a:tcPr/>
                </a:tc>
                <a:tc>
                  <a:txBody>
                    <a:bodyPr/>
                    <a:lstStyle/>
                    <a:p>
                      <a:pPr algn="ctr"/>
                      <a:r>
                        <a:rPr lang="en-US" sz="2000" dirty="0"/>
                        <a:t>2</a:t>
                      </a:r>
                      <a:endParaRPr lang="en-SE" sz="2000" dirty="0"/>
                    </a:p>
                  </a:txBody>
                  <a:tcPr/>
                </a:tc>
                <a:tc>
                  <a:txBody>
                    <a:bodyPr/>
                    <a:lstStyle/>
                    <a:p>
                      <a:pPr algn="ctr"/>
                      <a:r>
                        <a:rPr lang="en-US" sz="2000" dirty="0"/>
                        <a:t>2</a:t>
                      </a:r>
                      <a:endParaRPr lang="en-SE" sz="2000" dirty="0"/>
                    </a:p>
                  </a:txBody>
                  <a:tcPr/>
                </a:tc>
                <a:extLst>
                  <a:ext uri="{0D108BD9-81ED-4DB2-BD59-A6C34878D82A}">
                    <a16:rowId xmlns:a16="http://schemas.microsoft.com/office/drawing/2014/main" val="3164451786"/>
                  </a:ext>
                </a:extLst>
              </a:tr>
            </a:tbl>
          </a:graphicData>
        </a:graphic>
      </p:graphicFrame>
    </p:spTree>
    <p:extLst>
      <p:ext uri="{BB962C8B-B14F-4D97-AF65-F5344CB8AC3E}">
        <p14:creationId xmlns:p14="http://schemas.microsoft.com/office/powerpoint/2010/main" val="336303642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02AB1-4337-E8B0-FCFA-F76193805C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16F223-9110-4346-456B-7D60E8D50397}"/>
              </a:ext>
            </a:extLst>
          </p:cNvPr>
          <p:cNvSpPr>
            <a:spLocks noGrp="1"/>
          </p:cNvSpPr>
          <p:nvPr>
            <p:ph type="title"/>
          </p:nvPr>
        </p:nvSpPr>
        <p:spPr/>
        <p:txBody>
          <a:bodyPr/>
          <a:lstStyle/>
          <a:p>
            <a:r>
              <a:rPr lang="en-GB" dirty="0"/>
              <a:t>Q4 Deadlocks (b) </a:t>
            </a:r>
            <a:r>
              <a:rPr lang="en-US" dirty="0"/>
              <a:t>ANS</a:t>
            </a:r>
            <a:endParaRPr lang="en-SE" dirty="0">
              <a:solidFill>
                <a:srgbClr val="FF0000"/>
              </a:solidFill>
            </a:endParaRPr>
          </a:p>
        </p:txBody>
      </p:sp>
      <p:graphicFrame>
        <p:nvGraphicFramePr>
          <p:cNvPr id="6" name="Content Placeholder 5">
            <a:extLst>
              <a:ext uri="{FF2B5EF4-FFF2-40B4-BE49-F238E27FC236}">
                <a16:creationId xmlns:a16="http://schemas.microsoft.com/office/drawing/2014/main" id="{BAB56273-9502-E869-26FE-5C1C206563D6}"/>
              </a:ext>
            </a:extLst>
          </p:cNvPr>
          <p:cNvGraphicFramePr>
            <a:graphicFrameLocks noGrp="1"/>
          </p:cNvGraphicFramePr>
          <p:nvPr>
            <p:ph idx="1"/>
          </p:nvPr>
        </p:nvGraphicFramePr>
        <p:xfrm>
          <a:off x="638562" y="1447800"/>
          <a:ext cx="1592643" cy="198120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3030728590"/>
                  </a:ext>
                </a:extLst>
              </a:tr>
              <a:tr h="370840">
                <a:tc>
                  <a:txBody>
                    <a:bodyPr/>
                    <a:lstStyle/>
                    <a:p>
                      <a:pPr algn="ctr"/>
                      <a:r>
                        <a:rPr lang="en-US" sz="2000" dirty="0"/>
                        <a:t>T4</a:t>
                      </a:r>
                      <a:endParaRPr lang="en-SE" sz="2000" dirty="0"/>
                    </a:p>
                  </a:txBody>
                  <a:tcPr/>
                </a:tc>
                <a:tc>
                  <a:txBody>
                    <a:bodyPr/>
                    <a:lstStyle/>
                    <a:p>
                      <a:pPr algn="ctr"/>
                      <a:r>
                        <a:rPr lang="en-US" sz="2000" dirty="0"/>
                        <a:t>0</a:t>
                      </a:r>
                      <a:endParaRPr lang="en-SE" sz="2000" dirty="0"/>
                    </a:p>
                  </a:txBody>
                  <a:tcPr/>
                </a:tc>
                <a:tc>
                  <a:txBody>
                    <a:bodyPr/>
                    <a:lstStyle/>
                    <a:p>
                      <a:pPr algn="ctr"/>
                      <a:r>
                        <a:rPr lang="en-US" sz="2000" dirty="0"/>
                        <a:t>1</a:t>
                      </a:r>
                      <a:endParaRPr lang="en-SE" sz="2000" dirty="0"/>
                    </a:p>
                  </a:txBody>
                  <a:tcPr/>
                </a:tc>
                <a:extLst>
                  <a:ext uri="{0D108BD9-81ED-4DB2-BD59-A6C34878D82A}">
                    <a16:rowId xmlns:a16="http://schemas.microsoft.com/office/drawing/2014/main" val="2126198186"/>
                  </a:ext>
                </a:extLst>
              </a:tr>
            </a:tbl>
          </a:graphicData>
        </a:graphic>
      </p:graphicFrame>
      <p:graphicFrame>
        <p:nvGraphicFramePr>
          <p:cNvPr id="11" name="Content Placeholder 5">
            <a:extLst>
              <a:ext uri="{FF2B5EF4-FFF2-40B4-BE49-F238E27FC236}">
                <a16:creationId xmlns:a16="http://schemas.microsoft.com/office/drawing/2014/main" id="{92519651-C876-A610-0A84-1E0DDE32E1AF}"/>
              </a:ext>
            </a:extLst>
          </p:cNvPr>
          <p:cNvGraphicFramePr>
            <a:graphicFrameLocks/>
          </p:cNvGraphicFramePr>
          <p:nvPr>
            <p:extLst>
              <p:ext uri="{D42A27DB-BD31-4B8C-83A1-F6EECF244321}">
                <p14:modId xmlns:p14="http://schemas.microsoft.com/office/powerpoint/2010/main" val="549224815"/>
              </p:ext>
            </p:extLst>
          </p:nvPr>
        </p:nvGraphicFramePr>
        <p:xfrm>
          <a:off x="914400" y="3931920"/>
          <a:ext cx="1061762" cy="79248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tblGrid>
              <a:tr h="370840">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1</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3030728590"/>
                  </a:ext>
                </a:extLst>
              </a:tr>
            </a:tbl>
          </a:graphicData>
        </a:graphic>
      </p:graphicFrame>
      <p:sp>
        <p:nvSpPr>
          <p:cNvPr id="12" name="TextBox 11">
            <a:extLst>
              <a:ext uri="{FF2B5EF4-FFF2-40B4-BE49-F238E27FC236}">
                <a16:creationId xmlns:a16="http://schemas.microsoft.com/office/drawing/2014/main" id="{39E7D57B-EAC9-2C27-E1FC-2F745C435482}"/>
              </a:ext>
            </a:extLst>
          </p:cNvPr>
          <p:cNvSpPr txBox="1"/>
          <p:nvPr/>
        </p:nvSpPr>
        <p:spPr>
          <a:xfrm>
            <a:off x="1079420" y="1089724"/>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13" name="TextBox 12">
            <a:extLst>
              <a:ext uri="{FF2B5EF4-FFF2-40B4-BE49-F238E27FC236}">
                <a16:creationId xmlns:a16="http://schemas.microsoft.com/office/drawing/2014/main" id="{F17D5B6F-2853-E331-0A52-9EA8BF876031}"/>
              </a:ext>
            </a:extLst>
          </p:cNvPr>
          <p:cNvSpPr txBox="1"/>
          <p:nvPr/>
        </p:nvSpPr>
        <p:spPr>
          <a:xfrm>
            <a:off x="3812354" y="1089724"/>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14" name="TextBox 13">
            <a:extLst>
              <a:ext uri="{FF2B5EF4-FFF2-40B4-BE49-F238E27FC236}">
                <a16:creationId xmlns:a16="http://schemas.microsoft.com/office/drawing/2014/main" id="{268BAD56-8739-0AA7-81A4-443C9F766664}"/>
              </a:ext>
            </a:extLst>
          </p:cNvPr>
          <p:cNvSpPr txBox="1"/>
          <p:nvPr/>
        </p:nvSpPr>
        <p:spPr>
          <a:xfrm>
            <a:off x="1002907" y="3562290"/>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15" name="TextBox 14">
            <a:extLst>
              <a:ext uri="{FF2B5EF4-FFF2-40B4-BE49-F238E27FC236}">
                <a16:creationId xmlns:a16="http://schemas.microsoft.com/office/drawing/2014/main" id="{12BE21A8-8CD1-AE04-39EB-A9A0165B881B}"/>
              </a:ext>
            </a:extLst>
          </p:cNvPr>
          <p:cNvSpPr txBox="1"/>
          <p:nvPr/>
        </p:nvSpPr>
        <p:spPr>
          <a:xfrm>
            <a:off x="3782807" y="3562290"/>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graphicFrame>
        <p:nvGraphicFramePr>
          <p:cNvPr id="17" name="Content Placeholder 5">
            <a:extLst>
              <a:ext uri="{FF2B5EF4-FFF2-40B4-BE49-F238E27FC236}">
                <a16:creationId xmlns:a16="http://schemas.microsoft.com/office/drawing/2014/main" id="{65410C3D-11D9-8540-6E6A-DD6524051F36}"/>
              </a:ext>
            </a:extLst>
          </p:cNvPr>
          <p:cNvGraphicFramePr>
            <a:graphicFrameLocks/>
          </p:cNvGraphicFramePr>
          <p:nvPr>
            <p:extLst>
              <p:ext uri="{D42A27DB-BD31-4B8C-83A1-F6EECF244321}">
                <p14:modId xmlns:p14="http://schemas.microsoft.com/office/powerpoint/2010/main" val="3342544511"/>
              </p:ext>
            </p:extLst>
          </p:nvPr>
        </p:nvGraphicFramePr>
        <p:xfrm>
          <a:off x="3920804" y="3931920"/>
          <a:ext cx="1061762" cy="79248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tblGrid>
              <a:tr h="370840">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3030728590"/>
                  </a:ext>
                </a:extLst>
              </a:tr>
            </a:tbl>
          </a:graphicData>
        </a:graphic>
      </p:graphicFrame>
      <p:sp>
        <p:nvSpPr>
          <p:cNvPr id="20" name="TextBox 19">
            <a:extLst>
              <a:ext uri="{FF2B5EF4-FFF2-40B4-BE49-F238E27FC236}">
                <a16:creationId xmlns:a16="http://schemas.microsoft.com/office/drawing/2014/main" id="{DA209164-07B0-C0EA-B2D0-56EB0EDF06A2}"/>
              </a:ext>
            </a:extLst>
          </p:cNvPr>
          <p:cNvSpPr txBox="1"/>
          <p:nvPr/>
        </p:nvSpPr>
        <p:spPr>
          <a:xfrm>
            <a:off x="7103552" y="1089724"/>
            <a:ext cx="822661" cy="400110"/>
          </a:xfrm>
          <a:prstGeom prst="rect">
            <a:avLst/>
          </a:prstGeom>
          <a:noFill/>
        </p:spPr>
        <p:txBody>
          <a:bodyPr wrap="none" rtlCol="0">
            <a:spAutoFit/>
          </a:bodyPr>
          <a:lstStyle/>
          <a:p>
            <a:r>
              <a:rPr lang="en-GB" sz="2000" b="0" dirty="0">
                <a:solidFill>
                  <a:schemeClr val="dk1"/>
                </a:solidFill>
                <a:latin typeface="+mn-lt"/>
                <a:ea typeface="+mn-ea"/>
                <a:cs typeface="+mn-cs"/>
              </a:rPr>
              <a:t>Need</a:t>
            </a:r>
          </a:p>
        </p:txBody>
      </p:sp>
      <p:sp>
        <p:nvSpPr>
          <p:cNvPr id="5" name="TextBox 4">
            <a:extLst>
              <a:ext uri="{FF2B5EF4-FFF2-40B4-BE49-F238E27FC236}">
                <a16:creationId xmlns:a16="http://schemas.microsoft.com/office/drawing/2014/main" id="{074D1C67-19ED-B063-1428-AD707B67FF24}"/>
              </a:ext>
            </a:extLst>
          </p:cNvPr>
          <p:cNvSpPr txBox="1"/>
          <p:nvPr/>
        </p:nvSpPr>
        <p:spPr>
          <a:xfrm>
            <a:off x="622855" y="5009335"/>
            <a:ext cx="1891746" cy="461665"/>
          </a:xfrm>
          <a:prstGeom prst="rect">
            <a:avLst/>
          </a:prstGeom>
          <a:noFill/>
        </p:spPr>
        <p:txBody>
          <a:bodyPr wrap="square" rtlCol="0">
            <a:spAutoFit/>
          </a:bodyPr>
          <a:lstStyle/>
          <a:p>
            <a:r>
              <a:rPr lang="en-GB" altLang="zh-CN" sz="2400" b="0" dirty="0">
                <a:solidFill>
                  <a:schemeClr val="dk1"/>
                </a:solidFill>
                <a:latin typeface="Gill Sans" panose="020B0502020104020203"/>
                <a:ea typeface="+mn-ea"/>
                <a:cs typeface="+mn-cs"/>
              </a:rPr>
              <a:t>No deadlock</a:t>
            </a:r>
            <a:endParaRPr lang="en-GB" sz="2400" b="0" dirty="0">
              <a:solidFill>
                <a:schemeClr val="dk1"/>
              </a:solidFill>
              <a:latin typeface="Gill Sans" panose="020B0502020104020203"/>
              <a:ea typeface="+mn-ea"/>
              <a:cs typeface="+mn-cs"/>
            </a:endParaRPr>
          </a:p>
        </p:txBody>
      </p:sp>
      <p:grpSp>
        <p:nvGrpSpPr>
          <p:cNvPr id="3" name="Group 265">
            <a:extLst>
              <a:ext uri="{FF2B5EF4-FFF2-40B4-BE49-F238E27FC236}">
                <a16:creationId xmlns:a16="http://schemas.microsoft.com/office/drawing/2014/main" id="{AB080F2B-DF9C-F560-BAC2-188D15C2FE3F}"/>
              </a:ext>
            </a:extLst>
          </p:cNvPr>
          <p:cNvGrpSpPr>
            <a:grpSpLocks/>
          </p:cNvGrpSpPr>
          <p:nvPr/>
        </p:nvGrpSpPr>
        <p:grpSpPr bwMode="auto">
          <a:xfrm>
            <a:off x="9001334" y="1199336"/>
            <a:ext cx="2782886" cy="4741861"/>
            <a:chOff x="3792" y="1200"/>
            <a:chExt cx="1753" cy="2987"/>
          </a:xfrm>
        </p:grpSpPr>
        <p:grpSp>
          <p:nvGrpSpPr>
            <p:cNvPr id="7" name="Group 248">
              <a:extLst>
                <a:ext uri="{FF2B5EF4-FFF2-40B4-BE49-F238E27FC236}">
                  <a16:creationId xmlns:a16="http://schemas.microsoft.com/office/drawing/2014/main" id="{A662276E-AAA9-25E0-AC7F-10C623B814EA}"/>
                </a:ext>
              </a:extLst>
            </p:cNvPr>
            <p:cNvGrpSpPr>
              <a:grpSpLocks/>
            </p:cNvGrpSpPr>
            <p:nvPr/>
          </p:nvGrpSpPr>
          <p:grpSpPr bwMode="auto">
            <a:xfrm>
              <a:off x="3792" y="1200"/>
              <a:ext cx="1753" cy="2400"/>
              <a:chOff x="3792" y="624"/>
              <a:chExt cx="1753" cy="2400"/>
            </a:xfrm>
          </p:grpSpPr>
          <p:sp>
            <p:nvSpPr>
              <p:cNvPr id="53" name="Rectangle 200">
                <a:extLst>
                  <a:ext uri="{FF2B5EF4-FFF2-40B4-BE49-F238E27FC236}">
                    <a16:creationId xmlns:a16="http://schemas.microsoft.com/office/drawing/2014/main" id="{AFE59BC9-99C7-02F8-9CB1-5F3334F56988}"/>
                  </a:ext>
                </a:extLst>
              </p:cNvPr>
              <p:cNvSpPr>
                <a:spLocks noChangeArrowheads="1"/>
              </p:cNvSpPr>
              <p:nvPr/>
            </p:nvSpPr>
            <p:spPr bwMode="auto">
              <a:xfrm>
                <a:off x="3792" y="624"/>
                <a:ext cx="1753" cy="2400"/>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54" name="Group 247">
                <a:extLst>
                  <a:ext uri="{FF2B5EF4-FFF2-40B4-BE49-F238E27FC236}">
                    <a16:creationId xmlns:a16="http://schemas.microsoft.com/office/drawing/2014/main" id="{D8E3199F-8A65-3DEC-09F8-7A4271F5F4AF}"/>
                  </a:ext>
                </a:extLst>
              </p:cNvPr>
              <p:cNvGrpSpPr>
                <a:grpSpLocks/>
              </p:cNvGrpSpPr>
              <p:nvPr/>
            </p:nvGrpSpPr>
            <p:grpSpPr bwMode="auto">
              <a:xfrm>
                <a:off x="3896" y="768"/>
                <a:ext cx="1471" cy="2055"/>
                <a:chOff x="3896" y="768"/>
                <a:chExt cx="1471" cy="2055"/>
              </a:xfrm>
            </p:grpSpPr>
            <p:sp>
              <p:nvSpPr>
                <p:cNvPr id="55" name="Oval 202">
                  <a:extLst>
                    <a:ext uri="{FF2B5EF4-FFF2-40B4-BE49-F238E27FC236}">
                      <a16:creationId xmlns:a16="http://schemas.microsoft.com/office/drawing/2014/main" id="{F3FD409E-DFA7-995A-4261-179D2C8F81E6}"/>
                    </a:ext>
                  </a:extLst>
                </p:cNvPr>
                <p:cNvSpPr>
                  <a:spLocks noChangeArrowheads="1"/>
                </p:cNvSpPr>
                <p:nvPr/>
              </p:nvSpPr>
              <p:spPr bwMode="auto">
                <a:xfrm>
                  <a:off x="3896" y="1631"/>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1</a:t>
                  </a:r>
                  <a:endParaRPr lang="en-US" b="0">
                    <a:solidFill>
                      <a:srgbClr val="000000"/>
                    </a:solidFill>
                    <a:latin typeface="Helvetica"/>
                  </a:endParaRPr>
                </a:p>
              </p:txBody>
            </p:sp>
            <p:sp>
              <p:nvSpPr>
                <p:cNvPr id="56" name="Oval 203">
                  <a:extLst>
                    <a:ext uri="{FF2B5EF4-FFF2-40B4-BE49-F238E27FC236}">
                      <a16:creationId xmlns:a16="http://schemas.microsoft.com/office/drawing/2014/main" id="{38AA9B14-D2EA-CC72-49A1-08BC195A5F70}"/>
                    </a:ext>
                  </a:extLst>
                </p:cNvPr>
                <p:cNvSpPr>
                  <a:spLocks noChangeArrowheads="1"/>
                </p:cNvSpPr>
                <p:nvPr/>
              </p:nvSpPr>
              <p:spPr bwMode="auto">
                <a:xfrm>
                  <a:off x="4969" y="770"/>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2</a:t>
                  </a:r>
                  <a:endParaRPr lang="en-US" b="0">
                    <a:solidFill>
                      <a:srgbClr val="000000"/>
                    </a:solidFill>
                    <a:latin typeface="Helvetica"/>
                  </a:endParaRPr>
                </a:p>
              </p:txBody>
            </p:sp>
            <p:sp>
              <p:nvSpPr>
                <p:cNvPr id="57" name="Oval 204">
                  <a:extLst>
                    <a:ext uri="{FF2B5EF4-FFF2-40B4-BE49-F238E27FC236}">
                      <a16:creationId xmlns:a16="http://schemas.microsoft.com/office/drawing/2014/main" id="{CD9B0CF9-9DB3-3102-51A5-3F967ED40D71}"/>
                    </a:ext>
                  </a:extLst>
                </p:cNvPr>
                <p:cNvSpPr>
                  <a:spLocks noChangeArrowheads="1"/>
                </p:cNvSpPr>
                <p:nvPr/>
              </p:nvSpPr>
              <p:spPr bwMode="auto">
                <a:xfrm>
                  <a:off x="4992" y="163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3</a:t>
                  </a:r>
                  <a:endParaRPr lang="en-US" b="0">
                    <a:solidFill>
                      <a:srgbClr val="000000"/>
                    </a:solidFill>
                    <a:latin typeface="Helvetica"/>
                  </a:endParaRPr>
                </a:p>
              </p:txBody>
            </p:sp>
            <p:grpSp>
              <p:nvGrpSpPr>
                <p:cNvPr id="58" name="Group 215">
                  <a:extLst>
                    <a:ext uri="{FF2B5EF4-FFF2-40B4-BE49-F238E27FC236}">
                      <a16:creationId xmlns:a16="http://schemas.microsoft.com/office/drawing/2014/main" id="{A2001B58-1475-705F-F56D-A74F6675E30E}"/>
                    </a:ext>
                  </a:extLst>
                </p:cNvPr>
                <p:cNvGrpSpPr>
                  <a:grpSpLocks/>
                </p:cNvGrpSpPr>
                <p:nvPr/>
              </p:nvGrpSpPr>
              <p:grpSpPr bwMode="auto">
                <a:xfrm>
                  <a:off x="4368" y="2160"/>
                  <a:ext cx="375" cy="654"/>
                  <a:chOff x="672" y="2112"/>
                  <a:chExt cx="384" cy="670"/>
                </a:xfrm>
              </p:grpSpPr>
              <p:grpSp>
                <p:nvGrpSpPr>
                  <p:cNvPr id="72" name="Group 216">
                    <a:extLst>
                      <a:ext uri="{FF2B5EF4-FFF2-40B4-BE49-F238E27FC236}">
                        <a16:creationId xmlns:a16="http://schemas.microsoft.com/office/drawing/2014/main" id="{59BD46B2-E569-3D84-314D-2EF634E54DB8}"/>
                      </a:ext>
                    </a:extLst>
                  </p:cNvPr>
                  <p:cNvGrpSpPr>
                    <a:grpSpLocks/>
                  </p:cNvGrpSpPr>
                  <p:nvPr/>
                </p:nvGrpSpPr>
                <p:grpSpPr bwMode="auto">
                  <a:xfrm>
                    <a:off x="672" y="2112"/>
                    <a:ext cx="384" cy="432"/>
                    <a:chOff x="672" y="2064"/>
                    <a:chExt cx="384" cy="432"/>
                  </a:xfrm>
                </p:grpSpPr>
                <p:sp>
                  <p:nvSpPr>
                    <p:cNvPr id="74" name="Rectangle 217">
                      <a:extLst>
                        <a:ext uri="{FF2B5EF4-FFF2-40B4-BE49-F238E27FC236}">
                          <a16:creationId xmlns:a16="http://schemas.microsoft.com/office/drawing/2014/main" id="{F982F37B-ABA2-E3A2-2EC4-672E9D918ED8}"/>
                        </a:ext>
                      </a:extLst>
                    </p:cNvPr>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75" name="Oval 218">
                      <a:extLst>
                        <a:ext uri="{FF2B5EF4-FFF2-40B4-BE49-F238E27FC236}">
                          <a16:creationId xmlns:a16="http://schemas.microsoft.com/office/drawing/2014/main" id="{DB165FA8-CBF8-E2EF-FC0A-4890657B178B}"/>
                        </a:ext>
                      </a:extLst>
                    </p:cNvPr>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76" name="Oval 219">
                      <a:extLst>
                        <a:ext uri="{FF2B5EF4-FFF2-40B4-BE49-F238E27FC236}">
                          <a16:creationId xmlns:a16="http://schemas.microsoft.com/office/drawing/2014/main" id="{CE029B01-0BE7-B5A2-B72D-C6563E402402}"/>
                        </a:ext>
                      </a:extLst>
                    </p:cNvPr>
                    <p:cNvSpPr>
                      <a:spLocks noChangeArrowheads="1"/>
                    </p:cNvSpPr>
                    <p:nvPr/>
                  </p:nvSpPr>
                  <p:spPr bwMode="auto">
                    <a:xfrm>
                      <a:off x="840" y="2324"/>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73" name="Text Box 220">
                    <a:extLst>
                      <a:ext uri="{FF2B5EF4-FFF2-40B4-BE49-F238E27FC236}">
                        <a16:creationId xmlns:a16="http://schemas.microsoft.com/office/drawing/2014/main" id="{FE30D5B7-0BAD-6184-9654-CEC4C4BD7A02}"/>
                      </a:ext>
                    </a:extLst>
                  </p:cNvPr>
                  <p:cNvSpPr txBox="1">
                    <a:spLocks noChangeArrowheads="1"/>
                  </p:cNvSpPr>
                  <p:nvPr/>
                </p:nvSpPr>
                <p:spPr bwMode="auto">
                  <a:xfrm>
                    <a:off x="723" y="2544"/>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2</a:t>
                    </a:r>
                    <a:endParaRPr lang="en-US" b="0">
                      <a:solidFill>
                        <a:srgbClr val="000000"/>
                      </a:solidFill>
                      <a:latin typeface="Helvetica"/>
                    </a:endParaRPr>
                  </a:p>
                </p:txBody>
              </p:sp>
            </p:grpSp>
            <p:sp>
              <p:nvSpPr>
                <p:cNvPr id="59" name="Line 228">
                  <a:extLst>
                    <a:ext uri="{FF2B5EF4-FFF2-40B4-BE49-F238E27FC236}">
                      <a16:creationId xmlns:a16="http://schemas.microsoft.com/office/drawing/2014/main" id="{DAB1E9BD-1D0B-D00A-74B4-C17AA3651CE6}"/>
                    </a:ext>
                  </a:extLst>
                </p:cNvPr>
                <p:cNvSpPr>
                  <a:spLocks noChangeShapeType="1"/>
                </p:cNvSpPr>
                <p:nvPr/>
              </p:nvSpPr>
              <p:spPr bwMode="auto">
                <a:xfrm flipV="1">
                  <a:off x="4178" y="1425"/>
                  <a:ext cx="184" cy="254"/>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60" name="Line 232">
                  <a:extLst>
                    <a:ext uri="{FF2B5EF4-FFF2-40B4-BE49-F238E27FC236}">
                      <a16:creationId xmlns:a16="http://schemas.microsoft.com/office/drawing/2014/main" id="{2746CC18-0A36-25DD-CE46-0AAD8CF182F7}"/>
                    </a:ext>
                  </a:extLst>
                </p:cNvPr>
                <p:cNvSpPr>
                  <a:spLocks noChangeShapeType="1"/>
                </p:cNvSpPr>
                <p:nvPr/>
              </p:nvSpPr>
              <p:spPr bwMode="auto">
                <a:xfrm flipH="1" flipV="1">
                  <a:off x="4194" y="1969"/>
                  <a:ext cx="355" cy="32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61" name="Line 233">
                  <a:extLst>
                    <a:ext uri="{FF2B5EF4-FFF2-40B4-BE49-F238E27FC236}">
                      <a16:creationId xmlns:a16="http://schemas.microsoft.com/office/drawing/2014/main" id="{A2ED4E27-9444-1C5C-E2E4-151551E126D3}"/>
                    </a:ext>
                  </a:extLst>
                </p:cNvPr>
                <p:cNvSpPr>
                  <a:spLocks noChangeShapeType="1"/>
                </p:cNvSpPr>
                <p:nvPr/>
              </p:nvSpPr>
              <p:spPr bwMode="auto">
                <a:xfrm>
                  <a:off x="4547" y="2437"/>
                  <a:ext cx="445" cy="155"/>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62" name="Line 234">
                  <a:extLst>
                    <a:ext uri="{FF2B5EF4-FFF2-40B4-BE49-F238E27FC236}">
                      <a16:creationId xmlns:a16="http://schemas.microsoft.com/office/drawing/2014/main" id="{D8675F58-25B4-2DE7-5626-57DFD974E1A0}"/>
                    </a:ext>
                  </a:extLst>
                </p:cNvPr>
                <p:cNvSpPr>
                  <a:spLocks noChangeShapeType="1"/>
                </p:cNvSpPr>
                <p:nvPr/>
              </p:nvSpPr>
              <p:spPr bwMode="auto">
                <a:xfrm flipH="1">
                  <a:off x="4750" y="1926"/>
                  <a:ext cx="274" cy="23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63" name="Group 243">
                  <a:extLst>
                    <a:ext uri="{FF2B5EF4-FFF2-40B4-BE49-F238E27FC236}">
                      <a16:creationId xmlns:a16="http://schemas.microsoft.com/office/drawing/2014/main" id="{13B48F70-DD87-4DEF-3E06-3804CF940A1B}"/>
                    </a:ext>
                  </a:extLst>
                </p:cNvPr>
                <p:cNvGrpSpPr>
                  <a:grpSpLocks/>
                </p:cNvGrpSpPr>
                <p:nvPr/>
              </p:nvGrpSpPr>
              <p:grpSpPr bwMode="auto">
                <a:xfrm>
                  <a:off x="4368" y="768"/>
                  <a:ext cx="375" cy="662"/>
                  <a:chOff x="4368" y="768"/>
                  <a:chExt cx="375" cy="662"/>
                </a:xfrm>
              </p:grpSpPr>
              <p:grpSp>
                <p:nvGrpSpPr>
                  <p:cNvPr id="67" name="Group 237">
                    <a:extLst>
                      <a:ext uri="{FF2B5EF4-FFF2-40B4-BE49-F238E27FC236}">
                        <a16:creationId xmlns:a16="http://schemas.microsoft.com/office/drawing/2014/main" id="{DE07EA4A-EB34-4BD1-7BCE-DD221D0994F2}"/>
                      </a:ext>
                    </a:extLst>
                  </p:cNvPr>
                  <p:cNvGrpSpPr>
                    <a:grpSpLocks/>
                  </p:cNvGrpSpPr>
                  <p:nvPr/>
                </p:nvGrpSpPr>
                <p:grpSpPr bwMode="auto">
                  <a:xfrm flipV="1">
                    <a:off x="4368" y="1008"/>
                    <a:ext cx="375" cy="422"/>
                    <a:chOff x="672" y="2064"/>
                    <a:chExt cx="384" cy="432"/>
                  </a:xfrm>
                </p:grpSpPr>
                <p:sp>
                  <p:nvSpPr>
                    <p:cNvPr id="69" name="Rectangle 238">
                      <a:extLst>
                        <a:ext uri="{FF2B5EF4-FFF2-40B4-BE49-F238E27FC236}">
                          <a16:creationId xmlns:a16="http://schemas.microsoft.com/office/drawing/2014/main" id="{86FADA6E-A3FB-5025-AF7C-3E95B1B1055B}"/>
                        </a:ext>
                      </a:extLst>
                    </p:cNvPr>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70" name="Oval 239">
                      <a:extLst>
                        <a:ext uri="{FF2B5EF4-FFF2-40B4-BE49-F238E27FC236}">
                          <a16:creationId xmlns:a16="http://schemas.microsoft.com/office/drawing/2014/main" id="{E8B46264-995C-CB02-9C44-43D84FC701AB}"/>
                        </a:ext>
                      </a:extLst>
                    </p:cNvPr>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68" name="Text Box 241">
                    <a:extLst>
                      <a:ext uri="{FF2B5EF4-FFF2-40B4-BE49-F238E27FC236}">
                        <a16:creationId xmlns:a16="http://schemas.microsoft.com/office/drawing/2014/main" id="{9B74C97F-BEFB-3AEF-11E3-DA71973AD78C}"/>
                      </a:ext>
                    </a:extLst>
                  </p:cNvPr>
                  <p:cNvSpPr txBox="1">
                    <a:spLocks noChangeArrowheads="1"/>
                  </p:cNvSpPr>
                  <p:nvPr/>
                </p:nvSpPr>
                <p:spPr bwMode="auto">
                  <a:xfrm>
                    <a:off x="4412" y="768"/>
                    <a:ext cx="275" cy="233"/>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1</a:t>
                    </a:r>
                    <a:endParaRPr lang="en-US" b="0">
                      <a:solidFill>
                        <a:srgbClr val="000000"/>
                      </a:solidFill>
                      <a:latin typeface="Helvetica"/>
                    </a:endParaRPr>
                  </a:p>
                </p:txBody>
              </p:sp>
            </p:grpSp>
            <p:sp>
              <p:nvSpPr>
                <p:cNvPr id="64" name="Oval 242">
                  <a:extLst>
                    <a:ext uri="{FF2B5EF4-FFF2-40B4-BE49-F238E27FC236}">
                      <a16:creationId xmlns:a16="http://schemas.microsoft.com/office/drawing/2014/main" id="{3FBCE58C-1905-E884-D0CE-82CA9D73ECC2}"/>
                    </a:ext>
                  </a:extLst>
                </p:cNvPr>
                <p:cNvSpPr>
                  <a:spLocks noChangeArrowheads="1"/>
                </p:cNvSpPr>
                <p:nvPr/>
              </p:nvSpPr>
              <p:spPr bwMode="auto">
                <a:xfrm>
                  <a:off x="4992" y="2448"/>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4</a:t>
                  </a:r>
                  <a:endParaRPr lang="en-US" b="0">
                    <a:solidFill>
                      <a:srgbClr val="000000"/>
                    </a:solidFill>
                    <a:latin typeface="Helvetica"/>
                  </a:endParaRPr>
                </a:p>
              </p:txBody>
            </p:sp>
            <p:sp>
              <p:nvSpPr>
                <p:cNvPr id="65" name="Line 244">
                  <a:extLst>
                    <a:ext uri="{FF2B5EF4-FFF2-40B4-BE49-F238E27FC236}">
                      <a16:creationId xmlns:a16="http://schemas.microsoft.com/office/drawing/2014/main" id="{5CA06914-346D-4490-FB0F-E9D197554BE3}"/>
                    </a:ext>
                  </a:extLst>
                </p:cNvPr>
                <p:cNvSpPr>
                  <a:spLocks noChangeShapeType="1"/>
                </p:cNvSpPr>
                <p:nvPr/>
              </p:nvSpPr>
              <p:spPr bwMode="auto">
                <a:xfrm>
                  <a:off x="4553" y="1302"/>
                  <a:ext cx="465" cy="387"/>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66" name="Line 245">
                  <a:extLst>
                    <a:ext uri="{FF2B5EF4-FFF2-40B4-BE49-F238E27FC236}">
                      <a16:creationId xmlns:a16="http://schemas.microsoft.com/office/drawing/2014/main" id="{AF6DCB86-C661-52F2-8508-744DEFA88571}"/>
                    </a:ext>
                  </a:extLst>
                </p:cNvPr>
                <p:cNvSpPr>
                  <a:spLocks noChangeShapeType="1"/>
                </p:cNvSpPr>
                <p:nvPr/>
              </p:nvSpPr>
              <p:spPr bwMode="auto">
                <a:xfrm flipV="1">
                  <a:off x="4749" y="1002"/>
                  <a:ext cx="222" cy="127"/>
                </a:xfrm>
                <a:prstGeom prst="line">
                  <a:avLst/>
                </a:prstGeom>
                <a:ln>
                  <a:headEnd type="triangle" w="med" len="med"/>
                  <a:tailEnd type="none"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grpSp>
        <p:sp>
          <p:nvSpPr>
            <p:cNvPr id="16" name="Text Box 253">
              <a:extLst>
                <a:ext uri="{FF2B5EF4-FFF2-40B4-BE49-F238E27FC236}">
                  <a16:creationId xmlns:a16="http://schemas.microsoft.com/office/drawing/2014/main" id="{2C2C97AC-691B-9084-4E95-ED107BFB7822}"/>
                </a:ext>
              </a:extLst>
            </p:cNvPr>
            <p:cNvSpPr txBox="1">
              <a:spLocks noChangeArrowheads="1"/>
            </p:cNvSpPr>
            <p:nvPr/>
          </p:nvSpPr>
          <p:spPr bwMode="auto">
            <a:xfrm>
              <a:off x="3792" y="3605"/>
              <a:ext cx="1753" cy="582"/>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b="0" dirty="0">
                  <a:solidFill>
                    <a:srgbClr val="000000"/>
                  </a:solidFill>
                  <a:latin typeface="Helvetica"/>
                </a:rPr>
                <a:t>Cycle, </a:t>
              </a:r>
            </a:p>
            <a:p>
              <a:pPr algn="ctr"/>
              <a:r>
                <a:rPr lang="en-US" b="0" dirty="0">
                  <a:solidFill>
                    <a:srgbClr val="000000"/>
                  </a:solidFill>
                  <a:latin typeface="Helvetica"/>
                </a:rPr>
                <a:t>but No Deadlock</a:t>
              </a:r>
            </a:p>
            <a:p>
              <a:pPr algn="ctr"/>
              <a:r>
                <a:rPr lang="en-US" b="0" dirty="0">
                  <a:solidFill>
                    <a:srgbClr val="000000"/>
                  </a:solidFill>
                  <a:latin typeface="Helvetica"/>
                </a:rPr>
                <a:t>(T</a:t>
              </a:r>
              <a:r>
                <a:rPr lang="en-US" b="0" baseline="-25000" dirty="0">
                  <a:solidFill>
                    <a:srgbClr val="000000"/>
                  </a:solidFill>
                  <a:latin typeface="Helvetica"/>
                </a:rPr>
                <a:t>4 </a:t>
              </a:r>
              <a:r>
                <a:rPr lang="en-US" b="0" dirty="0">
                  <a:solidFill>
                    <a:srgbClr val="000000"/>
                  </a:solidFill>
                  <a:latin typeface="Helvetica"/>
                </a:rPr>
                <a:t>may release res)</a:t>
              </a:r>
            </a:p>
          </p:txBody>
        </p:sp>
      </p:grpSp>
      <p:graphicFrame>
        <p:nvGraphicFramePr>
          <p:cNvPr id="77" name="Content Placeholder 5">
            <a:extLst>
              <a:ext uri="{FF2B5EF4-FFF2-40B4-BE49-F238E27FC236}">
                <a16:creationId xmlns:a16="http://schemas.microsoft.com/office/drawing/2014/main" id="{A16FD4D9-63EC-EC52-A60F-0CB744CFE323}"/>
              </a:ext>
            </a:extLst>
          </p:cNvPr>
          <p:cNvGraphicFramePr>
            <a:graphicFrameLocks/>
          </p:cNvGraphicFramePr>
          <p:nvPr>
            <p:extLst>
              <p:ext uri="{D42A27DB-BD31-4B8C-83A1-F6EECF244321}">
                <p14:modId xmlns:p14="http://schemas.microsoft.com/office/powerpoint/2010/main" val="496024094"/>
              </p:ext>
            </p:extLst>
          </p:nvPr>
        </p:nvGraphicFramePr>
        <p:xfrm>
          <a:off x="3755235" y="1447800"/>
          <a:ext cx="1592643" cy="198120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3030728590"/>
                  </a:ext>
                </a:extLst>
              </a:tr>
              <a:tr h="370840">
                <a:tc>
                  <a:txBody>
                    <a:bodyPr/>
                    <a:lstStyle/>
                    <a:p>
                      <a:pPr algn="ctr"/>
                      <a:r>
                        <a:rPr lang="en-US" sz="2000" dirty="0"/>
                        <a:t>T4</a:t>
                      </a:r>
                      <a:endParaRPr lang="en-SE" sz="2000" dirty="0"/>
                    </a:p>
                  </a:txBody>
                  <a:tcPr/>
                </a:tc>
                <a:tc>
                  <a:txBody>
                    <a:bodyPr/>
                    <a:lstStyle/>
                    <a:p>
                      <a:pPr algn="ctr"/>
                      <a:r>
                        <a:rPr lang="en-US" sz="2000" dirty="0"/>
                        <a:t>0</a:t>
                      </a:r>
                      <a:endParaRPr lang="en-SE" sz="2000" dirty="0"/>
                    </a:p>
                  </a:txBody>
                  <a:tcPr/>
                </a:tc>
                <a:tc>
                  <a:txBody>
                    <a:bodyPr/>
                    <a:lstStyle/>
                    <a:p>
                      <a:pPr algn="ctr"/>
                      <a:r>
                        <a:rPr lang="en-US" sz="2000" dirty="0"/>
                        <a:t>1</a:t>
                      </a:r>
                      <a:endParaRPr lang="en-SE" sz="2000" dirty="0"/>
                    </a:p>
                  </a:txBody>
                  <a:tcPr/>
                </a:tc>
                <a:extLst>
                  <a:ext uri="{0D108BD9-81ED-4DB2-BD59-A6C34878D82A}">
                    <a16:rowId xmlns:a16="http://schemas.microsoft.com/office/drawing/2014/main" val="2126198186"/>
                  </a:ext>
                </a:extLst>
              </a:tr>
            </a:tbl>
          </a:graphicData>
        </a:graphic>
      </p:graphicFrame>
      <p:graphicFrame>
        <p:nvGraphicFramePr>
          <p:cNvPr id="78" name="Content Placeholder 5">
            <a:extLst>
              <a:ext uri="{FF2B5EF4-FFF2-40B4-BE49-F238E27FC236}">
                <a16:creationId xmlns:a16="http://schemas.microsoft.com/office/drawing/2014/main" id="{0D4D7B5A-24C4-D811-8DF7-3C551DA6E45E}"/>
              </a:ext>
            </a:extLst>
          </p:cNvPr>
          <p:cNvGraphicFramePr>
            <a:graphicFrameLocks/>
          </p:cNvGraphicFramePr>
          <p:nvPr>
            <p:extLst>
              <p:ext uri="{D42A27DB-BD31-4B8C-83A1-F6EECF244321}">
                <p14:modId xmlns:p14="http://schemas.microsoft.com/office/powerpoint/2010/main" val="3913233973"/>
              </p:ext>
            </p:extLst>
          </p:nvPr>
        </p:nvGraphicFramePr>
        <p:xfrm>
          <a:off x="6758420" y="1447800"/>
          <a:ext cx="1592643" cy="1981200"/>
        </p:xfrm>
        <a:graphic>
          <a:graphicData uri="http://schemas.openxmlformats.org/drawingml/2006/table">
            <a:tbl>
              <a:tblPr firstRow="1" bandRow="1">
                <a:tableStyleId>{5C22544A-7EE6-4342-B048-85BDC9FD1C3A}</a:tableStyleId>
              </a:tblPr>
              <a:tblGrid>
                <a:gridCol w="530881">
                  <a:extLst>
                    <a:ext uri="{9D8B030D-6E8A-4147-A177-3AD203B41FA5}">
                      <a16:colId xmlns:a16="http://schemas.microsoft.com/office/drawing/2014/main" val="1619986141"/>
                    </a:ext>
                  </a:extLst>
                </a:gridCol>
                <a:gridCol w="530881">
                  <a:extLst>
                    <a:ext uri="{9D8B030D-6E8A-4147-A177-3AD203B41FA5}">
                      <a16:colId xmlns:a16="http://schemas.microsoft.com/office/drawing/2014/main" val="3558990718"/>
                    </a:ext>
                  </a:extLst>
                </a:gridCol>
                <a:gridCol w="530881">
                  <a:extLst>
                    <a:ext uri="{9D8B030D-6E8A-4147-A177-3AD203B41FA5}">
                      <a16:colId xmlns:a16="http://schemas.microsoft.com/office/drawing/2014/main" val="2817522056"/>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extLst>
                  <a:ext uri="{0D108BD9-81ED-4DB2-BD59-A6C34878D82A}">
                    <a16:rowId xmlns:a16="http://schemas.microsoft.com/office/drawing/2014/main" val="117063772"/>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T2</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3030728590"/>
                  </a:ext>
                </a:extLst>
              </a:tr>
              <a:tr h="370840">
                <a:tc>
                  <a:txBody>
                    <a:bodyPr/>
                    <a:lstStyle/>
                    <a:p>
                      <a:pPr algn="ctr"/>
                      <a:r>
                        <a:rPr lang="en-US" sz="2000" dirty="0"/>
                        <a:t>T4</a:t>
                      </a:r>
                      <a:endParaRPr lang="en-SE" sz="2000" dirty="0"/>
                    </a:p>
                  </a:txBody>
                  <a:tcPr/>
                </a:tc>
                <a:tc>
                  <a:txBody>
                    <a:bodyPr/>
                    <a:lstStyle/>
                    <a:p>
                      <a:pPr algn="ctr"/>
                      <a:r>
                        <a:rPr lang="en-US" sz="2000" dirty="0"/>
                        <a:t>0</a:t>
                      </a:r>
                      <a:endParaRPr lang="en-SE" sz="2000" dirty="0"/>
                    </a:p>
                  </a:txBody>
                  <a:tcPr/>
                </a:tc>
                <a:tc>
                  <a:txBody>
                    <a:bodyPr/>
                    <a:lstStyle/>
                    <a:p>
                      <a:pPr algn="ctr"/>
                      <a:r>
                        <a:rPr lang="en-US" sz="2000" dirty="0"/>
                        <a:t>0</a:t>
                      </a:r>
                      <a:endParaRPr lang="en-SE" sz="2000" dirty="0"/>
                    </a:p>
                  </a:txBody>
                  <a:tcPr/>
                </a:tc>
                <a:extLst>
                  <a:ext uri="{0D108BD9-81ED-4DB2-BD59-A6C34878D82A}">
                    <a16:rowId xmlns:a16="http://schemas.microsoft.com/office/drawing/2014/main" val="2126198186"/>
                  </a:ext>
                </a:extLst>
              </a:tr>
            </a:tbl>
          </a:graphicData>
        </a:graphic>
      </p:graphicFrame>
      <p:sp>
        <p:nvSpPr>
          <p:cNvPr id="79" name="TextBox 78">
            <a:extLst>
              <a:ext uri="{FF2B5EF4-FFF2-40B4-BE49-F238E27FC236}">
                <a16:creationId xmlns:a16="http://schemas.microsoft.com/office/drawing/2014/main" id="{BBB1827D-18F6-F66C-45B8-345021624136}"/>
              </a:ext>
            </a:extLst>
          </p:cNvPr>
          <p:cNvSpPr txBox="1"/>
          <p:nvPr/>
        </p:nvSpPr>
        <p:spPr>
          <a:xfrm>
            <a:off x="2087378" y="5349829"/>
            <a:ext cx="3905364" cy="830997"/>
          </a:xfrm>
          <a:prstGeom prst="rect">
            <a:avLst/>
          </a:prstGeom>
          <a:noFill/>
        </p:spPr>
        <p:txBody>
          <a:bodyPr wrap="none" rtlCol="0">
            <a:spAutoFit/>
          </a:bodyPr>
          <a:lstStyle/>
          <a:p>
            <a:r>
              <a:rPr lang="en-US" altLang="zh-CN" sz="2400" b="0" dirty="0">
                <a:solidFill>
                  <a:schemeClr val="dk1"/>
                </a:solidFill>
                <a:latin typeface="Gill Sans" panose="020B0502020104020203"/>
                <a:ea typeface="+mn-ea"/>
                <a:cs typeface="+mn-cs"/>
              </a:rPr>
              <a:t>Safe Sequence: T4, T3, T1, T2)</a:t>
            </a:r>
          </a:p>
          <a:p>
            <a:r>
              <a:rPr lang="en-US" sz="2400" b="0" dirty="0">
                <a:solidFill>
                  <a:schemeClr val="dk1"/>
                </a:solidFill>
                <a:latin typeface="Gill Sans" panose="020B0502020104020203"/>
                <a:ea typeface="+mn-ea"/>
                <a:cs typeface="+mn-cs"/>
              </a:rPr>
              <a:t>(or T4, T3, T2, T1)</a:t>
            </a:r>
          </a:p>
        </p:txBody>
      </p:sp>
      <p:graphicFrame>
        <p:nvGraphicFramePr>
          <p:cNvPr id="80" name="Content Placeholder 5">
            <a:extLst>
              <a:ext uri="{FF2B5EF4-FFF2-40B4-BE49-F238E27FC236}">
                <a16:creationId xmlns:a16="http://schemas.microsoft.com/office/drawing/2014/main" id="{5662C229-2111-B07A-DED1-D23E950DB5D3}"/>
              </a:ext>
            </a:extLst>
          </p:cNvPr>
          <p:cNvGraphicFramePr>
            <a:graphicFrameLocks/>
          </p:cNvGraphicFramePr>
          <p:nvPr>
            <p:extLst>
              <p:ext uri="{D42A27DB-BD31-4B8C-83A1-F6EECF244321}">
                <p14:modId xmlns:p14="http://schemas.microsoft.com/office/powerpoint/2010/main" val="1476628735"/>
              </p:ext>
            </p:extLst>
          </p:nvPr>
        </p:nvGraphicFramePr>
        <p:xfrm>
          <a:off x="6643741" y="3931920"/>
          <a:ext cx="1850760" cy="2377440"/>
        </p:xfrm>
        <a:graphic>
          <a:graphicData uri="http://schemas.openxmlformats.org/drawingml/2006/table">
            <a:tbl>
              <a:tblPr firstRow="1" bandRow="1">
                <a:tableStyleId>{5C22544A-7EE6-4342-B048-85BDC9FD1C3A}</a:tableStyleId>
              </a:tblPr>
              <a:tblGrid>
                <a:gridCol w="671459">
                  <a:extLst>
                    <a:ext uri="{9D8B030D-6E8A-4147-A177-3AD203B41FA5}">
                      <a16:colId xmlns:a16="http://schemas.microsoft.com/office/drawing/2014/main" val="1619986141"/>
                    </a:ext>
                  </a:extLst>
                </a:gridCol>
                <a:gridCol w="562381">
                  <a:extLst>
                    <a:ext uri="{9D8B030D-6E8A-4147-A177-3AD203B41FA5}">
                      <a16:colId xmlns:a16="http://schemas.microsoft.com/office/drawing/2014/main" val="3558990718"/>
                    </a:ext>
                  </a:extLst>
                </a:gridCol>
                <a:gridCol w="616920">
                  <a:extLst>
                    <a:ext uri="{9D8B030D-6E8A-4147-A177-3AD203B41FA5}">
                      <a16:colId xmlns:a16="http://schemas.microsoft.com/office/drawing/2014/main" val="2817522056"/>
                    </a:ext>
                  </a:extLst>
                </a:gridCol>
              </a:tblGrid>
              <a:tr h="370840">
                <a:tc>
                  <a:txBody>
                    <a:bodyPr/>
                    <a:lstStyle/>
                    <a:p>
                      <a:pPr algn="ctr"/>
                      <a:endParaRPr lang="en-SE" sz="2000"/>
                    </a:p>
                  </a:txBody>
                  <a:tcPr/>
                </a:tc>
                <a:tc>
                  <a:txBody>
                    <a:bodyPr/>
                    <a:lstStyle/>
                    <a:p>
                      <a:pPr algn="ctr"/>
                      <a:r>
                        <a:rPr lang="en-GB" sz="2000" dirty="0"/>
                        <a:t>R1</a:t>
                      </a:r>
                      <a:endParaRPr lang="en-SE" sz="2000" dirty="0"/>
                    </a:p>
                  </a:txBody>
                  <a:tcPr/>
                </a:tc>
                <a:tc>
                  <a:txBody>
                    <a:bodyPr/>
                    <a:lstStyle/>
                    <a:p>
                      <a:pPr algn="ctr"/>
                      <a:r>
                        <a:rPr lang="en-GB" sz="2000" dirty="0"/>
                        <a:t>R2</a:t>
                      </a:r>
                      <a:endParaRPr lang="en-SE" sz="2000" dirty="0"/>
                    </a:p>
                  </a:txBody>
                  <a:tcPr/>
                </a:tc>
                <a:extLst>
                  <a:ext uri="{0D108BD9-81ED-4DB2-BD59-A6C34878D82A}">
                    <a16:rowId xmlns:a16="http://schemas.microsoft.com/office/drawing/2014/main" val="117063772"/>
                  </a:ext>
                </a:extLst>
              </a:tr>
              <a:tr h="370840">
                <a:tc>
                  <a:txBody>
                    <a:bodyPr/>
                    <a:lstStyle/>
                    <a:p>
                      <a:pPr algn="ctr"/>
                      <a:r>
                        <a:rPr lang="en-US" sz="2000" dirty="0"/>
                        <a:t>Init</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GB" sz="2000" dirty="0"/>
                        <a:t>T4</a:t>
                      </a:r>
                      <a:endParaRPr lang="en-SE" sz="2000" dirty="0"/>
                    </a:p>
                  </a:txBody>
                  <a:tcPr/>
                </a:tc>
                <a:tc>
                  <a:txBody>
                    <a:bodyPr/>
                    <a:lstStyle/>
                    <a:p>
                      <a:pPr algn="ctr"/>
                      <a:r>
                        <a:rPr lang="en-GB" sz="2000" dirty="0"/>
                        <a:t>0</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1884641263"/>
                  </a:ext>
                </a:extLst>
              </a:tr>
              <a:tr h="370840">
                <a:tc>
                  <a:txBody>
                    <a:bodyPr/>
                    <a:lstStyle/>
                    <a:p>
                      <a:pPr algn="ctr"/>
                      <a:r>
                        <a:rPr lang="en-GB" sz="2000" dirty="0"/>
                        <a:t>T3</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1</a:t>
                      </a:r>
                      <a:endParaRPr lang="en-SE" sz="2000" dirty="0"/>
                    </a:p>
                  </a:txBody>
                  <a:tcPr/>
                </a:tc>
                <a:extLst>
                  <a:ext uri="{0D108BD9-81ED-4DB2-BD59-A6C34878D82A}">
                    <a16:rowId xmlns:a16="http://schemas.microsoft.com/office/drawing/2014/main" val="3030728590"/>
                  </a:ext>
                </a:extLst>
              </a:tr>
              <a:tr h="370840">
                <a:tc>
                  <a:txBody>
                    <a:bodyPr/>
                    <a:lstStyle/>
                    <a:p>
                      <a:pPr algn="ctr"/>
                      <a:r>
                        <a:rPr lang="en-GB" sz="2000" dirty="0"/>
                        <a:t>T1</a:t>
                      </a:r>
                      <a:endParaRPr lang="en-SE" sz="2000" dirty="0"/>
                    </a:p>
                  </a:txBody>
                  <a:tcPr/>
                </a:tc>
                <a:tc>
                  <a:txBody>
                    <a:bodyPr/>
                    <a:lstStyle/>
                    <a:p>
                      <a:pPr algn="ctr"/>
                      <a:r>
                        <a:rPr lang="en-GB" sz="2000" dirty="0"/>
                        <a:t>1</a:t>
                      </a:r>
                      <a:endParaRPr lang="en-SE" sz="2000" dirty="0"/>
                    </a:p>
                  </a:txBody>
                  <a:tcPr/>
                </a:tc>
                <a:tc>
                  <a:txBody>
                    <a:bodyPr/>
                    <a:lstStyle/>
                    <a:p>
                      <a:pPr algn="ctr"/>
                      <a:r>
                        <a:rPr lang="en-GB" sz="2000" dirty="0"/>
                        <a:t>2</a:t>
                      </a:r>
                      <a:endParaRPr lang="en-SE" sz="2000" dirty="0"/>
                    </a:p>
                  </a:txBody>
                  <a:tcPr/>
                </a:tc>
                <a:extLst>
                  <a:ext uri="{0D108BD9-81ED-4DB2-BD59-A6C34878D82A}">
                    <a16:rowId xmlns:a16="http://schemas.microsoft.com/office/drawing/2014/main" val="3263484799"/>
                  </a:ext>
                </a:extLst>
              </a:tr>
              <a:tr h="370840">
                <a:tc>
                  <a:txBody>
                    <a:bodyPr/>
                    <a:lstStyle/>
                    <a:p>
                      <a:pPr algn="ctr"/>
                      <a:r>
                        <a:rPr lang="en-US" sz="2000" dirty="0"/>
                        <a:t>T2</a:t>
                      </a:r>
                      <a:endParaRPr lang="en-SE" sz="2000" dirty="0"/>
                    </a:p>
                  </a:txBody>
                  <a:tcPr/>
                </a:tc>
                <a:tc>
                  <a:txBody>
                    <a:bodyPr/>
                    <a:lstStyle/>
                    <a:p>
                      <a:pPr algn="ctr"/>
                      <a:r>
                        <a:rPr lang="en-US" sz="2000" dirty="0"/>
                        <a:t>1</a:t>
                      </a:r>
                      <a:endParaRPr lang="en-SE" sz="2000" dirty="0"/>
                    </a:p>
                  </a:txBody>
                  <a:tcPr/>
                </a:tc>
                <a:tc>
                  <a:txBody>
                    <a:bodyPr/>
                    <a:lstStyle/>
                    <a:p>
                      <a:pPr algn="ctr"/>
                      <a:r>
                        <a:rPr lang="en-US" sz="2000" dirty="0"/>
                        <a:t>2</a:t>
                      </a:r>
                      <a:endParaRPr lang="en-SE" sz="2000" dirty="0"/>
                    </a:p>
                  </a:txBody>
                  <a:tcPr/>
                </a:tc>
                <a:extLst>
                  <a:ext uri="{0D108BD9-81ED-4DB2-BD59-A6C34878D82A}">
                    <a16:rowId xmlns:a16="http://schemas.microsoft.com/office/drawing/2014/main" val="3164451786"/>
                  </a:ext>
                </a:extLst>
              </a:tr>
            </a:tbl>
          </a:graphicData>
        </a:graphic>
      </p:graphicFrame>
      <p:sp>
        <p:nvSpPr>
          <p:cNvPr id="81" name="TextBox 80">
            <a:extLst>
              <a:ext uri="{FF2B5EF4-FFF2-40B4-BE49-F238E27FC236}">
                <a16:creationId xmlns:a16="http://schemas.microsoft.com/office/drawing/2014/main" id="{647078DC-892D-F30A-006A-BF4281D16B53}"/>
              </a:ext>
            </a:extLst>
          </p:cNvPr>
          <p:cNvSpPr txBox="1"/>
          <p:nvPr/>
        </p:nvSpPr>
        <p:spPr>
          <a:xfrm>
            <a:off x="6808472" y="3562290"/>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spTree>
    <p:extLst>
      <p:ext uri="{BB962C8B-B14F-4D97-AF65-F5344CB8AC3E}">
        <p14:creationId xmlns:p14="http://schemas.microsoft.com/office/powerpoint/2010/main" val="21275199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32A10-41A5-9895-0B16-ACEA70293288}"/>
              </a:ext>
            </a:extLst>
          </p:cNvPr>
          <p:cNvSpPr>
            <a:spLocks noGrp="1"/>
          </p:cNvSpPr>
          <p:nvPr>
            <p:ph type="title"/>
          </p:nvPr>
        </p:nvSpPr>
        <p:spPr/>
        <p:txBody>
          <a:bodyPr/>
          <a:lstStyle/>
          <a:p>
            <a:r>
              <a:rPr lang="en-GB" dirty="0"/>
              <a:t>Q4 Deadlocks (c)</a:t>
            </a:r>
            <a:endParaRPr lang="en-SE" dirty="0"/>
          </a:p>
        </p:txBody>
      </p:sp>
      <p:sp>
        <p:nvSpPr>
          <p:cNvPr id="3" name="Content Placeholder 2">
            <a:extLst>
              <a:ext uri="{FF2B5EF4-FFF2-40B4-BE49-F238E27FC236}">
                <a16:creationId xmlns:a16="http://schemas.microsoft.com/office/drawing/2014/main" id="{E9304C07-65AC-81BF-04CE-B8BAC4C0342A}"/>
              </a:ext>
            </a:extLst>
          </p:cNvPr>
          <p:cNvSpPr>
            <a:spLocks noGrp="1"/>
          </p:cNvSpPr>
          <p:nvPr>
            <p:ph idx="1"/>
          </p:nvPr>
        </p:nvSpPr>
        <p:spPr/>
        <p:txBody>
          <a:bodyPr>
            <a:normAutofit/>
          </a:bodyPr>
          <a:lstStyle/>
          <a:p>
            <a:r>
              <a:rPr lang="en-US" dirty="0"/>
              <a:t>Consider the Dining Lawyers problem. There are 3 lawyers P1 to P3, each with a different number of arms. P1 has 1 arm and needs 1 fork to eat; P2 has 2 arms and needs 2 forks to eat; P3 has 3 arms and needs 3 forks to eat. There is a pile of 3 forks at center of the table. Each lawyer picks up one fork at a time, and when he gets enough forks, he eats and then puts down all his forks. Use Banker’s algorithm to check if it is possible for the system to be deadlocked. If no, give a safe sequence of process completions without deadlock. If yes, show an unsafe state that will result in a deadlock. (You need to give the Max, Allocation, Need matrices, Total and Available vectors, and Available resources after completion of each process.)</a:t>
            </a:r>
          </a:p>
        </p:txBody>
      </p:sp>
    </p:spTree>
    <p:extLst>
      <p:ext uri="{BB962C8B-B14F-4D97-AF65-F5344CB8AC3E}">
        <p14:creationId xmlns:p14="http://schemas.microsoft.com/office/powerpoint/2010/main" val="59970685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85D81-B6CF-79C7-5BA0-B23C162DF2A1}"/>
            </a:ext>
          </a:extLst>
        </p:cNvPr>
        <p:cNvGrpSpPr/>
        <p:nvPr/>
      </p:nvGrpSpPr>
      <p:grpSpPr>
        <a:xfrm>
          <a:off x="0" y="0"/>
          <a:ext cx="0" cy="0"/>
          <a:chOff x="0" y="0"/>
          <a:chExt cx="0" cy="0"/>
        </a:xfrm>
      </p:grpSpPr>
      <p:sp>
        <p:nvSpPr>
          <p:cNvPr id="1032" name="Rectangle 2">
            <a:extLst>
              <a:ext uri="{FF2B5EF4-FFF2-40B4-BE49-F238E27FC236}">
                <a16:creationId xmlns:a16="http://schemas.microsoft.com/office/drawing/2014/main" id="{E4BAD587-C58D-74B9-CAB2-E2334555F32A}"/>
              </a:ext>
            </a:extLst>
          </p:cNvPr>
          <p:cNvSpPr>
            <a:spLocks noGrp="1" noChangeArrowheads="1"/>
          </p:cNvSpPr>
          <p:nvPr>
            <p:ph type="title" sz="quarter"/>
          </p:nvPr>
        </p:nvSpPr>
        <p:spPr>
          <a:xfrm>
            <a:off x="381000" y="-243705"/>
            <a:ext cx="11353800" cy="1143000"/>
          </a:xfrm>
        </p:spPr>
        <p:txBody>
          <a:bodyPr/>
          <a:lstStyle/>
          <a:p>
            <a:pPr eaLnBrk="1" hangingPunct="1"/>
            <a:r>
              <a:rPr lang="en-GB" dirty="0"/>
              <a:t>Q4 Deadlocks (c) </a:t>
            </a:r>
            <a:r>
              <a:rPr lang="en-US" dirty="0"/>
              <a:t>ANS</a:t>
            </a:r>
            <a:endParaRPr lang="en-US" altLang="zh-CN" dirty="0">
              <a:ea typeface="宋体" charset="-122"/>
            </a:endParaRPr>
          </a:p>
        </p:txBody>
      </p:sp>
      <p:sp>
        <p:nvSpPr>
          <p:cNvPr id="14" name="Content Placeholder 2">
            <a:extLst>
              <a:ext uri="{FF2B5EF4-FFF2-40B4-BE49-F238E27FC236}">
                <a16:creationId xmlns:a16="http://schemas.microsoft.com/office/drawing/2014/main" id="{3F4246EE-4735-84AB-51EF-0187CE1E2758}"/>
              </a:ext>
            </a:extLst>
          </p:cNvPr>
          <p:cNvSpPr>
            <a:spLocks noGrp="1"/>
          </p:cNvSpPr>
          <p:nvPr>
            <p:ph idx="1"/>
          </p:nvPr>
        </p:nvSpPr>
        <p:spPr>
          <a:xfrm>
            <a:off x="246280" y="1358634"/>
            <a:ext cx="1940024" cy="1143000"/>
          </a:xfrm>
        </p:spPr>
        <p:txBody>
          <a:bodyPr>
            <a:normAutofit lnSpcReduction="10000"/>
          </a:bodyPr>
          <a:lstStyle/>
          <a:p>
            <a:pPr marL="0" indent="0">
              <a:buNone/>
            </a:pPr>
            <a:r>
              <a:rPr lang="en-GB" dirty="0"/>
              <a:t>Initially, all forks are free.</a:t>
            </a:r>
          </a:p>
        </p:txBody>
      </p:sp>
      <p:sp>
        <p:nvSpPr>
          <p:cNvPr id="15" name="Content Placeholder 2">
            <a:extLst>
              <a:ext uri="{FF2B5EF4-FFF2-40B4-BE49-F238E27FC236}">
                <a16:creationId xmlns:a16="http://schemas.microsoft.com/office/drawing/2014/main" id="{92D49A15-0773-4019-B16E-18CF118B0E0C}"/>
              </a:ext>
            </a:extLst>
          </p:cNvPr>
          <p:cNvSpPr txBox="1">
            <a:spLocks/>
          </p:cNvSpPr>
          <p:nvPr/>
        </p:nvSpPr>
        <p:spPr bwMode="auto">
          <a:xfrm>
            <a:off x="3581400" y="5653709"/>
            <a:ext cx="5791200" cy="10668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endParaRPr lang="en-GB" b="0" kern="0" dirty="0"/>
          </a:p>
        </p:txBody>
      </p:sp>
      <p:graphicFrame>
        <p:nvGraphicFramePr>
          <p:cNvPr id="2" name="Table 1">
            <a:extLst>
              <a:ext uri="{FF2B5EF4-FFF2-40B4-BE49-F238E27FC236}">
                <a16:creationId xmlns:a16="http://schemas.microsoft.com/office/drawing/2014/main" id="{30DDA916-6A3D-13F0-D47E-161488594498}"/>
              </a:ext>
            </a:extLst>
          </p:cNvPr>
          <p:cNvGraphicFramePr>
            <a:graphicFrameLocks noGrp="1"/>
          </p:cNvGraphicFramePr>
          <p:nvPr/>
        </p:nvGraphicFramePr>
        <p:xfrm>
          <a:off x="2469085" y="1076053"/>
          <a:ext cx="478497" cy="111252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1</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3</a:t>
                      </a:r>
                      <a:endParaRPr lang="en-SE" sz="1800" dirty="0"/>
                    </a:p>
                  </a:txBody>
                  <a:tcPr/>
                </a:tc>
                <a:extLst>
                  <a:ext uri="{0D108BD9-81ED-4DB2-BD59-A6C34878D82A}">
                    <a16:rowId xmlns:a16="http://schemas.microsoft.com/office/drawing/2014/main" val="2761282773"/>
                  </a:ext>
                </a:extLst>
              </a:tr>
            </a:tbl>
          </a:graphicData>
        </a:graphic>
      </p:graphicFrame>
      <p:sp>
        <p:nvSpPr>
          <p:cNvPr id="4" name="TextBox 3">
            <a:extLst>
              <a:ext uri="{FF2B5EF4-FFF2-40B4-BE49-F238E27FC236}">
                <a16:creationId xmlns:a16="http://schemas.microsoft.com/office/drawing/2014/main" id="{B6B81674-A801-2FA7-D920-F120E88F174C}"/>
              </a:ext>
            </a:extLst>
          </p:cNvPr>
          <p:cNvSpPr txBox="1"/>
          <p:nvPr/>
        </p:nvSpPr>
        <p:spPr>
          <a:xfrm>
            <a:off x="2351444" y="687762"/>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5" name="TextBox 4">
            <a:extLst>
              <a:ext uri="{FF2B5EF4-FFF2-40B4-BE49-F238E27FC236}">
                <a16:creationId xmlns:a16="http://schemas.microsoft.com/office/drawing/2014/main" id="{B3B0DF00-883C-7A7E-6962-38873F3AEE57}"/>
              </a:ext>
            </a:extLst>
          </p:cNvPr>
          <p:cNvSpPr txBox="1"/>
          <p:nvPr/>
        </p:nvSpPr>
        <p:spPr>
          <a:xfrm>
            <a:off x="3099090" y="687762"/>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6" name="TextBox 5">
            <a:extLst>
              <a:ext uri="{FF2B5EF4-FFF2-40B4-BE49-F238E27FC236}">
                <a16:creationId xmlns:a16="http://schemas.microsoft.com/office/drawing/2014/main" id="{A07EE415-8C90-A285-A716-2E815135B0B9}"/>
              </a:ext>
            </a:extLst>
          </p:cNvPr>
          <p:cNvSpPr txBox="1"/>
          <p:nvPr/>
        </p:nvSpPr>
        <p:spPr>
          <a:xfrm>
            <a:off x="8801196" y="664124"/>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graphicFrame>
        <p:nvGraphicFramePr>
          <p:cNvPr id="7" name="Table 6">
            <a:extLst>
              <a:ext uri="{FF2B5EF4-FFF2-40B4-BE49-F238E27FC236}">
                <a16:creationId xmlns:a16="http://schemas.microsoft.com/office/drawing/2014/main" id="{7F6FDBF1-C7DC-592E-A54F-DAD6B989C125}"/>
              </a:ext>
            </a:extLst>
          </p:cNvPr>
          <p:cNvGraphicFramePr>
            <a:graphicFrameLocks noGrp="1"/>
          </p:cNvGraphicFramePr>
          <p:nvPr/>
        </p:nvGraphicFramePr>
        <p:xfrm>
          <a:off x="3480165" y="1076053"/>
          <a:ext cx="478497" cy="111252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0</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0</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0</a:t>
                      </a:r>
                      <a:endParaRPr lang="en-SE" sz="1800" dirty="0"/>
                    </a:p>
                  </a:txBody>
                  <a:tcPr/>
                </a:tc>
                <a:extLst>
                  <a:ext uri="{0D108BD9-81ED-4DB2-BD59-A6C34878D82A}">
                    <a16:rowId xmlns:a16="http://schemas.microsoft.com/office/drawing/2014/main" val="2761282773"/>
                  </a:ext>
                </a:extLst>
              </a:tr>
            </a:tbl>
          </a:graphicData>
        </a:graphic>
      </p:graphicFrame>
      <p:graphicFrame>
        <p:nvGraphicFramePr>
          <p:cNvPr id="8" name="Table 7">
            <a:extLst>
              <a:ext uri="{FF2B5EF4-FFF2-40B4-BE49-F238E27FC236}">
                <a16:creationId xmlns:a16="http://schemas.microsoft.com/office/drawing/2014/main" id="{92E02D22-601C-43E3-BA81-CA7C102877C1}"/>
              </a:ext>
            </a:extLst>
          </p:cNvPr>
          <p:cNvGraphicFramePr>
            <a:graphicFrameLocks noGrp="1"/>
          </p:cNvGraphicFramePr>
          <p:nvPr/>
        </p:nvGraphicFramePr>
        <p:xfrm>
          <a:off x="2456987" y="3557017"/>
          <a:ext cx="478497" cy="37084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3</a:t>
                      </a:r>
                      <a:endParaRPr lang="en-SE" sz="1800" dirty="0"/>
                    </a:p>
                  </a:txBody>
                  <a:tcPr/>
                </a:tc>
                <a:extLst>
                  <a:ext uri="{0D108BD9-81ED-4DB2-BD59-A6C34878D82A}">
                    <a16:rowId xmlns:a16="http://schemas.microsoft.com/office/drawing/2014/main" val="511353736"/>
                  </a:ext>
                </a:extLst>
              </a:tr>
            </a:tbl>
          </a:graphicData>
        </a:graphic>
      </p:graphicFrame>
      <p:sp>
        <p:nvSpPr>
          <p:cNvPr id="9" name="TextBox 8">
            <a:extLst>
              <a:ext uri="{FF2B5EF4-FFF2-40B4-BE49-F238E27FC236}">
                <a16:creationId xmlns:a16="http://schemas.microsoft.com/office/drawing/2014/main" id="{D8ECE3C4-C69F-7C7A-8F70-161DD2AF71CE}"/>
              </a:ext>
            </a:extLst>
          </p:cNvPr>
          <p:cNvSpPr txBox="1"/>
          <p:nvPr/>
        </p:nvSpPr>
        <p:spPr>
          <a:xfrm>
            <a:off x="2263085" y="3162323"/>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graphicFrame>
        <p:nvGraphicFramePr>
          <p:cNvPr id="10" name="Table 9">
            <a:extLst>
              <a:ext uri="{FF2B5EF4-FFF2-40B4-BE49-F238E27FC236}">
                <a16:creationId xmlns:a16="http://schemas.microsoft.com/office/drawing/2014/main" id="{CFAFC311-CB0D-B384-2E88-04F2971D3A44}"/>
              </a:ext>
            </a:extLst>
          </p:cNvPr>
          <p:cNvGraphicFramePr>
            <a:graphicFrameLocks noGrp="1"/>
          </p:cNvGraphicFramePr>
          <p:nvPr/>
        </p:nvGraphicFramePr>
        <p:xfrm>
          <a:off x="3467138" y="3568306"/>
          <a:ext cx="478497" cy="37084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3</a:t>
                      </a:r>
                      <a:endParaRPr lang="en-SE" sz="1800" dirty="0"/>
                    </a:p>
                  </a:txBody>
                  <a:tcPr/>
                </a:tc>
                <a:extLst>
                  <a:ext uri="{0D108BD9-81ED-4DB2-BD59-A6C34878D82A}">
                    <a16:rowId xmlns:a16="http://schemas.microsoft.com/office/drawing/2014/main" val="511353736"/>
                  </a:ext>
                </a:extLst>
              </a:tr>
            </a:tbl>
          </a:graphicData>
        </a:graphic>
      </p:graphicFrame>
      <p:sp>
        <p:nvSpPr>
          <p:cNvPr id="11" name="TextBox 10">
            <a:extLst>
              <a:ext uri="{FF2B5EF4-FFF2-40B4-BE49-F238E27FC236}">
                <a16:creationId xmlns:a16="http://schemas.microsoft.com/office/drawing/2014/main" id="{6866FE24-5291-A7A3-341D-5EC4DBF84541}"/>
              </a:ext>
            </a:extLst>
          </p:cNvPr>
          <p:cNvSpPr txBox="1"/>
          <p:nvPr/>
        </p:nvSpPr>
        <p:spPr>
          <a:xfrm>
            <a:off x="3099090" y="3149551"/>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sp>
        <p:nvSpPr>
          <p:cNvPr id="13" name="TextBox 12">
            <a:extLst>
              <a:ext uri="{FF2B5EF4-FFF2-40B4-BE49-F238E27FC236}">
                <a16:creationId xmlns:a16="http://schemas.microsoft.com/office/drawing/2014/main" id="{E86A5D3A-A18C-EE48-FFDE-93C132011A6D}"/>
              </a:ext>
            </a:extLst>
          </p:cNvPr>
          <p:cNvSpPr txBox="1"/>
          <p:nvPr/>
        </p:nvSpPr>
        <p:spPr>
          <a:xfrm>
            <a:off x="6746982" y="675943"/>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16" name="TextBox 15">
            <a:extLst>
              <a:ext uri="{FF2B5EF4-FFF2-40B4-BE49-F238E27FC236}">
                <a16:creationId xmlns:a16="http://schemas.microsoft.com/office/drawing/2014/main" id="{3A7A53AE-264E-F18D-A507-105BF4A35F89}"/>
              </a:ext>
            </a:extLst>
          </p:cNvPr>
          <p:cNvSpPr txBox="1"/>
          <p:nvPr/>
        </p:nvSpPr>
        <p:spPr>
          <a:xfrm>
            <a:off x="7494628" y="675943"/>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graphicFrame>
        <p:nvGraphicFramePr>
          <p:cNvPr id="18" name="Table 17">
            <a:extLst>
              <a:ext uri="{FF2B5EF4-FFF2-40B4-BE49-F238E27FC236}">
                <a16:creationId xmlns:a16="http://schemas.microsoft.com/office/drawing/2014/main" id="{E5263852-08E9-7CD1-1D7C-448F2E053F54}"/>
              </a:ext>
            </a:extLst>
          </p:cNvPr>
          <p:cNvGraphicFramePr>
            <a:graphicFrameLocks noGrp="1"/>
          </p:cNvGraphicFramePr>
          <p:nvPr/>
        </p:nvGraphicFramePr>
        <p:xfrm>
          <a:off x="6852525" y="3545198"/>
          <a:ext cx="478497" cy="37084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3</a:t>
                      </a:r>
                      <a:endParaRPr lang="en-SE" sz="1800" dirty="0"/>
                    </a:p>
                  </a:txBody>
                  <a:tcPr/>
                </a:tc>
                <a:extLst>
                  <a:ext uri="{0D108BD9-81ED-4DB2-BD59-A6C34878D82A}">
                    <a16:rowId xmlns:a16="http://schemas.microsoft.com/office/drawing/2014/main" val="511353736"/>
                  </a:ext>
                </a:extLst>
              </a:tr>
            </a:tbl>
          </a:graphicData>
        </a:graphic>
      </p:graphicFrame>
      <p:sp>
        <p:nvSpPr>
          <p:cNvPr id="19" name="TextBox 18">
            <a:extLst>
              <a:ext uri="{FF2B5EF4-FFF2-40B4-BE49-F238E27FC236}">
                <a16:creationId xmlns:a16="http://schemas.microsoft.com/office/drawing/2014/main" id="{3D0CA669-70AB-4C6E-0B5E-AF31E97E13E4}"/>
              </a:ext>
            </a:extLst>
          </p:cNvPr>
          <p:cNvSpPr txBox="1"/>
          <p:nvPr/>
        </p:nvSpPr>
        <p:spPr>
          <a:xfrm>
            <a:off x="6658623" y="3150504"/>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graphicFrame>
        <p:nvGraphicFramePr>
          <p:cNvPr id="20" name="Table 19">
            <a:extLst>
              <a:ext uri="{FF2B5EF4-FFF2-40B4-BE49-F238E27FC236}">
                <a16:creationId xmlns:a16="http://schemas.microsoft.com/office/drawing/2014/main" id="{445D142E-FF9E-0882-C6F9-07684DBE9CD2}"/>
              </a:ext>
            </a:extLst>
          </p:cNvPr>
          <p:cNvGraphicFramePr>
            <a:graphicFrameLocks noGrp="1"/>
          </p:cNvGraphicFramePr>
          <p:nvPr/>
        </p:nvGraphicFramePr>
        <p:xfrm>
          <a:off x="7862676" y="3556487"/>
          <a:ext cx="478497" cy="37084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0</a:t>
                      </a:r>
                      <a:endParaRPr lang="en-SE" sz="1800" dirty="0"/>
                    </a:p>
                  </a:txBody>
                  <a:tcPr/>
                </a:tc>
                <a:extLst>
                  <a:ext uri="{0D108BD9-81ED-4DB2-BD59-A6C34878D82A}">
                    <a16:rowId xmlns:a16="http://schemas.microsoft.com/office/drawing/2014/main" val="511353736"/>
                  </a:ext>
                </a:extLst>
              </a:tr>
            </a:tbl>
          </a:graphicData>
        </a:graphic>
      </p:graphicFrame>
      <p:sp>
        <p:nvSpPr>
          <p:cNvPr id="21" name="TextBox 20">
            <a:extLst>
              <a:ext uri="{FF2B5EF4-FFF2-40B4-BE49-F238E27FC236}">
                <a16:creationId xmlns:a16="http://schemas.microsoft.com/office/drawing/2014/main" id="{F2948697-C65D-D707-EDDD-C8E8F3BD7E89}"/>
              </a:ext>
            </a:extLst>
          </p:cNvPr>
          <p:cNvSpPr txBox="1"/>
          <p:nvPr/>
        </p:nvSpPr>
        <p:spPr>
          <a:xfrm>
            <a:off x="7494628" y="3137732"/>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sp>
        <p:nvSpPr>
          <p:cNvPr id="22" name="Content Placeholder 2">
            <a:extLst>
              <a:ext uri="{FF2B5EF4-FFF2-40B4-BE49-F238E27FC236}">
                <a16:creationId xmlns:a16="http://schemas.microsoft.com/office/drawing/2014/main" id="{2CBCC2EB-9700-1DDD-401E-4C1C0370ECB6}"/>
              </a:ext>
            </a:extLst>
          </p:cNvPr>
          <p:cNvSpPr txBox="1">
            <a:spLocks/>
          </p:cNvSpPr>
          <p:nvPr/>
        </p:nvSpPr>
        <p:spPr bwMode="auto">
          <a:xfrm>
            <a:off x="4532950" y="1174348"/>
            <a:ext cx="2511429" cy="11430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b="0" kern="0" dirty="0"/>
              <a:t>P2 grabs 1 fork and P3 grabs 2 forks</a:t>
            </a:r>
            <a:endParaRPr lang="en-US" altLang="zh-CN" b="0" kern="0" dirty="0"/>
          </a:p>
        </p:txBody>
      </p:sp>
      <p:graphicFrame>
        <p:nvGraphicFramePr>
          <p:cNvPr id="24" name="Content Placeholder 5">
            <a:extLst>
              <a:ext uri="{FF2B5EF4-FFF2-40B4-BE49-F238E27FC236}">
                <a16:creationId xmlns:a16="http://schemas.microsoft.com/office/drawing/2014/main" id="{ABA68730-BE99-2934-C410-0690C32AC14A}"/>
              </a:ext>
            </a:extLst>
          </p:cNvPr>
          <p:cNvGraphicFramePr>
            <a:graphicFrameLocks/>
          </p:cNvGraphicFramePr>
          <p:nvPr/>
        </p:nvGraphicFramePr>
        <p:xfrm>
          <a:off x="9153107" y="3911387"/>
          <a:ext cx="1301842" cy="1188720"/>
        </p:xfrm>
        <a:graphic>
          <a:graphicData uri="http://schemas.openxmlformats.org/drawingml/2006/table">
            <a:tbl>
              <a:tblPr firstRow="1" bandRow="1">
                <a:tableStyleId>{5940675A-B579-460E-94D1-54222C63F5DA}</a:tableStyleId>
              </a:tblPr>
              <a:tblGrid>
                <a:gridCol w="650921">
                  <a:extLst>
                    <a:ext uri="{9D8B030D-6E8A-4147-A177-3AD203B41FA5}">
                      <a16:colId xmlns:a16="http://schemas.microsoft.com/office/drawing/2014/main" val="1619986141"/>
                    </a:ext>
                  </a:extLst>
                </a:gridCol>
                <a:gridCol w="650921">
                  <a:extLst>
                    <a:ext uri="{9D8B030D-6E8A-4147-A177-3AD203B41FA5}">
                      <a16:colId xmlns:a16="http://schemas.microsoft.com/office/drawing/2014/main" val="3558990718"/>
                    </a:ext>
                  </a:extLst>
                </a:gridCol>
              </a:tblGrid>
              <a:tr h="370840">
                <a:tc>
                  <a:txBody>
                    <a:bodyPr/>
                    <a:lstStyle/>
                    <a:p>
                      <a:pPr algn="ctr"/>
                      <a:endParaRPr lang="en-SE" sz="2000" dirty="0"/>
                    </a:p>
                  </a:txBody>
                  <a:tcPr>
                    <a:solidFill>
                      <a:schemeClr val="bg1">
                        <a:lumMod val="95000"/>
                      </a:schemeClr>
                    </a:solidFill>
                  </a:tcPr>
                </a:tc>
                <a:tc>
                  <a:txBody>
                    <a:bodyPr/>
                    <a:lstStyle/>
                    <a:p>
                      <a:pPr algn="ctr"/>
                      <a:r>
                        <a:rPr lang="en-GB" sz="2000" dirty="0"/>
                        <a:t>R1</a:t>
                      </a:r>
                      <a:endParaRPr lang="en-SE" sz="2000" dirty="0"/>
                    </a:p>
                  </a:txBody>
                  <a:tcPr>
                    <a:solidFill>
                      <a:schemeClr val="bg1">
                        <a:lumMod val="95000"/>
                      </a:schemeClr>
                    </a:solidFill>
                  </a:tcPr>
                </a:tc>
                <a:extLst>
                  <a:ext uri="{0D108BD9-81ED-4DB2-BD59-A6C34878D82A}">
                    <a16:rowId xmlns:a16="http://schemas.microsoft.com/office/drawing/2014/main" val="117063772"/>
                  </a:ext>
                </a:extLst>
              </a:tr>
              <a:tr h="370840">
                <a:tc>
                  <a:txBody>
                    <a:bodyPr/>
                    <a:lstStyle/>
                    <a:p>
                      <a:pPr algn="ctr"/>
                      <a:r>
                        <a:rPr lang="en-GB" sz="2000" dirty="0"/>
                        <a:t>Init</a:t>
                      </a:r>
                      <a:endParaRPr lang="en-SE" sz="2000" dirty="0"/>
                    </a:p>
                  </a:txBody>
                  <a:tcPr>
                    <a:solidFill>
                      <a:schemeClr val="bg1">
                        <a:lumMod val="95000"/>
                      </a:schemeClr>
                    </a:solidFill>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gridSpan="2">
                  <a:txBody>
                    <a:bodyPr/>
                    <a:lstStyle/>
                    <a:p>
                      <a:pPr algn="ctr"/>
                      <a:r>
                        <a:rPr lang="en-GB" sz="2000" dirty="0"/>
                        <a:t>Deadlock</a:t>
                      </a:r>
                      <a:endParaRPr lang="en-SE" sz="2000" dirty="0"/>
                    </a:p>
                  </a:txBody>
                  <a:tcPr>
                    <a:solidFill>
                      <a:schemeClr val="bg1">
                        <a:lumMod val="95000"/>
                      </a:schemeClr>
                    </a:solidFill>
                  </a:tcPr>
                </a:tc>
                <a:tc hMerge="1">
                  <a:txBody>
                    <a:bodyPr/>
                    <a:lstStyle/>
                    <a:p>
                      <a:endParaRPr dirty="0"/>
                    </a:p>
                  </a:txBody>
                  <a:tcPr/>
                </a:tc>
                <a:extLst>
                  <a:ext uri="{0D108BD9-81ED-4DB2-BD59-A6C34878D82A}">
                    <a16:rowId xmlns:a16="http://schemas.microsoft.com/office/drawing/2014/main" val="1884641263"/>
                  </a:ext>
                </a:extLst>
              </a:tr>
            </a:tbl>
          </a:graphicData>
        </a:graphic>
      </p:graphicFrame>
      <p:sp>
        <p:nvSpPr>
          <p:cNvPr id="25" name="TextBox 24">
            <a:extLst>
              <a:ext uri="{FF2B5EF4-FFF2-40B4-BE49-F238E27FC236}">
                <a16:creationId xmlns:a16="http://schemas.microsoft.com/office/drawing/2014/main" id="{15B328A8-57BE-5367-6EB7-23549B29E870}"/>
              </a:ext>
            </a:extLst>
          </p:cNvPr>
          <p:cNvSpPr txBox="1"/>
          <p:nvPr/>
        </p:nvSpPr>
        <p:spPr>
          <a:xfrm>
            <a:off x="8728977" y="3100724"/>
            <a:ext cx="3844023" cy="757130"/>
          </a:xfrm>
          <a:prstGeom prst="rect">
            <a:avLst/>
          </a:prstGeom>
          <a:noFill/>
        </p:spPr>
        <p:txBody>
          <a:bodyPr wrap="square" rtlCol="0">
            <a:spAutoFit/>
          </a:bodyPr>
          <a:lstStyle/>
          <a:p>
            <a:pPr>
              <a:lnSpc>
                <a:spcPct val="90000"/>
              </a:lnSpc>
              <a:spcBef>
                <a:spcPct val="30000"/>
              </a:spcBef>
              <a:buSzPct val="100000"/>
            </a:pPr>
            <a:r>
              <a:rPr lang="en-GB" sz="2400" b="0" kern="0" dirty="0">
                <a:latin typeface="Gill Sans" charset="0"/>
              </a:rPr>
              <a:t>Available resources after completion of each process</a:t>
            </a:r>
          </a:p>
        </p:txBody>
      </p:sp>
      <p:sp>
        <p:nvSpPr>
          <p:cNvPr id="26" name="Content Placeholder 2">
            <a:extLst>
              <a:ext uri="{FF2B5EF4-FFF2-40B4-BE49-F238E27FC236}">
                <a16:creationId xmlns:a16="http://schemas.microsoft.com/office/drawing/2014/main" id="{D2BABA07-AA67-65CE-6CD6-F1A1E2565563}"/>
              </a:ext>
            </a:extLst>
          </p:cNvPr>
          <p:cNvSpPr txBox="1">
            <a:spLocks/>
          </p:cNvSpPr>
          <p:nvPr/>
        </p:nvSpPr>
        <p:spPr bwMode="auto">
          <a:xfrm>
            <a:off x="4532949" y="4513758"/>
            <a:ext cx="3830923" cy="181680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lnSpcReduction="1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b="0" kern="0" dirty="0"/>
              <a:t>Current state is a deadlock.  </a:t>
            </a:r>
            <a:endParaRPr lang="en-US" altLang="zh-CN" b="0" kern="0" dirty="0"/>
          </a:p>
          <a:p>
            <a:pPr marL="0" indent="0">
              <a:buNone/>
            </a:pPr>
            <a:r>
              <a:rPr lang="en-US" b="0" kern="0" dirty="0"/>
              <a:t>With 3 forks total, P2 holding 1 and P3 holding 2 leaves 0 available and each process still needs more forks</a:t>
            </a:r>
          </a:p>
        </p:txBody>
      </p:sp>
      <p:graphicFrame>
        <p:nvGraphicFramePr>
          <p:cNvPr id="3" name="Table 2">
            <a:extLst>
              <a:ext uri="{FF2B5EF4-FFF2-40B4-BE49-F238E27FC236}">
                <a16:creationId xmlns:a16="http://schemas.microsoft.com/office/drawing/2014/main" id="{312110D6-34C1-B947-18B8-C6E9153873F5}"/>
              </a:ext>
            </a:extLst>
          </p:cNvPr>
          <p:cNvGraphicFramePr>
            <a:graphicFrameLocks noGrp="1"/>
          </p:cNvGraphicFramePr>
          <p:nvPr/>
        </p:nvGraphicFramePr>
        <p:xfrm>
          <a:off x="6874296" y="1094698"/>
          <a:ext cx="478497" cy="111252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1</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3</a:t>
                      </a:r>
                      <a:endParaRPr lang="en-SE" sz="1800" dirty="0"/>
                    </a:p>
                  </a:txBody>
                  <a:tcPr/>
                </a:tc>
                <a:extLst>
                  <a:ext uri="{0D108BD9-81ED-4DB2-BD59-A6C34878D82A}">
                    <a16:rowId xmlns:a16="http://schemas.microsoft.com/office/drawing/2014/main" val="2761282773"/>
                  </a:ext>
                </a:extLst>
              </a:tr>
            </a:tbl>
          </a:graphicData>
        </a:graphic>
      </p:graphicFrame>
      <p:graphicFrame>
        <p:nvGraphicFramePr>
          <p:cNvPr id="27" name="Table 26">
            <a:extLst>
              <a:ext uri="{FF2B5EF4-FFF2-40B4-BE49-F238E27FC236}">
                <a16:creationId xmlns:a16="http://schemas.microsoft.com/office/drawing/2014/main" id="{AF5D11B6-7524-EC0D-8ECB-6686750402CD}"/>
              </a:ext>
            </a:extLst>
          </p:cNvPr>
          <p:cNvGraphicFramePr>
            <a:graphicFrameLocks noGrp="1"/>
          </p:cNvGraphicFramePr>
          <p:nvPr/>
        </p:nvGraphicFramePr>
        <p:xfrm>
          <a:off x="7885376" y="1094698"/>
          <a:ext cx="478497" cy="111252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0</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1</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2761282773"/>
                  </a:ext>
                </a:extLst>
              </a:tr>
            </a:tbl>
          </a:graphicData>
        </a:graphic>
      </p:graphicFrame>
      <p:graphicFrame>
        <p:nvGraphicFramePr>
          <p:cNvPr id="28" name="Table 27">
            <a:extLst>
              <a:ext uri="{FF2B5EF4-FFF2-40B4-BE49-F238E27FC236}">
                <a16:creationId xmlns:a16="http://schemas.microsoft.com/office/drawing/2014/main" id="{162F6433-69FF-1A05-DCD7-7B6E44C92C5B}"/>
              </a:ext>
            </a:extLst>
          </p:cNvPr>
          <p:cNvGraphicFramePr>
            <a:graphicFrameLocks noGrp="1"/>
          </p:cNvGraphicFramePr>
          <p:nvPr/>
        </p:nvGraphicFramePr>
        <p:xfrm>
          <a:off x="8973277" y="1105482"/>
          <a:ext cx="478497" cy="111252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1</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1</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1</a:t>
                      </a:r>
                      <a:endParaRPr lang="en-SE" sz="1800" dirty="0"/>
                    </a:p>
                  </a:txBody>
                  <a:tcPr/>
                </a:tc>
                <a:extLst>
                  <a:ext uri="{0D108BD9-81ED-4DB2-BD59-A6C34878D82A}">
                    <a16:rowId xmlns:a16="http://schemas.microsoft.com/office/drawing/2014/main" val="2761282773"/>
                  </a:ext>
                </a:extLst>
              </a:tr>
            </a:tbl>
          </a:graphicData>
        </a:graphic>
      </p:graphicFrame>
    </p:spTree>
    <p:extLst>
      <p:ext uri="{BB962C8B-B14F-4D97-AF65-F5344CB8AC3E}">
        <p14:creationId xmlns:p14="http://schemas.microsoft.com/office/powerpoint/2010/main" val="1670784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554EB-8B93-8663-424F-725FB65F2DDB}"/>
            </a:ext>
          </a:extLst>
        </p:cNvPr>
        <p:cNvGrpSpPr/>
        <p:nvPr/>
      </p:nvGrpSpPr>
      <p:grpSpPr>
        <a:xfrm>
          <a:off x="0" y="0"/>
          <a:ext cx="0" cy="0"/>
          <a:chOff x="0" y="0"/>
          <a:chExt cx="0" cy="0"/>
        </a:xfrm>
      </p:grpSpPr>
      <p:sp>
        <p:nvSpPr>
          <p:cNvPr id="1032" name="Rectangle 2">
            <a:extLst>
              <a:ext uri="{FF2B5EF4-FFF2-40B4-BE49-F238E27FC236}">
                <a16:creationId xmlns:a16="http://schemas.microsoft.com/office/drawing/2014/main" id="{E8490C81-871A-6D0B-E103-DCE52E7C2912}"/>
              </a:ext>
            </a:extLst>
          </p:cNvPr>
          <p:cNvSpPr>
            <a:spLocks noGrp="1" noChangeArrowheads="1"/>
          </p:cNvSpPr>
          <p:nvPr>
            <p:ph type="title" sz="quarter"/>
          </p:nvPr>
        </p:nvSpPr>
        <p:spPr>
          <a:xfrm>
            <a:off x="381000" y="-243705"/>
            <a:ext cx="11353800" cy="1143000"/>
          </a:xfrm>
        </p:spPr>
        <p:txBody>
          <a:bodyPr/>
          <a:lstStyle/>
          <a:p>
            <a:pPr eaLnBrk="1" hangingPunct="1"/>
            <a:r>
              <a:rPr lang="en-GB" dirty="0"/>
              <a:t>Q4 Deadlocks (c) </a:t>
            </a:r>
            <a:r>
              <a:rPr lang="en-US" dirty="0"/>
              <a:t>ANS (Thought Experiment)</a:t>
            </a:r>
            <a:endParaRPr lang="en-US" altLang="zh-CN" dirty="0">
              <a:ea typeface="宋体" charset="-122"/>
            </a:endParaRPr>
          </a:p>
        </p:txBody>
      </p:sp>
      <p:sp>
        <p:nvSpPr>
          <p:cNvPr id="14" name="Content Placeholder 2">
            <a:extLst>
              <a:ext uri="{FF2B5EF4-FFF2-40B4-BE49-F238E27FC236}">
                <a16:creationId xmlns:a16="http://schemas.microsoft.com/office/drawing/2014/main" id="{F0174F18-6FE0-9BD0-AA23-C9A627BBB58A}"/>
              </a:ext>
            </a:extLst>
          </p:cNvPr>
          <p:cNvSpPr>
            <a:spLocks noGrp="1"/>
          </p:cNvSpPr>
          <p:nvPr>
            <p:ph idx="1"/>
          </p:nvPr>
        </p:nvSpPr>
        <p:spPr>
          <a:xfrm>
            <a:off x="246280" y="1358634"/>
            <a:ext cx="1940024" cy="1143000"/>
          </a:xfrm>
        </p:spPr>
        <p:txBody>
          <a:bodyPr>
            <a:normAutofit lnSpcReduction="10000"/>
          </a:bodyPr>
          <a:lstStyle/>
          <a:p>
            <a:pPr marL="0" indent="0">
              <a:buNone/>
            </a:pPr>
            <a:r>
              <a:rPr lang="en-GB" dirty="0"/>
              <a:t>Initially, all forks are free.</a:t>
            </a:r>
          </a:p>
        </p:txBody>
      </p:sp>
      <p:sp>
        <p:nvSpPr>
          <p:cNvPr id="15" name="Content Placeholder 2">
            <a:extLst>
              <a:ext uri="{FF2B5EF4-FFF2-40B4-BE49-F238E27FC236}">
                <a16:creationId xmlns:a16="http://schemas.microsoft.com/office/drawing/2014/main" id="{6B337B34-DE85-9CD4-C4C7-B1001088A93F}"/>
              </a:ext>
            </a:extLst>
          </p:cNvPr>
          <p:cNvSpPr txBox="1">
            <a:spLocks/>
          </p:cNvSpPr>
          <p:nvPr/>
        </p:nvSpPr>
        <p:spPr bwMode="auto">
          <a:xfrm>
            <a:off x="3581400" y="5653709"/>
            <a:ext cx="5791200" cy="10668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endParaRPr lang="en-GB" b="0" kern="0" dirty="0"/>
          </a:p>
        </p:txBody>
      </p:sp>
      <p:graphicFrame>
        <p:nvGraphicFramePr>
          <p:cNvPr id="2" name="Table 1">
            <a:extLst>
              <a:ext uri="{FF2B5EF4-FFF2-40B4-BE49-F238E27FC236}">
                <a16:creationId xmlns:a16="http://schemas.microsoft.com/office/drawing/2014/main" id="{A1C7E968-FD54-A816-DB4D-7416CAFFA58D}"/>
              </a:ext>
            </a:extLst>
          </p:cNvPr>
          <p:cNvGraphicFramePr>
            <a:graphicFrameLocks noGrp="1"/>
          </p:cNvGraphicFramePr>
          <p:nvPr/>
        </p:nvGraphicFramePr>
        <p:xfrm>
          <a:off x="2469085" y="1076053"/>
          <a:ext cx="478497" cy="111252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1</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3</a:t>
                      </a:r>
                      <a:endParaRPr lang="en-SE" sz="1800" dirty="0"/>
                    </a:p>
                  </a:txBody>
                  <a:tcPr/>
                </a:tc>
                <a:extLst>
                  <a:ext uri="{0D108BD9-81ED-4DB2-BD59-A6C34878D82A}">
                    <a16:rowId xmlns:a16="http://schemas.microsoft.com/office/drawing/2014/main" val="2761282773"/>
                  </a:ext>
                </a:extLst>
              </a:tr>
            </a:tbl>
          </a:graphicData>
        </a:graphic>
      </p:graphicFrame>
      <p:sp>
        <p:nvSpPr>
          <p:cNvPr id="4" name="TextBox 3">
            <a:extLst>
              <a:ext uri="{FF2B5EF4-FFF2-40B4-BE49-F238E27FC236}">
                <a16:creationId xmlns:a16="http://schemas.microsoft.com/office/drawing/2014/main" id="{85E13D68-06EE-CF14-EE99-3966FE429E13}"/>
              </a:ext>
            </a:extLst>
          </p:cNvPr>
          <p:cNvSpPr txBox="1"/>
          <p:nvPr/>
        </p:nvSpPr>
        <p:spPr>
          <a:xfrm>
            <a:off x="2351444" y="687762"/>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5" name="TextBox 4">
            <a:extLst>
              <a:ext uri="{FF2B5EF4-FFF2-40B4-BE49-F238E27FC236}">
                <a16:creationId xmlns:a16="http://schemas.microsoft.com/office/drawing/2014/main" id="{D9374487-7436-A38F-0C9C-BFD28CB0E7B4}"/>
              </a:ext>
            </a:extLst>
          </p:cNvPr>
          <p:cNvSpPr txBox="1"/>
          <p:nvPr/>
        </p:nvSpPr>
        <p:spPr>
          <a:xfrm>
            <a:off x="3099090" y="687762"/>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6" name="TextBox 5">
            <a:extLst>
              <a:ext uri="{FF2B5EF4-FFF2-40B4-BE49-F238E27FC236}">
                <a16:creationId xmlns:a16="http://schemas.microsoft.com/office/drawing/2014/main" id="{46764615-FC8C-0A1D-2C54-7B08C101BE50}"/>
              </a:ext>
            </a:extLst>
          </p:cNvPr>
          <p:cNvSpPr txBox="1"/>
          <p:nvPr/>
        </p:nvSpPr>
        <p:spPr>
          <a:xfrm>
            <a:off x="8801196" y="664124"/>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graphicFrame>
        <p:nvGraphicFramePr>
          <p:cNvPr id="7" name="Table 6">
            <a:extLst>
              <a:ext uri="{FF2B5EF4-FFF2-40B4-BE49-F238E27FC236}">
                <a16:creationId xmlns:a16="http://schemas.microsoft.com/office/drawing/2014/main" id="{B44564AA-09CE-9A9D-1079-7E5F970E2DC6}"/>
              </a:ext>
            </a:extLst>
          </p:cNvPr>
          <p:cNvGraphicFramePr>
            <a:graphicFrameLocks noGrp="1"/>
          </p:cNvGraphicFramePr>
          <p:nvPr/>
        </p:nvGraphicFramePr>
        <p:xfrm>
          <a:off x="3480165" y="1076053"/>
          <a:ext cx="478497" cy="111252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0</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0</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0</a:t>
                      </a:r>
                      <a:endParaRPr lang="en-SE" sz="1800" dirty="0"/>
                    </a:p>
                  </a:txBody>
                  <a:tcPr/>
                </a:tc>
                <a:extLst>
                  <a:ext uri="{0D108BD9-81ED-4DB2-BD59-A6C34878D82A}">
                    <a16:rowId xmlns:a16="http://schemas.microsoft.com/office/drawing/2014/main" val="2761282773"/>
                  </a:ext>
                </a:extLst>
              </a:tr>
            </a:tbl>
          </a:graphicData>
        </a:graphic>
      </p:graphicFrame>
      <p:graphicFrame>
        <p:nvGraphicFramePr>
          <p:cNvPr id="8" name="Table 7">
            <a:extLst>
              <a:ext uri="{FF2B5EF4-FFF2-40B4-BE49-F238E27FC236}">
                <a16:creationId xmlns:a16="http://schemas.microsoft.com/office/drawing/2014/main" id="{A1EA0504-C465-7823-B36D-309723DBA131}"/>
              </a:ext>
            </a:extLst>
          </p:cNvPr>
          <p:cNvGraphicFramePr>
            <a:graphicFrameLocks noGrp="1"/>
          </p:cNvGraphicFramePr>
          <p:nvPr/>
        </p:nvGraphicFramePr>
        <p:xfrm>
          <a:off x="2456987" y="3557017"/>
          <a:ext cx="478497" cy="37084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3</a:t>
                      </a:r>
                      <a:endParaRPr lang="en-SE" sz="1800" dirty="0"/>
                    </a:p>
                  </a:txBody>
                  <a:tcPr/>
                </a:tc>
                <a:extLst>
                  <a:ext uri="{0D108BD9-81ED-4DB2-BD59-A6C34878D82A}">
                    <a16:rowId xmlns:a16="http://schemas.microsoft.com/office/drawing/2014/main" val="511353736"/>
                  </a:ext>
                </a:extLst>
              </a:tr>
            </a:tbl>
          </a:graphicData>
        </a:graphic>
      </p:graphicFrame>
      <p:sp>
        <p:nvSpPr>
          <p:cNvPr id="9" name="TextBox 8">
            <a:extLst>
              <a:ext uri="{FF2B5EF4-FFF2-40B4-BE49-F238E27FC236}">
                <a16:creationId xmlns:a16="http://schemas.microsoft.com/office/drawing/2014/main" id="{82511654-6439-E038-F706-06788641515E}"/>
              </a:ext>
            </a:extLst>
          </p:cNvPr>
          <p:cNvSpPr txBox="1"/>
          <p:nvPr/>
        </p:nvSpPr>
        <p:spPr>
          <a:xfrm>
            <a:off x="2263085" y="3162323"/>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graphicFrame>
        <p:nvGraphicFramePr>
          <p:cNvPr id="10" name="Table 9">
            <a:extLst>
              <a:ext uri="{FF2B5EF4-FFF2-40B4-BE49-F238E27FC236}">
                <a16:creationId xmlns:a16="http://schemas.microsoft.com/office/drawing/2014/main" id="{627D82CB-6D58-044E-3E59-A369CFF5A6DE}"/>
              </a:ext>
            </a:extLst>
          </p:cNvPr>
          <p:cNvGraphicFramePr>
            <a:graphicFrameLocks noGrp="1"/>
          </p:cNvGraphicFramePr>
          <p:nvPr/>
        </p:nvGraphicFramePr>
        <p:xfrm>
          <a:off x="3467138" y="3568306"/>
          <a:ext cx="478497" cy="37084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3</a:t>
                      </a:r>
                      <a:endParaRPr lang="en-SE" sz="1800" dirty="0"/>
                    </a:p>
                  </a:txBody>
                  <a:tcPr/>
                </a:tc>
                <a:extLst>
                  <a:ext uri="{0D108BD9-81ED-4DB2-BD59-A6C34878D82A}">
                    <a16:rowId xmlns:a16="http://schemas.microsoft.com/office/drawing/2014/main" val="511353736"/>
                  </a:ext>
                </a:extLst>
              </a:tr>
            </a:tbl>
          </a:graphicData>
        </a:graphic>
      </p:graphicFrame>
      <p:sp>
        <p:nvSpPr>
          <p:cNvPr id="11" name="TextBox 10">
            <a:extLst>
              <a:ext uri="{FF2B5EF4-FFF2-40B4-BE49-F238E27FC236}">
                <a16:creationId xmlns:a16="http://schemas.microsoft.com/office/drawing/2014/main" id="{C3FF4EFF-C620-A0D3-3995-66E48DEB3487}"/>
              </a:ext>
            </a:extLst>
          </p:cNvPr>
          <p:cNvSpPr txBox="1"/>
          <p:nvPr/>
        </p:nvSpPr>
        <p:spPr>
          <a:xfrm>
            <a:off x="3099090" y="3149551"/>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sp>
        <p:nvSpPr>
          <p:cNvPr id="13" name="TextBox 12">
            <a:extLst>
              <a:ext uri="{FF2B5EF4-FFF2-40B4-BE49-F238E27FC236}">
                <a16:creationId xmlns:a16="http://schemas.microsoft.com/office/drawing/2014/main" id="{D7A20CC9-DAE1-1061-8D78-E52C239D7CE3}"/>
              </a:ext>
            </a:extLst>
          </p:cNvPr>
          <p:cNvSpPr txBox="1"/>
          <p:nvPr/>
        </p:nvSpPr>
        <p:spPr>
          <a:xfrm>
            <a:off x="6746982" y="675943"/>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16" name="TextBox 15">
            <a:extLst>
              <a:ext uri="{FF2B5EF4-FFF2-40B4-BE49-F238E27FC236}">
                <a16:creationId xmlns:a16="http://schemas.microsoft.com/office/drawing/2014/main" id="{AE5973D1-302A-13DC-B353-5B7E716D8FF4}"/>
              </a:ext>
            </a:extLst>
          </p:cNvPr>
          <p:cNvSpPr txBox="1"/>
          <p:nvPr/>
        </p:nvSpPr>
        <p:spPr>
          <a:xfrm>
            <a:off x="7494628" y="675943"/>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graphicFrame>
        <p:nvGraphicFramePr>
          <p:cNvPr id="18" name="Table 17">
            <a:extLst>
              <a:ext uri="{FF2B5EF4-FFF2-40B4-BE49-F238E27FC236}">
                <a16:creationId xmlns:a16="http://schemas.microsoft.com/office/drawing/2014/main" id="{555AF951-DAD8-E9AB-89E6-A1094D10214A}"/>
              </a:ext>
            </a:extLst>
          </p:cNvPr>
          <p:cNvGraphicFramePr>
            <a:graphicFrameLocks noGrp="1"/>
          </p:cNvGraphicFramePr>
          <p:nvPr/>
        </p:nvGraphicFramePr>
        <p:xfrm>
          <a:off x="6852525" y="3545198"/>
          <a:ext cx="478497" cy="37084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3</a:t>
                      </a:r>
                      <a:endParaRPr lang="en-SE" sz="1800" dirty="0"/>
                    </a:p>
                  </a:txBody>
                  <a:tcPr/>
                </a:tc>
                <a:extLst>
                  <a:ext uri="{0D108BD9-81ED-4DB2-BD59-A6C34878D82A}">
                    <a16:rowId xmlns:a16="http://schemas.microsoft.com/office/drawing/2014/main" val="511353736"/>
                  </a:ext>
                </a:extLst>
              </a:tr>
            </a:tbl>
          </a:graphicData>
        </a:graphic>
      </p:graphicFrame>
      <p:sp>
        <p:nvSpPr>
          <p:cNvPr id="19" name="TextBox 18">
            <a:extLst>
              <a:ext uri="{FF2B5EF4-FFF2-40B4-BE49-F238E27FC236}">
                <a16:creationId xmlns:a16="http://schemas.microsoft.com/office/drawing/2014/main" id="{5FC1494F-7426-632D-AB3C-D75BE8391210}"/>
              </a:ext>
            </a:extLst>
          </p:cNvPr>
          <p:cNvSpPr txBox="1"/>
          <p:nvPr/>
        </p:nvSpPr>
        <p:spPr>
          <a:xfrm>
            <a:off x="6658623" y="3150504"/>
            <a:ext cx="816249" cy="400110"/>
          </a:xfrm>
          <a:prstGeom prst="rect">
            <a:avLst/>
          </a:prstGeom>
          <a:noFill/>
        </p:spPr>
        <p:txBody>
          <a:bodyPr wrap="none" rtlCol="0">
            <a:spAutoFit/>
          </a:bodyPr>
          <a:lstStyle/>
          <a:p>
            <a:r>
              <a:rPr lang="en-US" altLang="zh-CN" sz="2000" b="0" dirty="0">
                <a:solidFill>
                  <a:schemeClr val="dk1"/>
                </a:solidFill>
                <a:latin typeface="+mn-lt"/>
                <a:ea typeface="+mn-ea"/>
                <a:cs typeface="+mn-cs"/>
              </a:rPr>
              <a:t>Total</a:t>
            </a:r>
            <a:endParaRPr lang="en-GB" sz="2000" b="0" dirty="0">
              <a:solidFill>
                <a:schemeClr val="dk1"/>
              </a:solidFill>
              <a:latin typeface="+mn-lt"/>
              <a:ea typeface="+mn-ea"/>
              <a:cs typeface="+mn-cs"/>
            </a:endParaRPr>
          </a:p>
        </p:txBody>
      </p:sp>
      <p:graphicFrame>
        <p:nvGraphicFramePr>
          <p:cNvPr id="20" name="Table 19">
            <a:extLst>
              <a:ext uri="{FF2B5EF4-FFF2-40B4-BE49-F238E27FC236}">
                <a16:creationId xmlns:a16="http://schemas.microsoft.com/office/drawing/2014/main" id="{6A3DC36E-DFAB-7562-CA39-C5DB0256E143}"/>
              </a:ext>
            </a:extLst>
          </p:cNvPr>
          <p:cNvGraphicFramePr>
            <a:graphicFrameLocks noGrp="1"/>
          </p:cNvGraphicFramePr>
          <p:nvPr/>
        </p:nvGraphicFramePr>
        <p:xfrm>
          <a:off x="7862676" y="3556487"/>
          <a:ext cx="478497" cy="37084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0</a:t>
                      </a:r>
                      <a:endParaRPr lang="en-SE" sz="1800" dirty="0"/>
                    </a:p>
                  </a:txBody>
                  <a:tcPr/>
                </a:tc>
                <a:extLst>
                  <a:ext uri="{0D108BD9-81ED-4DB2-BD59-A6C34878D82A}">
                    <a16:rowId xmlns:a16="http://schemas.microsoft.com/office/drawing/2014/main" val="511353736"/>
                  </a:ext>
                </a:extLst>
              </a:tr>
            </a:tbl>
          </a:graphicData>
        </a:graphic>
      </p:graphicFrame>
      <p:sp>
        <p:nvSpPr>
          <p:cNvPr id="21" name="TextBox 20">
            <a:extLst>
              <a:ext uri="{FF2B5EF4-FFF2-40B4-BE49-F238E27FC236}">
                <a16:creationId xmlns:a16="http://schemas.microsoft.com/office/drawing/2014/main" id="{55A23646-D710-762C-F3B7-A8C559D17F80}"/>
              </a:ext>
            </a:extLst>
          </p:cNvPr>
          <p:cNvSpPr txBox="1"/>
          <p:nvPr/>
        </p:nvSpPr>
        <p:spPr>
          <a:xfrm>
            <a:off x="7494628" y="3137732"/>
            <a:ext cx="1266693" cy="400110"/>
          </a:xfrm>
          <a:prstGeom prst="rect">
            <a:avLst/>
          </a:prstGeom>
          <a:noFill/>
        </p:spPr>
        <p:txBody>
          <a:bodyPr wrap="none" rtlCol="0">
            <a:spAutoFit/>
          </a:bodyPr>
          <a:lstStyle/>
          <a:p>
            <a:r>
              <a:rPr lang="en-US" altLang="zh-CN" sz="2000" b="0" dirty="0">
                <a:solidFill>
                  <a:schemeClr val="dk1"/>
                </a:solidFill>
                <a:latin typeface="+mn-lt"/>
                <a:ea typeface="+mn-ea"/>
                <a:cs typeface="+mn-cs"/>
              </a:rPr>
              <a:t>Available</a:t>
            </a:r>
            <a:endParaRPr lang="en-GB" sz="2000" b="0" dirty="0">
              <a:solidFill>
                <a:schemeClr val="dk1"/>
              </a:solidFill>
              <a:latin typeface="+mn-lt"/>
              <a:ea typeface="+mn-ea"/>
              <a:cs typeface="+mn-cs"/>
            </a:endParaRPr>
          </a:p>
        </p:txBody>
      </p:sp>
      <p:sp>
        <p:nvSpPr>
          <p:cNvPr id="22" name="Content Placeholder 2">
            <a:extLst>
              <a:ext uri="{FF2B5EF4-FFF2-40B4-BE49-F238E27FC236}">
                <a16:creationId xmlns:a16="http://schemas.microsoft.com/office/drawing/2014/main" id="{638E6BCC-237F-D668-396A-7051E90FB5D0}"/>
              </a:ext>
            </a:extLst>
          </p:cNvPr>
          <p:cNvSpPr txBox="1">
            <a:spLocks/>
          </p:cNvSpPr>
          <p:nvPr/>
        </p:nvSpPr>
        <p:spPr bwMode="auto">
          <a:xfrm>
            <a:off x="4532950" y="1174348"/>
            <a:ext cx="2511429" cy="11430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b="0" kern="0" dirty="0"/>
              <a:t>P1 grabs 1 fork and P2 grabs 2 forks</a:t>
            </a:r>
            <a:endParaRPr lang="en-US" altLang="zh-CN" b="0" kern="0" dirty="0"/>
          </a:p>
        </p:txBody>
      </p:sp>
      <p:graphicFrame>
        <p:nvGraphicFramePr>
          <p:cNvPr id="24" name="Content Placeholder 5">
            <a:extLst>
              <a:ext uri="{FF2B5EF4-FFF2-40B4-BE49-F238E27FC236}">
                <a16:creationId xmlns:a16="http://schemas.microsoft.com/office/drawing/2014/main" id="{D6D0F683-5E21-AD6E-EFCF-10D8DFD8D1CC}"/>
              </a:ext>
            </a:extLst>
          </p:cNvPr>
          <p:cNvGraphicFramePr>
            <a:graphicFrameLocks/>
          </p:cNvGraphicFramePr>
          <p:nvPr>
            <p:extLst>
              <p:ext uri="{D42A27DB-BD31-4B8C-83A1-F6EECF244321}">
                <p14:modId xmlns:p14="http://schemas.microsoft.com/office/powerpoint/2010/main" val="3372324224"/>
              </p:ext>
            </p:extLst>
          </p:nvPr>
        </p:nvGraphicFramePr>
        <p:xfrm>
          <a:off x="9153107" y="3911387"/>
          <a:ext cx="1301842" cy="1981200"/>
        </p:xfrm>
        <a:graphic>
          <a:graphicData uri="http://schemas.openxmlformats.org/drawingml/2006/table">
            <a:tbl>
              <a:tblPr firstRow="1" bandRow="1">
                <a:tableStyleId>{5940675A-B579-460E-94D1-54222C63F5DA}</a:tableStyleId>
              </a:tblPr>
              <a:tblGrid>
                <a:gridCol w="650921">
                  <a:extLst>
                    <a:ext uri="{9D8B030D-6E8A-4147-A177-3AD203B41FA5}">
                      <a16:colId xmlns:a16="http://schemas.microsoft.com/office/drawing/2014/main" val="1619986141"/>
                    </a:ext>
                  </a:extLst>
                </a:gridCol>
                <a:gridCol w="650921">
                  <a:extLst>
                    <a:ext uri="{9D8B030D-6E8A-4147-A177-3AD203B41FA5}">
                      <a16:colId xmlns:a16="http://schemas.microsoft.com/office/drawing/2014/main" val="3558990718"/>
                    </a:ext>
                  </a:extLst>
                </a:gridCol>
              </a:tblGrid>
              <a:tr h="370840">
                <a:tc>
                  <a:txBody>
                    <a:bodyPr/>
                    <a:lstStyle/>
                    <a:p>
                      <a:pPr algn="ctr"/>
                      <a:endParaRPr lang="en-SE" sz="2000" dirty="0"/>
                    </a:p>
                  </a:txBody>
                  <a:tcPr>
                    <a:solidFill>
                      <a:schemeClr val="bg1">
                        <a:lumMod val="95000"/>
                      </a:schemeClr>
                    </a:solidFill>
                  </a:tcPr>
                </a:tc>
                <a:tc>
                  <a:txBody>
                    <a:bodyPr/>
                    <a:lstStyle/>
                    <a:p>
                      <a:pPr algn="ctr"/>
                      <a:r>
                        <a:rPr lang="en-GB" sz="2000" dirty="0"/>
                        <a:t>R1</a:t>
                      </a:r>
                      <a:endParaRPr lang="en-SE" sz="2000" dirty="0"/>
                    </a:p>
                  </a:txBody>
                  <a:tcPr>
                    <a:solidFill>
                      <a:schemeClr val="bg1">
                        <a:lumMod val="95000"/>
                      </a:schemeClr>
                    </a:solidFill>
                  </a:tcPr>
                </a:tc>
                <a:extLst>
                  <a:ext uri="{0D108BD9-81ED-4DB2-BD59-A6C34878D82A}">
                    <a16:rowId xmlns:a16="http://schemas.microsoft.com/office/drawing/2014/main" val="117063772"/>
                  </a:ext>
                </a:extLst>
              </a:tr>
              <a:tr h="370840">
                <a:tc>
                  <a:txBody>
                    <a:bodyPr/>
                    <a:lstStyle/>
                    <a:p>
                      <a:pPr algn="ctr"/>
                      <a:r>
                        <a:rPr lang="en-GB" sz="2000" dirty="0"/>
                        <a:t>Init</a:t>
                      </a:r>
                      <a:endParaRPr lang="en-SE" sz="2000" dirty="0"/>
                    </a:p>
                  </a:txBody>
                  <a:tcPr>
                    <a:solidFill>
                      <a:schemeClr val="bg1">
                        <a:lumMod val="95000"/>
                      </a:schemeClr>
                    </a:solidFill>
                  </a:tcPr>
                </a:tc>
                <a:tc>
                  <a:txBody>
                    <a:bodyPr/>
                    <a:lstStyle/>
                    <a:p>
                      <a:pPr algn="ctr"/>
                      <a:r>
                        <a:rPr lang="en-GB" sz="2000" dirty="0"/>
                        <a:t>0</a:t>
                      </a:r>
                      <a:endParaRPr lang="en-SE" sz="2000" dirty="0"/>
                    </a:p>
                  </a:txBody>
                  <a:tcPr/>
                </a:tc>
                <a:extLst>
                  <a:ext uri="{0D108BD9-81ED-4DB2-BD59-A6C34878D82A}">
                    <a16:rowId xmlns:a16="http://schemas.microsoft.com/office/drawing/2014/main" val="2823243655"/>
                  </a:ext>
                </a:extLst>
              </a:tr>
              <a:tr h="370840">
                <a:tc>
                  <a:txBody>
                    <a:bodyPr/>
                    <a:lstStyle/>
                    <a:p>
                      <a:pPr algn="ctr"/>
                      <a:r>
                        <a:rPr lang="en-US" sz="2000" dirty="0"/>
                        <a:t>P1</a:t>
                      </a:r>
                      <a:endParaRPr lang="en-SE" sz="2000" dirty="0"/>
                    </a:p>
                  </a:txBody>
                  <a:tcPr>
                    <a:solidFill>
                      <a:schemeClr val="bg1">
                        <a:lumMod val="95000"/>
                      </a:schemeClr>
                    </a:solidFill>
                  </a:tcPr>
                </a:tc>
                <a:tc>
                  <a:txBody>
                    <a:bodyPr/>
                    <a:lstStyle/>
                    <a:p>
                      <a:pPr algn="ctr"/>
                      <a:r>
                        <a:rPr lang="en-US" sz="2000" dirty="0"/>
                        <a:t>1</a:t>
                      </a:r>
                      <a:endParaRPr lang="en-SE" sz="2000" dirty="0"/>
                    </a:p>
                  </a:txBody>
                  <a:tcPr/>
                </a:tc>
                <a:extLst>
                  <a:ext uri="{0D108BD9-81ED-4DB2-BD59-A6C34878D82A}">
                    <a16:rowId xmlns:a16="http://schemas.microsoft.com/office/drawing/2014/main" val="706725479"/>
                  </a:ext>
                </a:extLst>
              </a:tr>
              <a:tr h="370840">
                <a:tc>
                  <a:txBody>
                    <a:bodyPr/>
                    <a:lstStyle/>
                    <a:p>
                      <a:pPr algn="ctr"/>
                      <a:r>
                        <a:rPr lang="en-US" sz="2000" dirty="0"/>
                        <a:t>P2</a:t>
                      </a:r>
                      <a:endParaRPr lang="en-SE" sz="2000" dirty="0"/>
                    </a:p>
                  </a:txBody>
                  <a:tcPr>
                    <a:solidFill>
                      <a:schemeClr val="bg1">
                        <a:lumMod val="95000"/>
                      </a:schemeClr>
                    </a:solidFill>
                  </a:tcPr>
                </a:tc>
                <a:tc>
                  <a:txBody>
                    <a:bodyPr/>
                    <a:lstStyle/>
                    <a:p>
                      <a:pPr algn="ctr"/>
                      <a:r>
                        <a:rPr lang="en-US" sz="2000" dirty="0"/>
                        <a:t>3</a:t>
                      </a:r>
                      <a:endParaRPr lang="en-SE" sz="2000" dirty="0"/>
                    </a:p>
                  </a:txBody>
                  <a:tcPr/>
                </a:tc>
                <a:extLst>
                  <a:ext uri="{0D108BD9-81ED-4DB2-BD59-A6C34878D82A}">
                    <a16:rowId xmlns:a16="http://schemas.microsoft.com/office/drawing/2014/main" val="114848810"/>
                  </a:ext>
                </a:extLst>
              </a:tr>
              <a:tr h="370840">
                <a:tc>
                  <a:txBody>
                    <a:bodyPr/>
                    <a:lstStyle/>
                    <a:p>
                      <a:pPr algn="ctr"/>
                      <a:r>
                        <a:rPr lang="en-US" sz="2000" dirty="0"/>
                        <a:t>P3</a:t>
                      </a:r>
                      <a:endParaRPr lang="en-SE" sz="2000" dirty="0"/>
                    </a:p>
                  </a:txBody>
                  <a:tcPr>
                    <a:solidFill>
                      <a:schemeClr val="bg1">
                        <a:lumMod val="95000"/>
                      </a:schemeClr>
                    </a:solidFill>
                  </a:tcPr>
                </a:tc>
                <a:tc>
                  <a:txBody>
                    <a:bodyPr/>
                    <a:lstStyle/>
                    <a:p>
                      <a:pPr algn="ctr"/>
                      <a:r>
                        <a:rPr lang="en-US" sz="2000" dirty="0"/>
                        <a:t>3</a:t>
                      </a:r>
                      <a:endParaRPr lang="en-SE" sz="2000" dirty="0"/>
                    </a:p>
                  </a:txBody>
                  <a:tcPr/>
                </a:tc>
                <a:extLst>
                  <a:ext uri="{0D108BD9-81ED-4DB2-BD59-A6C34878D82A}">
                    <a16:rowId xmlns:a16="http://schemas.microsoft.com/office/drawing/2014/main" val="3167906403"/>
                  </a:ext>
                </a:extLst>
              </a:tr>
            </a:tbl>
          </a:graphicData>
        </a:graphic>
      </p:graphicFrame>
      <p:sp>
        <p:nvSpPr>
          <p:cNvPr id="25" name="TextBox 24">
            <a:extLst>
              <a:ext uri="{FF2B5EF4-FFF2-40B4-BE49-F238E27FC236}">
                <a16:creationId xmlns:a16="http://schemas.microsoft.com/office/drawing/2014/main" id="{876B2597-DBA0-D169-1233-9D324BEB2179}"/>
              </a:ext>
            </a:extLst>
          </p:cNvPr>
          <p:cNvSpPr txBox="1"/>
          <p:nvPr/>
        </p:nvSpPr>
        <p:spPr>
          <a:xfrm>
            <a:off x="8728977" y="3100724"/>
            <a:ext cx="3844023" cy="757130"/>
          </a:xfrm>
          <a:prstGeom prst="rect">
            <a:avLst/>
          </a:prstGeom>
          <a:noFill/>
        </p:spPr>
        <p:txBody>
          <a:bodyPr wrap="square" rtlCol="0">
            <a:spAutoFit/>
          </a:bodyPr>
          <a:lstStyle/>
          <a:p>
            <a:pPr>
              <a:lnSpc>
                <a:spcPct val="90000"/>
              </a:lnSpc>
              <a:spcBef>
                <a:spcPct val="30000"/>
              </a:spcBef>
              <a:buSzPct val="100000"/>
            </a:pPr>
            <a:r>
              <a:rPr lang="en-GB" sz="2400" b="0" kern="0" dirty="0">
                <a:latin typeface="Gill Sans" charset="0"/>
              </a:rPr>
              <a:t>Available resources after completion of each process</a:t>
            </a:r>
          </a:p>
        </p:txBody>
      </p:sp>
      <p:sp>
        <p:nvSpPr>
          <p:cNvPr id="26" name="Content Placeholder 2">
            <a:extLst>
              <a:ext uri="{FF2B5EF4-FFF2-40B4-BE49-F238E27FC236}">
                <a16:creationId xmlns:a16="http://schemas.microsoft.com/office/drawing/2014/main" id="{BFD5663A-834B-4090-4508-EC0E895501D1}"/>
              </a:ext>
            </a:extLst>
          </p:cNvPr>
          <p:cNvSpPr txBox="1">
            <a:spLocks/>
          </p:cNvSpPr>
          <p:nvPr/>
        </p:nvSpPr>
        <p:spPr bwMode="auto">
          <a:xfrm>
            <a:off x="4114800" y="4513758"/>
            <a:ext cx="4419600" cy="19812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850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b="0" kern="0" dirty="0"/>
              <a:t>Current state is not a deadlock.  </a:t>
            </a:r>
            <a:endParaRPr lang="en-US" altLang="zh-CN" b="0" kern="0" dirty="0"/>
          </a:p>
          <a:p>
            <a:pPr marL="0" indent="0">
              <a:buNone/>
            </a:pPr>
            <a:r>
              <a:rPr lang="en-US" b="0" kern="0" dirty="0"/>
              <a:t>With 3 forks total, P1 holding 1 fork can finish, P2 holding 2 forks can finish, and P3 can then finish</a:t>
            </a:r>
          </a:p>
          <a:p>
            <a:pPr marL="0" indent="0">
              <a:buNone/>
            </a:pPr>
            <a:r>
              <a:rPr lang="en-US" b="0" kern="0" dirty="0"/>
              <a:t>If you give this scenario in the exam, it is incorrect, because I asked for a deadlock scenario if one exists.</a:t>
            </a:r>
          </a:p>
        </p:txBody>
      </p:sp>
      <p:graphicFrame>
        <p:nvGraphicFramePr>
          <p:cNvPr id="3" name="Table 2">
            <a:extLst>
              <a:ext uri="{FF2B5EF4-FFF2-40B4-BE49-F238E27FC236}">
                <a16:creationId xmlns:a16="http://schemas.microsoft.com/office/drawing/2014/main" id="{4005B039-4EDE-06A3-068F-B9DBE7CE3D3E}"/>
              </a:ext>
            </a:extLst>
          </p:cNvPr>
          <p:cNvGraphicFramePr>
            <a:graphicFrameLocks noGrp="1"/>
          </p:cNvGraphicFramePr>
          <p:nvPr/>
        </p:nvGraphicFramePr>
        <p:xfrm>
          <a:off x="6874296" y="1094698"/>
          <a:ext cx="478497" cy="111252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1</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3</a:t>
                      </a:r>
                      <a:endParaRPr lang="en-SE" sz="1800" dirty="0"/>
                    </a:p>
                  </a:txBody>
                  <a:tcPr/>
                </a:tc>
                <a:extLst>
                  <a:ext uri="{0D108BD9-81ED-4DB2-BD59-A6C34878D82A}">
                    <a16:rowId xmlns:a16="http://schemas.microsoft.com/office/drawing/2014/main" val="2761282773"/>
                  </a:ext>
                </a:extLst>
              </a:tr>
            </a:tbl>
          </a:graphicData>
        </a:graphic>
      </p:graphicFrame>
      <p:graphicFrame>
        <p:nvGraphicFramePr>
          <p:cNvPr id="27" name="Table 26">
            <a:extLst>
              <a:ext uri="{FF2B5EF4-FFF2-40B4-BE49-F238E27FC236}">
                <a16:creationId xmlns:a16="http://schemas.microsoft.com/office/drawing/2014/main" id="{F5AFA191-7349-B507-1F03-D21ACD798C9E}"/>
              </a:ext>
            </a:extLst>
          </p:cNvPr>
          <p:cNvGraphicFramePr>
            <a:graphicFrameLocks noGrp="1"/>
          </p:cNvGraphicFramePr>
          <p:nvPr>
            <p:extLst>
              <p:ext uri="{D42A27DB-BD31-4B8C-83A1-F6EECF244321}">
                <p14:modId xmlns:p14="http://schemas.microsoft.com/office/powerpoint/2010/main" val="3263817013"/>
              </p:ext>
            </p:extLst>
          </p:nvPr>
        </p:nvGraphicFramePr>
        <p:xfrm>
          <a:off x="7885376" y="1094698"/>
          <a:ext cx="478497" cy="111252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1</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2</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0</a:t>
                      </a:r>
                      <a:endParaRPr lang="en-SE" sz="1800" dirty="0"/>
                    </a:p>
                  </a:txBody>
                  <a:tcPr/>
                </a:tc>
                <a:extLst>
                  <a:ext uri="{0D108BD9-81ED-4DB2-BD59-A6C34878D82A}">
                    <a16:rowId xmlns:a16="http://schemas.microsoft.com/office/drawing/2014/main" val="2761282773"/>
                  </a:ext>
                </a:extLst>
              </a:tr>
            </a:tbl>
          </a:graphicData>
        </a:graphic>
      </p:graphicFrame>
      <p:graphicFrame>
        <p:nvGraphicFramePr>
          <p:cNvPr id="28" name="Table 27">
            <a:extLst>
              <a:ext uri="{FF2B5EF4-FFF2-40B4-BE49-F238E27FC236}">
                <a16:creationId xmlns:a16="http://schemas.microsoft.com/office/drawing/2014/main" id="{1AE3F343-DAD1-FD58-B428-B0D6349E2EE0}"/>
              </a:ext>
            </a:extLst>
          </p:cNvPr>
          <p:cNvGraphicFramePr>
            <a:graphicFrameLocks noGrp="1"/>
          </p:cNvGraphicFramePr>
          <p:nvPr>
            <p:extLst>
              <p:ext uri="{D42A27DB-BD31-4B8C-83A1-F6EECF244321}">
                <p14:modId xmlns:p14="http://schemas.microsoft.com/office/powerpoint/2010/main" val="4043360153"/>
              </p:ext>
            </p:extLst>
          </p:nvPr>
        </p:nvGraphicFramePr>
        <p:xfrm>
          <a:off x="8973277" y="1105482"/>
          <a:ext cx="478497" cy="1112520"/>
        </p:xfrm>
        <a:graphic>
          <a:graphicData uri="http://schemas.openxmlformats.org/drawingml/2006/table">
            <a:tbl>
              <a:tblPr firstRow="1" bandRow="1">
                <a:tableStyleId>{5940675A-B579-460E-94D1-54222C63F5DA}</a:tableStyleId>
              </a:tblPr>
              <a:tblGrid>
                <a:gridCol w="478497">
                  <a:extLst>
                    <a:ext uri="{9D8B030D-6E8A-4147-A177-3AD203B41FA5}">
                      <a16:colId xmlns:a16="http://schemas.microsoft.com/office/drawing/2014/main" val="301508297"/>
                    </a:ext>
                  </a:extLst>
                </a:gridCol>
              </a:tblGrid>
              <a:tr h="370840">
                <a:tc>
                  <a:txBody>
                    <a:bodyPr/>
                    <a:lstStyle/>
                    <a:p>
                      <a:pPr algn="ctr"/>
                      <a:r>
                        <a:rPr lang="en-US" sz="1800" dirty="0"/>
                        <a:t>0</a:t>
                      </a:r>
                      <a:endParaRPr lang="en-SE" sz="1800" dirty="0"/>
                    </a:p>
                  </a:txBody>
                  <a:tcPr/>
                </a:tc>
                <a:extLst>
                  <a:ext uri="{0D108BD9-81ED-4DB2-BD59-A6C34878D82A}">
                    <a16:rowId xmlns:a16="http://schemas.microsoft.com/office/drawing/2014/main" val="511353736"/>
                  </a:ext>
                </a:extLst>
              </a:tr>
              <a:tr h="370840">
                <a:tc>
                  <a:txBody>
                    <a:bodyPr/>
                    <a:lstStyle/>
                    <a:p>
                      <a:pPr algn="ctr"/>
                      <a:r>
                        <a:rPr lang="en-US" sz="1800" dirty="0"/>
                        <a:t>0</a:t>
                      </a:r>
                      <a:endParaRPr lang="en-SE" sz="1800" dirty="0"/>
                    </a:p>
                  </a:txBody>
                  <a:tcPr/>
                </a:tc>
                <a:extLst>
                  <a:ext uri="{0D108BD9-81ED-4DB2-BD59-A6C34878D82A}">
                    <a16:rowId xmlns:a16="http://schemas.microsoft.com/office/drawing/2014/main" val="1929623496"/>
                  </a:ext>
                </a:extLst>
              </a:tr>
              <a:tr h="370840">
                <a:tc>
                  <a:txBody>
                    <a:bodyPr/>
                    <a:lstStyle/>
                    <a:p>
                      <a:pPr algn="ctr"/>
                      <a:r>
                        <a:rPr lang="en-US" sz="1800" dirty="0"/>
                        <a:t>3</a:t>
                      </a:r>
                      <a:endParaRPr lang="en-SE" sz="1800" dirty="0"/>
                    </a:p>
                  </a:txBody>
                  <a:tcPr/>
                </a:tc>
                <a:extLst>
                  <a:ext uri="{0D108BD9-81ED-4DB2-BD59-A6C34878D82A}">
                    <a16:rowId xmlns:a16="http://schemas.microsoft.com/office/drawing/2014/main" val="2761282773"/>
                  </a:ext>
                </a:extLst>
              </a:tr>
            </a:tbl>
          </a:graphicData>
        </a:graphic>
      </p:graphicFrame>
    </p:spTree>
    <p:extLst>
      <p:ext uri="{BB962C8B-B14F-4D97-AF65-F5344CB8AC3E}">
        <p14:creationId xmlns:p14="http://schemas.microsoft.com/office/powerpoint/2010/main" val="18419310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E1E76-2C63-5BE6-BE70-6BA0340E6782}"/>
              </a:ext>
            </a:extLst>
          </p:cNvPr>
          <p:cNvSpPr>
            <a:spLocks noGrp="1"/>
          </p:cNvSpPr>
          <p:nvPr>
            <p:ph type="title"/>
          </p:nvPr>
        </p:nvSpPr>
        <p:spPr/>
        <p:txBody>
          <a:bodyPr/>
          <a:lstStyle/>
          <a:p>
            <a:r>
              <a:rPr lang="en-GB" dirty="0">
                <a:ea typeface="ＭＳ Ｐゴシック" charset="0"/>
              </a:rPr>
              <a:t>Q5 Scheduling (20 pts)</a:t>
            </a:r>
            <a:endParaRPr lang="en-US" dirty="0">
              <a:ea typeface="ＭＳ Ｐゴシック" charset="0"/>
            </a:endParaRPr>
          </a:p>
        </p:txBody>
      </p:sp>
      <p:sp>
        <p:nvSpPr>
          <p:cNvPr id="3" name="Content Placeholder 2">
            <a:extLst>
              <a:ext uri="{FF2B5EF4-FFF2-40B4-BE49-F238E27FC236}">
                <a16:creationId xmlns:a16="http://schemas.microsoft.com/office/drawing/2014/main" id="{5A883D79-8122-7198-2D3F-3542E5CF6178}"/>
              </a:ext>
            </a:extLst>
          </p:cNvPr>
          <p:cNvSpPr>
            <a:spLocks noGrp="1"/>
          </p:cNvSpPr>
          <p:nvPr>
            <p:ph idx="1"/>
          </p:nvPr>
        </p:nvSpPr>
        <p:spPr/>
        <p:txBody>
          <a:bodyPr>
            <a:normAutofit fontScale="92500"/>
          </a:bodyPr>
          <a:lstStyle/>
          <a:p>
            <a:r>
              <a:rPr lang="en-GB" dirty="0"/>
              <a:t>Consider the set of 2 processes whose arrival time and CPU/IO burst times are given below. For each scheduling algorithm (FCFS, SJF, SRTF, RR, Fixed-Priority (FP)), draw the Gantt chart by filling in the table with the PID that runs in each time slot, and calculate the response time for each process, and the average response time. </a:t>
            </a:r>
            <a:r>
              <a:rPr lang="en-US" dirty="0"/>
              <a:t>Assume that context switch overhead is 0. </a:t>
            </a:r>
            <a:r>
              <a:rPr lang="en-GB" dirty="0"/>
              <a:t>For RR scheduling, the time quantum is 1. </a:t>
            </a:r>
            <a:r>
              <a:rPr lang="en-US" dirty="0"/>
              <a:t>For RR, assume that an arriving process is scheduled to run at the beginning of its arrival time, i.e., it is added to the head </a:t>
            </a:r>
            <a:r>
              <a:rPr lang="en-US" dirty="0" err="1"/>
              <a:t>ofthe</a:t>
            </a:r>
            <a:r>
              <a:rPr lang="en-US" dirty="0"/>
              <a:t> queue upon arrival. </a:t>
            </a:r>
            <a:r>
              <a:rPr lang="en-GB" b="1" dirty="0"/>
              <a:t>For FP scheduling, assign P2 (PID 2) higher priority than P1 (PID 1).</a:t>
            </a:r>
            <a:r>
              <a:rPr lang="en-GB" dirty="0"/>
              <a:t> </a:t>
            </a:r>
            <a:r>
              <a:rPr lang="en-GB" b="1" dirty="0"/>
              <a:t>In case of a tie, prefer the running process to the newly arrived process, and if everything else is equal, prefer the process with smaller index. </a:t>
            </a:r>
            <a:r>
              <a:rPr lang="en-GB" dirty="0"/>
              <a:t>If a time slot is idle with no active process executing, then fill in X. (Except for any possible idle time slots at the end of schedule, leave them empty and do not fill in X.) </a:t>
            </a:r>
            <a:endParaRPr lang="en-US" dirty="0"/>
          </a:p>
        </p:txBody>
      </p:sp>
    </p:spTree>
    <p:extLst>
      <p:ext uri="{BB962C8B-B14F-4D97-AF65-F5344CB8AC3E}">
        <p14:creationId xmlns:p14="http://schemas.microsoft.com/office/powerpoint/2010/main" val="170427722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7F0E9-5359-4A9B-F5C2-7A932B0323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AAF444-E2E0-E246-EFF5-578C2E24847F}"/>
              </a:ext>
            </a:extLst>
          </p:cNvPr>
          <p:cNvSpPr>
            <a:spLocks noGrp="1"/>
          </p:cNvSpPr>
          <p:nvPr>
            <p:ph type="title"/>
          </p:nvPr>
        </p:nvSpPr>
        <p:spPr/>
        <p:txBody>
          <a:bodyPr/>
          <a:lstStyle/>
          <a:p>
            <a:r>
              <a:rPr lang="en-GB" dirty="0">
                <a:ea typeface="ＭＳ Ｐゴシック" charset="0"/>
              </a:rPr>
              <a:t>Q5 Scheduling </a:t>
            </a:r>
            <a:r>
              <a:rPr lang="en-GB" dirty="0" err="1">
                <a:ea typeface="ＭＳ Ｐゴシック" charset="0"/>
              </a:rPr>
              <a:t>Cont</a:t>
            </a:r>
            <a:r>
              <a:rPr lang="en-GB" dirty="0">
                <a:ea typeface="ＭＳ Ｐゴシック" charset="0"/>
              </a:rPr>
              <a:t>’</a:t>
            </a:r>
            <a:endParaRPr lang="en-SE" dirty="0">
              <a:ea typeface="ＭＳ Ｐゴシック" charset="0"/>
            </a:endParaRPr>
          </a:p>
        </p:txBody>
      </p:sp>
      <p:graphicFrame>
        <p:nvGraphicFramePr>
          <p:cNvPr id="11" name="Table 10">
            <a:extLst>
              <a:ext uri="{FF2B5EF4-FFF2-40B4-BE49-F238E27FC236}">
                <a16:creationId xmlns:a16="http://schemas.microsoft.com/office/drawing/2014/main" id="{9572222F-836E-ED1F-09A1-50598F5CDA74}"/>
              </a:ext>
            </a:extLst>
          </p:cNvPr>
          <p:cNvGraphicFramePr>
            <a:graphicFrameLocks noGrp="1"/>
          </p:cNvGraphicFramePr>
          <p:nvPr>
            <p:extLst>
              <p:ext uri="{D42A27DB-BD31-4B8C-83A1-F6EECF244321}">
                <p14:modId xmlns:p14="http://schemas.microsoft.com/office/powerpoint/2010/main" val="4290493918"/>
              </p:ext>
            </p:extLst>
          </p:nvPr>
        </p:nvGraphicFramePr>
        <p:xfrm>
          <a:off x="3048000" y="3251200"/>
          <a:ext cx="6959326" cy="1854200"/>
        </p:xfrm>
        <a:graphic>
          <a:graphicData uri="http://schemas.openxmlformats.org/drawingml/2006/table">
            <a:tbl>
              <a:tblPr firstRow="1" bandRow="1">
                <a:tableStyleId>{5940675A-B579-460E-94D1-54222C63F5DA}</a:tableStyleId>
              </a:tblPr>
              <a:tblGrid>
                <a:gridCol w="780959">
                  <a:extLst>
                    <a:ext uri="{9D8B030D-6E8A-4147-A177-3AD203B41FA5}">
                      <a16:colId xmlns:a16="http://schemas.microsoft.com/office/drawing/2014/main" val="733727588"/>
                    </a:ext>
                  </a:extLst>
                </a:gridCol>
                <a:gridCol w="475259">
                  <a:extLst>
                    <a:ext uri="{9D8B030D-6E8A-4147-A177-3AD203B41FA5}">
                      <a16:colId xmlns:a16="http://schemas.microsoft.com/office/drawing/2014/main" val="2602592049"/>
                    </a:ext>
                  </a:extLst>
                </a:gridCol>
                <a:gridCol w="475259">
                  <a:extLst>
                    <a:ext uri="{9D8B030D-6E8A-4147-A177-3AD203B41FA5}">
                      <a16:colId xmlns:a16="http://schemas.microsoft.com/office/drawing/2014/main" val="3575549038"/>
                    </a:ext>
                  </a:extLst>
                </a:gridCol>
                <a:gridCol w="475259">
                  <a:extLst>
                    <a:ext uri="{9D8B030D-6E8A-4147-A177-3AD203B41FA5}">
                      <a16:colId xmlns:a16="http://schemas.microsoft.com/office/drawing/2014/main" val="831617333"/>
                    </a:ext>
                  </a:extLst>
                </a:gridCol>
                <a:gridCol w="475259">
                  <a:extLst>
                    <a:ext uri="{9D8B030D-6E8A-4147-A177-3AD203B41FA5}">
                      <a16:colId xmlns:a16="http://schemas.microsoft.com/office/drawing/2014/main" val="3218967563"/>
                    </a:ext>
                  </a:extLst>
                </a:gridCol>
                <a:gridCol w="475259">
                  <a:extLst>
                    <a:ext uri="{9D8B030D-6E8A-4147-A177-3AD203B41FA5}">
                      <a16:colId xmlns:a16="http://schemas.microsoft.com/office/drawing/2014/main" val="3594834760"/>
                    </a:ext>
                  </a:extLst>
                </a:gridCol>
                <a:gridCol w="475259">
                  <a:extLst>
                    <a:ext uri="{9D8B030D-6E8A-4147-A177-3AD203B41FA5}">
                      <a16:colId xmlns:a16="http://schemas.microsoft.com/office/drawing/2014/main" val="2682597463"/>
                    </a:ext>
                  </a:extLst>
                </a:gridCol>
                <a:gridCol w="475259">
                  <a:extLst>
                    <a:ext uri="{9D8B030D-6E8A-4147-A177-3AD203B41FA5}">
                      <a16:colId xmlns:a16="http://schemas.microsoft.com/office/drawing/2014/main" val="3439388444"/>
                    </a:ext>
                  </a:extLst>
                </a:gridCol>
                <a:gridCol w="475259">
                  <a:extLst>
                    <a:ext uri="{9D8B030D-6E8A-4147-A177-3AD203B41FA5}">
                      <a16:colId xmlns:a16="http://schemas.microsoft.com/office/drawing/2014/main" val="3670994415"/>
                    </a:ext>
                  </a:extLst>
                </a:gridCol>
                <a:gridCol w="475259">
                  <a:extLst>
                    <a:ext uri="{9D8B030D-6E8A-4147-A177-3AD203B41FA5}">
                      <a16:colId xmlns:a16="http://schemas.microsoft.com/office/drawing/2014/main" val="3264987435"/>
                    </a:ext>
                  </a:extLst>
                </a:gridCol>
                <a:gridCol w="475259">
                  <a:extLst>
                    <a:ext uri="{9D8B030D-6E8A-4147-A177-3AD203B41FA5}">
                      <a16:colId xmlns:a16="http://schemas.microsoft.com/office/drawing/2014/main" val="2607637358"/>
                    </a:ext>
                  </a:extLst>
                </a:gridCol>
                <a:gridCol w="475259">
                  <a:extLst>
                    <a:ext uri="{9D8B030D-6E8A-4147-A177-3AD203B41FA5}">
                      <a16:colId xmlns:a16="http://schemas.microsoft.com/office/drawing/2014/main" val="4040844026"/>
                    </a:ext>
                  </a:extLst>
                </a:gridCol>
                <a:gridCol w="475259">
                  <a:extLst>
                    <a:ext uri="{9D8B030D-6E8A-4147-A177-3AD203B41FA5}">
                      <a16:colId xmlns:a16="http://schemas.microsoft.com/office/drawing/2014/main" val="1571313798"/>
                    </a:ext>
                  </a:extLst>
                </a:gridCol>
                <a:gridCol w="475259">
                  <a:extLst>
                    <a:ext uri="{9D8B030D-6E8A-4147-A177-3AD203B41FA5}">
                      <a16:colId xmlns:a16="http://schemas.microsoft.com/office/drawing/2014/main" val="2073744515"/>
                    </a:ext>
                  </a:extLst>
                </a:gridCol>
              </a:tblGrid>
              <a:tr h="370840">
                <a:tc>
                  <a:txBody>
                    <a:bodyPr/>
                    <a:lstStyle/>
                    <a:p>
                      <a:r>
                        <a:rPr lang="en-GB" dirty="0"/>
                        <a:t>FCFS</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2765478547"/>
                  </a:ext>
                </a:extLst>
              </a:tr>
              <a:tr h="370840">
                <a:tc>
                  <a:txBody>
                    <a:bodyPr/>
                    <a:lstStyle/>
                    <a:p>
                      <a:r>
                        <a:rPr lang="en-GB" dirty="0"/>
                        <a:t>SJF</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821195699"/>
                  </a:ext>
                </a:extLst>
              </a:tr>
              <a:tr h="370840">
                <a:tc>
                  <a:txBody>
                    <a:bodyPr/>
                    <a:lstStyle/>
                    <a:p>
                      <a:r>
                        <a:rPr lang="en-GB" dirty="0"/>
                        <a:t>SRTF</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695064754"/>
                  </a:ext>
                </a:extLst>
              </a:tr>
              <a:tr h="370840">
                <a:tc>
                  <a:txBody>
                    <a:bodyPr/>
                    <a:lstStyle/>
                    <a:p>
                      <a:r>
                        <a:rPr lang="en-GB" dirty="0"/>
                        <a:t>RR</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62492301"/>
                  </a:ext>
                </a:extLst>
              </a:tr>
              <a:tr h="370840">
                <a:tc>
                  <a:txBody>
                    <a:bodyPr/>
                    <a:lstStyle/>
                    <a:p>
                      <a:r>
                        <a:rPr lang="en-GB" dirty="0"/>
                        <a:t>FP</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825211520"/>
                  </a:ext>
                </a:extLst>
              </a:tr>
            </a:tbl>
          </a:graphicData>
        </a:graphic>
      </p:graphicFrame>
      <p:sp>
        <p:nvSpPr>
          <p:cNvPr id="14" name="Content Placeholder 2">
            <a:extLst>
              <a:ext uri="{FF2B5EF4-FFF2-40B4-BE49-F238E27FC236}">
                <a16:creationId xmlns:a16="http://schemas.microsoft.com/office/drawing/2014/main" id="{41364CCE-D93B-3B19-41D5-3D1027A8776F}"/>
              </a:ext>
            </a:extLst>
          </p:cNvPr>
          <p:cNvSpPr txBox="1">
            <a:spLocks/>
          </p:cNvSpPr>
          <p:nvPr/>
        </p:nvSpPr>
        <p:spPr bwMode="auto">
          <a:xfrm>
            <a:off x="5858495" y="5437565"/>
            <a:ext cx="1676400" cy="39557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lnSpcReduction="10000"/>
          </a:bodyPr>
          <a:lstStyle>
            <a:lvl1pPr marL="285750" indent="-285750" algn="l" rtl="0" eaLnBrk="0" fontAlgn="base" hangingPunct="0">
              <a:lnSpc>
                <a:spcPct val="90000"/>
              </a:lnSpc>
              <a:spcBef>
                <a:spcPct val="30000"/>
              </a:spcBef>
              <a:spcAft>
                <a:spcPct val="0"/>
              </a:spcAft>
              <a:buSzPct val="100000"/>
              <a:buChar char="•"/>
              <a:defRPr sz="2800" b="0" i="0">
                <a:solidFill>
                  <a:schemeClr val="tx1"/>
                </a:solidFill>
                <a:latin typeface="Gill Sans" panose="020B0502020104020203"/>
                <a:ea typeface="Gill Sans" panose="020B0502020104020203"/>
                <a:cs typeface="Gill Sans" panose="020B0502020104020203"/>
              </a:defRPr>
            </a:lvl1pPr>
            <a:lvl2pPr marL="6858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2pPr>
            <a:lvl3pPr marL="11430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3pPr>
            <a:lvl4pPr marL="15430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4pPr>
            <a:lvl5pPr marL="20002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sz="2400" kern="0" dirty="0"/>
              <a:t>Gantt Chart</a:t>
            </a:r>
            <a:endParaRPr lang="en-SE" sz="2400" kern="0" dirty="0"/>
          </a:p>
        </p:txBody>
      </p:sp>
      <p:cxnSp>
        <p:nvCxnSpPr>
          <p:cNvPr id="16" name="Straight Arrow Connector 15">
            <a:extLst>
              <a:ext uri="{FF2B5EF4-FFF2-40B4-BE49-F238E27FC236}">
                <a16:creationId xmlns:a16="http://schemas.microsoft.com/office/drawing/2014/main" id="{4E571D63-4A1F-84D2-30C4-45B7A2E8CBB2}"/>
              </a:ext>
            </a:extLst>
          </p:cNvPr>
          <p:cNvCxnSpPr>
            <a:cxnSpLocks/>
          </p:cNvCxnSpPr>
          <p:nvPr/>
        </p:nvCxnSpPr>
        <p:spPr bwMode="auto">
          <a:xfrm flipV="1">
            <a:off x="3834889" y="5437565"/>
            <a:ext cx="0" cy="485455"/>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17" name="TextBox 16">
            <a:extLst>
              <a:ext uri="{FF2B5EF4-FFF2-40B4-BE49-F238E27FC236}">
                <a16:creationId xmlns:a16="http://schemas.microsoft.com/office/drawing/2014/main" id="{64F6A597-6330-102E-8BA8-46101B564DE4}"/>
              </a:ext>
            </a:extLst>
          </p:cNvPr>
          <p:cNvSpPr txBox="1"/>
          <p:nvPr/>
        </p:nvSpPr>
        <p:spPr>
          <a:xfrm>
            <a:off x="3297480" y="5869408"/>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P1 arrival</a:t>
            </a:r>
            <a:endParaRPr lang="en-SE" dirty="0">
              <a:solidFill>
                <a:schemeClr val="accent1">
                  <a:lumMod val="75000"/>
                </a:schemeClr>
              </a:solidFill>
              <a:latin typeface="Gill Sans Light"/>
            </a:endParaRPr>
          </a:p>
        </p:txBody>
      </p:sp>
      <p:cxnSp>
        <p:nvCxnSpPr>
          <p:cNvPr id="18" name="Straight Arrow Connector 17">
            <a:extLst>
              <a:ext uri="{FF2B5EF4-FFF2-40B4-BE49-F238E27FC236}">
                <a16:creationId xmlns:a16="http://schemas.microsoft.com/office/drawing/2014/main" id="{0E5787BD-1617-D68C-7B06-AE888C554138}"/>
              </a:ext>
            </a:extLst>
          </p:cNvPr>
          <p:cNvCxnSpPr>
            <a:cxnSpLocks/>
          </p:cNvCxnSpPr>
          <p:nvPr/>
        </p:nvCxnSpPr>
        <p:spPr bwMode="auto">
          <a:xfrm flipV="1">
            <a:off x="5197057" y="5410200"/>
            <a:ext cx="0" cy="259272"/>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19" name="TextBox 18">
            <a:extLst>
              <a:ext uri="{FF2B5EF4-FFF2-40B4-BE49-F238E27FC236}">
                <a16:creationId xmlns:a16="http://schemas.microsoft.com/office/drawing/2014/main" id="{142EA9B4-DD87-7ABD-4761-D7229C48386D}"/>
              </a:ext>
            </a:extLst>
          </p:cNvPr>
          <p:cNvSpPr txBox="1"/>
          <p:nvPr/>
        </p:nvSpPr>
        <p:spPr>
          <a:xfrm>
            <a:off x="4724400" y="5573709"/>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P2 arrival</a:t>
            </a:r>
            <a:endParaRPr lang="en-SE" dirty="0">
              <a:solidFill>
                <a:schemeClr val="accent1">
                  <a:lumMod val="75000"/>
                </a:schemeClr>
              </a:solidFill>
              <a:latin typeface="Gill Sans Light"/>
            </a:endParaRPr>
          </a:p>
        </p:txBody>
      </p:sp>
      <p:graphicFrame>
        <p:nvGraphicFramePr>
          <p:cNvPr id="3" name="表格 6">
            <a:extLst>
              <a:ext uri="{FF2B5EF4-FFF2-40B4-BE49-F238E27FC236}">
                <a16:creationId xmlns:a16="http://schemas.microsoft.com/office/drawing/2014/main" id="{96EFF150-BFC5-C16B-CB71-CC9E9368E712}"/>
              </a:ext>
            </a:extLst>
          </p:cNvPr>
          <p:cNvGraphicFramePr>
            <a:graphicFrameLocks noGrp="1"/>
          </p:cNvGraphicFramePr>
          <p:nvPr>
            <p:extLst>
              <p:ext uri="{D42A27DB-BD31-4B8C-83A1-F6EECF244321}">
                <p14:modId xmlns:p14="http://schemas.microsoft.com/office/powerpoint/2010/main" val="1396929732"/>
              </p:ext>
            </p:extLst>
          </p:nvPr>
        </p:nvGraphicFramePr>
        <p:xfrm>
          <a:off x="683099" y="796668"/>
          <a:ext cx="10825802" cy="2286000"/>
        </p:xfrm>
        <a:graphic>
          <a:graphicData uri="http://schemas.openxmlformats.org/drawingml/2006/table">
            <a:tbl>
              <a:tblPr firstRow="1" bandRow="1">
                <a:tableStyleId>{5940675A-B579-460E-94D1-54222C63F5DA}</a:tableStyleId>
              </a:tblPr>
              <a:tblGrid>
                <a:gridCol w="733967">
                  <a:extLst>
                    <a:ext uri="{9D8B030D-6E8A-4147-A177-3AD203B41FA5}">
                      <a16:colId xmlns:a16="http://schemas.microsoft.com/office/drawing/2014/main" val="3897766631"/>
                    </a:ext>
                  </a:extLst>
                </a:gridCol>
                <a:gridCol w="1121315">
                  <a:extLst>
                    <a:ext uri="{9D8B030D-6E8A-4147-A177-3AD203B41FA5}">
                      <a16:colId xmlns:a16="http://schemas.microsoft.com/office/drawing/2014/main" val="3306942541"/>
                    </a:ext>
                  </a:extLst>
                </a:gridCol>
                <a:gridCol w="1121315">
                  <a:extLst>
                    <a:ext uri="{9D8B030D-6E8A-4147-A177-3AD203B41FA5}">
                      <a16:colId xmlns:a16="http://schemas.microsoft.com/office/drawing/2014/main" val="3517187588"/>
                    </a:ext>
                  </a:extLst>
                </a:gridCol>
                <a:gridCol w="1121315">
                  <a:extLst>
                    <a:ext uri="{9D8B030D-6E8A-4147-A177-3AD203B41FA5}">
                      <a16:colId xmlns:a16="http://schemas.microsoft.com/office/drawing/2014/main" val="2248621"/>
                    </a:ext>
                  </a:extLst>
                </a:gridCol>
                <a:gridCol w="1121315">
                  <a:extLst>
                    <a:ext uri="{9D8B030D-6E8A-4147-A177-3AD203B41FA5}">
                      <a16:colId xmlns:a16="http://schemas.microsoft.com/office/drawing/2014/main" val="2712044097"/>
                    </a:ext>
                  </a:extLst>
                </a:gridCol>
                <a:gridCol w="1121315">
                  <a:extLst>
                    <a:ext uri="{9D8B030D-6E8A-4147-A177-3AD203B41FA5}">
                      <a16:colId xmlns:a16="http://schemas.microsoft.com/office/drawing/2014/main" val="3323698870"/>
                    </a:ext>
                  </a:extLst>
                </a:gridCol>
                <a:gridCol w="1121315">
                  <a:extLst>
                    <a:ext uri="{9D8B030D-6E8A-4147-A177-3AD203B41FA5}">
                      <a16:colId xmlns:a16="http://schemas.microsoft.com/office/drawing/2014/main" val="3121262138"/>
                    </a:ext>
                  </a:extLst>
                </a:gridCol>
                <a:gridCol w="1121315">
                  <a:extLst>
                    <a:ext uri="{9D8B030D-6E8A-4147-A177-3AD203B41FA5}">
                      <a16:colId xmlns:a16="http://schemas.microsoft.com/office/drawing/2014/main" val="2066430354"/>
                    </a:ext>
                  </a:extLst>
                </a:gridCol>
                <a:gridCol w="1121315">
                  <a:extLst>
                    <a:ext uri="{9D8B030D-6E8A-4147-A177-3AD203B41FA5}">
                      <a16:colId xmlns:a16="http://schemas.microsoft.com/office/drawing/2014/main" val="2713544356"/>
                    </a:ext>
                  </a:extLst>
                </a:gridCol>
                <a:gridCol w="1121315">
                  <a:extLst>
                    <a:ext uri="{9D8B030D-6E8A-4147-A177-3AD203B41FA5}">
                      <a16:colId xmlns:a16="http://schemas.microsoft.com/office/drawing/2014/main" val="2313460819"/>
                    </a:ext>
                  </a:extLst>
                </a:gridCol>
              </a:tblGrid>
              <a:tr h="465770">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IO Burst</a:t>
                      </a: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FCFS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SJF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a:t>
                      </a:r>
                      <a:r>
                        <a:rPr lang="en-GB" altLang="zh-CN" b="0" dirty="0">
                          <a:solidFill>
                            <a:schemeClr val="tx1"/>
                          </a:solidFill>
                        </a:rPr>
                        <a:t>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RR </a:t>
                      </a:r>
                      <a:r>
                        <a:rPr lang="en-GB" altLang="zh-CN" b="0" dirty="0">
                          <a:solidFill>
                            <a:schemeClr val="tx1"/>
                          </a:solidFill>
                        </a:rPr>
                        <a:t>Resp.  Time</a:t>
                      </a:r>
                      <a:endParaRPr lang="en-US" b="0" dirty="0">
                        <a:solidFill>
                          <a:schemeClr val="tx1"/>
                        </a:solidFill>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FP </a:t>
                      </a:r>
                      <a:r>
                        <a:rPr lang="en-GB" altLang="zh-CN" b="0" dirty="0">
                          <a:solidFill>
                            <a:schemeClr val="tx1"/>
                          </a:solidFill>
                        </a:rPr>
                        <a:t>Resp.  Time</a:t>
                      </a:r>
                      <a:endParaRPr lang="en-US" b="0" dirty="0">
                        <a:solidFill>
                          <a:schemeClr val="tx1"/>
                        </a:solidFill>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45720" marR="45720"/>
                </a:tc>
                <a:extLst>
                  <a:ext uri="{0D108BD9-81ED-4DB2-BD59-A6C34878D82A}">
                    <a16:rowId xmlns:a16="http://schemas.microsoft.com/office/drawing/2014/main" val="1005546905"/>
                  </a:ext>
                </a:extLst>
              </a:tr>
              <a:tr h="309175">
                <a:tc>
                  <a:txBody>
                    <a:bodyPr/>
                    <a:lstStyle/>
                    <a:p>
                      <a:pPr algn="r"/>
                      <a:r>
                        <a:rPr lang="en-US" dirty="0">
                          <a:solidFill>
                            <a:schemeClr val="tx1"/>
                          </a:solidFill>
                        </a:rPr>
                        <a:t>1</a:t>
                      </a:r>
                    </a:p>
                  </a:txBody>
                  <a:tcPr/>
                </a:tc>
                <a:tc>
                  <a:txBody>
                    <a:bodyPr/>
                    <a:lstStyle/>
                    <a:p>
                      <a:pPr algn="r"/>
                      <a:r>
                        <a:rPr lang="en-US" dirty="0">
                          <a:solidFill>
                            <a:schemeClr val="tx1"/>
                          </a:solidFill>
                        </a:rPr>
                        <a:t>0</a:t>
                      </a:r>
                    </a:p>
                  </a:txBody>
                  <a:tcPr/>
                </a:tc>
                <a:tc>
                  <a:txBody>
                    <a:bodyPr/>
                    <a:lstStyle/>
                    <a:p>
                      <a:pPr algn="r"/>
                      <a:r>
                        <a:rPr lang="en-US" strike="noStrike" dirty="0">
                          <a:solidFill>
                            <a:schemeClr val="tx1"/>
                          </a:solidFill>
                        </a:rPr>
                        <a:t>5</a:t>
                      </a:r>
                    </a:p>
                  </a:txBody>
                  <a:tcPr/>
                </a:tc>
                <a:tc>
                  <a:txBody>
                    <a:bodyPr/>
                    <a:lstStyle/>
                    <a:p>
                      <a:pPr algn="r"/>
                      <a:r>
                        <a:rPr lang="en-US" dirty="0">
                          <a:solidFill>
                            <a:schemeClr val="tx1"/>
                          </a:solidFill>
                        </a:rPr>
                        <a:t>3</a:t>
                      </a:r>
                    </a:p>
                  </a:txBody>
                  <a:tcPr/>
                </a:tc>
                <a:tc>
                  <a:txBody>
                    <a:bodyPr/>
                    <a:lstStyle/>
                    <a:p>
                      <a:pPr algn="r"/>
                      <a:r>
                        <a:rPr lang="en-US" strike="noStrike" dirty="0">
                          <a:solidFill>
                            <a:schemeClr val="tx1"/>
                          </a:solidFill>
                        </a:rPr>
                        <a:t>2</a:t>
                      </a:r>
                    </a:p>
                  </a:txBody>
                  <a:tcPr/>
                </a:tc>
                <a:tc>
                  <a:txBody>
                    <a:bodyPr/>
                    <a:lstStyle/>
                    <a:p>
                      <a:pPr algn="r"/>
                      <a:endParaRPr lang="en-US" strike="noStrike" dirty="0">
                        <a:solidFill>
                          <a:schemeClr val="tx1"/>
                        </a:solidFill>
                      </a:endParaRPr>
                    </a:p>
                  </a:txBody>
                  <a:tcPr/>
                </a:tc>
                <a:tc>
                  <a:txBody>
                    <a:bodyPr/>
                    <a:lstStyle/>
                    <a:p>
                      <a:pPr algn="r"/>
                      <a:endParaRPr lang="en-US" strike="noStrike" dirty="0">
                        <a:solidFill>
                          <a:schemeClr val="tx1"/>
                        </a:solidFill>
                      </a:endParaRPr>
                    </a:p>
                  </a:txBody>
                  <a:tcPr/>
                </a:tc>
                <a:tc>
                  <a:txBody>
                    <a:bodyPr/>
                    <a:lstStyle/>
                    <a:p>
                      <a:pPr algn="r"/>
                      <a:endParaRPr lang="en-US" strike="noStrike" dirty="0">
                        <a:solidFill>
                          <a:schemeClr val="tx1"/>
                        </a:solidFill>
                      </a:endParaRPr>
                    </a:p>
                  </a:txBody>
                  <a:tcPr/>
                </a:tc>
                <a:tc>
                  <a:txBody>
                    <a:bodyPr/>
                    <a:lstStyle/>
                    <a:p>
                      <a:pPr algn="r"/>
                      <a:endParaRPr lang="en-US" strike="noStrike" dirty="0">
                        <a:solidFill>
                          <a:schemeClr val="tx1"/>
                        </a:solidFill>
                      </a:endParaRPr>
                    </a:p>
                  </a:txBody>
                  <a:tcPr/>
                </a:tc>
                <a:tc>
                  <a:txBody>
                    <a:bodyPr/>
                    <a:lstStyle/>
                    <a:p>
                      <a:pPr algn="r"/>
                      <a:endParaRPr lang="en-US" strike="noStrike" dirty="0">
                        <a:solidFill>
                          <a:schemeClr val="tx1"/>
                        </a:solidFill>
                      </a:endParaRPr>
                    </a:p>
                  </a:txBody>
                  <a:tcPr/>
                </a:tc>
                <a:extLst>
                  <a:ext uri="{0D108BD9-81ED-4DB2-BD59-A6C34878D82A}">
                    <a16:rowId xmlns:a16="http://schemas.microsoft.com/office/drawing/2014/main" val="2311278232"/>
                  </a:ext>
                </a:extLst>
              </a:tr>
              <a:tr h="309175">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a:t>
                      </a:r>
                    </a:p>
                  </a:txBody>
                  <a:tcPr/>
                </a:tc>
                <a:tc>
                  <a:txBody>
                    <a:bodyPr/>
                    <a:lstStyle/>
                    <a:p>
                      <a:pPr algn="r"/>
                      <a:r>
                        <a:rPr lang="en-US" baseline="0" dirty="0">
                          <a:solidFill>
                            <a:schemeClr val="tx1"/>
                          </a:solidFill>
                        </a:rPr>
                        <a:t>3</a:t>
                      </a:r>
                    </a:p>
                  </a:txBody>
                  <a:tcPr/>
                </a:tc>
                <a:tc>
                  <a:txBody>
                    <a:bodyPr/>
                    <a:lstStyle/>
                    <a:p>
                      <a:pPr algn="r"/>
                      <a:r>
                        <a:rPr lang="en-US" dirty="0">
                          <a:solidFill>
                            <a:schemeClr val="tx1"/>
                          </a:solidFill>
                        </a:rPr>
                        <a:t>1</a:t>
                      </a:r>
                    </a:p>
                  </a:txBody>
                  <a:tcPr/>
                </a:tc>
                <a:tc>
                  <a:txBody>
                    <a:bodyPr/>
                    <a:lstStyle/>
                    <a:p>
                      <a:pPr algn="r"/>
                      <a:r>
                        <a:rPr lang="en-US" dirty="0">
                          <a:solidFill>
                            <a:schemeClr val="tx1"/>
                          </a:solidFill>
                        </a:rPr>
                        <a:t>2</a:t>
                      </a:r>
                    </a:p>
                  </a:txBody>
                  <a:tcPr/>
                </a:tc>
                <a:tc>
                  <a:txBody>
                    <a:bodyPr/>
                    <a:lstStyle/>
                    <a:p>
                      <a:pPr algn="r"/>
                      <a:r>
                        <a:rPr lang="en-US" dirty="0">
                          <a:solidFill>
                            <a:schemeClr val="tx1"/>
                          </a:solidFill>
                        </a:rPr>
                        <a:t>3</a:t>
                      </a: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749603488"/>
                  </a:ext>
                </a:extLst>
              </a:tr>
              <a:tr h="309175">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marL="0" marR="0" lvl="0" indent="0" algn="r"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marL="0" marR="0" lvl="0" indent="0" algn="r"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marL="0" marR="0" lvl="0" indent="0" algn="r"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marL="0" marR="0" lvl="0" indent="0" algn="r"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txBody>
                  <a:tcPr/>
                </a:tc>
                <a:extLst>
                  <a:ext uri="{0D108BD9-81ED-4DB2-BD59-A6C34878D82A}">
                    <a16:rowId xmlns:a16="http://schemas.microsoft.com/office/drawing/2014/main" val="2879113726"/>
                  </a:ext>
                </a:extLst>
              </a:tr>
            </a:tbl>
          </a:graphicData>
        </a:graphic>
      </p:graphicFrame>
      <p:graphicFrame>
        <p:nvGraphicFramePr>
          <p:cNvPr id="20" name="Table 19">
            <a:extLst>
              <a:ext uri="{FF2B5EF4-FFF2-40B4-BE49-F238E27FC236}">
                <a16:creationId xmlns:a16="http://schemas.microsoft.com/office/drawing/2014/main" id="{D63019EF-91E7-390A-59B4-A1D46F5B9807}"/>
              </a:ext>
            </a:extLst>
          </p:cNvPr>
          <p:cNvGraphicFramePr>
            <a:graphicFrameLocks noGrp="1"/>
          </p:cNvGraphicFramePr>
          <p:nvPr/>
        </p:nvGraphicFramePr>
        <p:xfrm>
          <a:off x="2808642" y="5104694"/>
          <a:ext cx="7361294" cy="370840"/>
        </p:xfrm>
        <a:graphic>
          <a:graphicData uri="http://schemas.openxmlformats.org/drawingml/2006/table">
            <a:tbl>
              <a:tblPr firstRow="1" bandRow="1">
                <a:tableStyleId>{2D5ABB26-0587-4C30-8999-92F81FD0307C}</a:tableStyleId>
              </a:tblPr>
              <a:tblGrid>
                <a:gridCol w="785054">
                  <a:extLst>
                    <a:ext uri="{9D8B030D-6E8A-4147-A177-3AD203B41FA5}">
                      <a16:colId xmlns:a16="http://schemas.microsoft.com/office/drawing/2014/main" val="733727588"/>
                    </a:ext>
                  </a:extLst>
                </a:gridCol>
                <a:gridCol w="477751">
                  <a:extLst>
                    <a:ext uri="{9D8B030D-6E8A-4147-A177-3AD203B41FA5}">
                      <a16:colId xmlns:a16="http://schemas.microsoft.com/office/drawing/2014/main" val="2602592049"/>
                    </a:ext>
                  </a:extLst>
                </a:gridCol>
                <a:gridCol w="477751">
                  <a:extLst>
                    <a:ext uri="{9D8B030D-6E8A-4147-A177-3AD203B41FA5}">
                      <a16:colId xmlns:a16="http://schemas.microsoft.com/office/drawing/2014/main" val="3575549038"/>
                    </a:ext>
                  </a:extLst>
                </a:gridCol>
                <a:gridCol w="477751">
                  <a:extLst>
                    <a:ext uri="{9D8B030D-6E8A-4147-A177-3AD203B41FA5}">
                      <a16:colId xmlns:a16="http://schemas.microsoft.com/office/drawing/2014/main" val="831617333"/>
                    </a:ext>
                  </a:extLst>
                </a:gridCol>
                <a:gridCol w="365477">
                  <a:extLst>
                    <a:ext uri="{9D8B030D-6E8A-4147-A177-3AD203B41FA5}">
                      <a16:colId xmlns:a16="http://schemas.microsoft.com/office/drawing/2014/main" val="3218967563"/>
                    </a:ext>
                  </a:extLst>
                </a:gridCol>
                <a:gridCol w="477751">
                  <a:extLst>
                    <a:ext uri="{9D8B030D-6E8A-4147-A177-3AD203B41FA5}">
                      <a16:colId xmlns:a16="http://schemas.microsoft.com/office/drawing/2014/main" val="3594834760"/>
                    </a:ext>
                  </a:extLst>
                </a:gridCol>
                <a:gridCol w="477751">
                  <a:extLst>
                    <a:ext uri="{9D8B030D-6E8A-4147-A177-3AD203B41FA5}">
                      <a16:colId xmlns:a16="http://schemas.microsoft.com/office/drawing/2014/main" val="2682597463"/>
                    </a:ext>
                  </a:extLst>
                </a:gridCol>
                <a:gridCol w="477751">
                  <a:extLst>
                    <a:ext uri="{9D8B030D-6E8A-4147-A177-3AD203B41FA5}">
                      <a16:colId xmlns:a16="http://schemas.microsoft.com/office/drawing/2014/main" val="3439388444"/>
                    </a:ext>
                  </a:extLst>
                </a:gridCol>
                <a:gridCol w="477751">
                  <a:extLst>
                    <a:ext uri="{9D8B030D-6E8A-4147-A177-3AD203B41FA5}">
                      <a16:colId xmlns:a16="http://schemas.microsoft.com/office/drawing/2014/main" val="3670994415"/>
                    </a:ext>
                  </a:extLst>
                </a:gridCol>
                <a:gridCol w="477751">
                  <a:extLst>
                    <a:ext uri="{9D8B030D-6E8A-4147-A177-3AD203B41FA5}">
                      <a16:colId xmlns:a16="http://schemas.microsoft.com/office/drawing/2014/main" val="3264987435"/>
                    </a:ext>
                  </a:extLst>
                </a:gridCol>
                <a:gridCol w="477751">
                  <a:extLst>
                    <a:ext uri="{9D8B030D-6E8A-4147-A177-3AD203B41FA5}">
                      <a16:colId xmlns:a16="http://schemas.microsoft.com/office/drawing/2014/main" val="2607637358"/>
                    </a:ext>
                  </a:extLst>
                </a:gridCol>
                <a:gridCol w="477751">
                  <a:extLst>
                    <a:ext uri="{9D8B030D-6E8A-4147-A177-3AD203B41FA5}">
                      <a16:colId xmlns:a16="http://schemas.microsoft.com/office/drawing/2014/main" val="4040844026"/>
                    </a:ext>
                  </a:extLst>
                </a:gridCol>
                <a:gridCol w="477751">
                  <a:extLst>
                    <a:ext uri="{9D8B030D-6E8A-4147-A177-3AD203B41FA5}">
                      <a16:colId xmlns:a16="http://schemas.microsoft.com/office/drawing/2014/main" val="1571313798"/>
                    </a:ext>
                  </a:extLst>
                </a:gridCol>
                <a:gridCol w="477751">
                  <a:extLst>
                    <a:ext uri="{9D8B030D-6E8A-4147-A177-3AD203B41FA5}">
                      <a16:colId xmlns:a16="http://schemas.microsoft.com/office/drawing/2014/main" val="931111055"/>
                    </a:ext>
                  </a:extLst>
                </a:gridCol>
                <a:gridCol w="477751">
                  <a:extLst>
                    <a:ext uri="{9D8B030D-6E8A-4147-A177-3AD203B41FA5}">
                      <a16:colId xmlns:a16="http://schemas.microsoft.com/office/drawing/2014/main" val="124446868"/>
                    </a:ext>
                  </a:extLst>
                </a:gridCol>
              </a:tblGrid>
              <a:tr h="370840">
                <a:tc>
                  <a:txBody>
                    <a:bodyPr/>
                    <a:lstStyle/>
                    <a:p>
                      <a:r>
                        <a:rPr lang="en-GB" dirty="0"/>
                        <a:t>Time </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6</a:t>
                      </a:r>
                      <a:endParaRPr lang="en-SE" dirty="0"/>
                    </a:p>
                  </a:txBody>
                  <a:tcPr/>
                </a:tc>
                <a:tc>
                  <a:txBody>
                    <a:bodyPr/>
                    <a:lstStyle/>
                    <a:p>
                      <a:pPr algn="ctr"/>
                      <a:r>
                        <a:rPr lang="en-GB" dirty="0"/>
                        <a:t>7</a:t>
                      </a:r>
                      <a:endParaRPr lang="en-SE" dirty="0"/>
                    </a:p>
                  </a:txBody>
                  <a:tcPr/>
                </a:tc>
                <a:tc>
                  <a:txBody>
                    <a:bodyPr/>
                    <a:lstStyle/>
                    <a:p>
                      <a:pPr algn="ctr"/>
                      <a:r>
                        <a:rPr lang="en-GB" dirty="0"/>
                        <a:t>8</a:t>
                      </a:r>
                      <a:endParaRPr lang="en-SE" dirty="0"/>
                    </a:p>
                  </a:txBody>
                  <a:tcPr/>
                </a:tc>
                <a:tc>
                  <a:txBody>
                    <a:bodyPr/>
                    <a:lstStyle/>
                    <a:p>
                      <a:pPr algn="ctr"/>
                      <a:r>
                        <a:rPr lang="en-GB" dirty="0"/>
                        <a:t>9</a:t>
                      </a:r>
                      <a:endParaRPr lang="en-SE" dirty="0"/>
                    </a:p>
                  </a:txBody>
                  <a:tcPr/>
                </a:tc>
                <a:tc>
                  <a:txBody>
                    <a:bodyPr/>
                    <a:lstStyle/>
                    <a:p>
                      <a:pPr algn="ctr"/>
                      <a:r>
                        <a:rPr lang="en-GB" dirty="0"/>
                        <a:t>10</a:t>
                      </a:r>
                      <a:endParaRPr lang="en-SE" dirty="0"/>
                    </a:p>
                  </a:txBody>
                  <a:tcPr/>
                </a:tc>
                <a:tc>
                  <a:txBody>
                    <a:bodyPr/>
                    <a:lstStyle/>
                    <a:p>
                      <a:pPr algn="ctr"/>
                      <a:r>
                        <a:rPr lang="en-GB" dirty="0"/>
                        <a:t>11</a:t>
                      </a:r>
                      <a:endParaRPr lang="en-SE" dirty="0"/>
                    </a:p>
                  </a:txBody>
                  <a:tcPr/>
                </a:tc>
                <a:tc>
                  <a:txBody>
                    <a:bodyPr/>
                    <a:lstStyle/>
                    <a:p>
                      <a:pPr algn="ctr"/>
                      <a:r>
                        <a:rPr lang="en-GB" dirty="0"/>
                        <a:t>12</a:t>
                      </a:r>
                      <a:endParaRPr lang="en-SE" dirty="0"/>
                    </a:p>
                  </a:txBody>
                  <a:tcPr/>
                </a:tc>
                <a:tc>
                  <a:txBody>
                    <a:bodyPr/>
                    <a:lstStyle/>
                    <a:p>
                      <a:pPr algn="ctr"/>
                      <a:r>
                        <a:rPr lang="en-US" dirty="0"/>
                        <a:t>13</a:t>
                      </a:r>
                      <a:endParaRPr lang="en-SE" dirty="0"/>
                    </a:p>
                  </a:txBody>
                  <a:tcPr/>
                </a:tc>
                <a:extLst>
                  <a:ext uri="{0D108BD9-81ED-4DB2-BD59-A6C34878D82A}">
                    <a16:rowId xmlns:a16="http://schemas.microsoft.com/office/drawing/2014/main" val="1169300345"/>
                  </a:ext>
                </a:extLst>
              </a:tr>
            </a:tbl>
          </a:graphicData>
        </a:graphic>
      </p:graphicFrame>
    </p:spTree>
    <p:extLst>
      <p:ext uri="{BB962C8B-B14F-4D97-AF65-F5344CB8AC3E}">
        <p14:creationId xmlns:p14="http://schemas.microsoft.com/office/powerpoint/2010/main" val="592936720"/>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9B562-8ECD-4667-1FC2-5A7DD56542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D4973B-DAF4-9EB7-686B-5715C7624C19}"/>
              </a:ext>
            </a:extLst>
          </p:cNvPr>
          <p:cNvSpPr>
            <a:spLocks noGrp="1"/>
          </p:cNvSpPr>
          <p:nvPr>
            <p:ph type="title"/>
          </p:nvPr>
        </p:nvSpPr>
        <p:spPr/>
        <p:txBody>
          <a:bodyPr/>
          <a:lstStyle/>
          <a:p>
            <a:r>
              <a:rPr lang="en-GB" dirty="0">
                <a:ea typeface="ＭＳ Ｐゴシック" charset="0"/>
              </a:rPr>
              <a:t>Q5 Scheduling ANS</a:t>
            </a:r>
            <a:endParaRPr lang="en-SE" dirty="0">
              <a:ea typeface="ＭＳ Ｐゴシック" charset="0"/>
            </a:endParaRPr>
          </a:p>
        </p:txBody>
      </p:sp>
      <p:graphicFrame>
        <p:nvGraphicFramePr>
          <p:cNvPr id="11" name="Table 10">
            <a:extLst>
              <a:ext uri="{FF2B5EF4-FFF2-40B4-BE49-F238E27FC236}">
                <a16:creationId xmlns:a16="http://schemas.microsoft.com/office/drawing/2014/main" id="{7FB6ABB4-F394-9365-1E50-8AFF76E225B4}"/>
              </a:ext>
            </a:extLst>
          </p:cNvPr>
          <p:cNvGraphicFramePr>
            <a:graphicFrameLocks noGrp="1"/>
          </p:cNvGraphicFramePr>
          <p:nvPr>
            <p:extLst>
              <p:ext uri="{D42A27DB-BD31-4B8C-83A1-F6EECF244321}">
                <p14:modId xmlns:p14="http://schemas.microsoft.com/office/powerpoint/2010/main" val="395489267"/>
              </p:ext>
            </p:extLst>
          </p:nvPr>
        </p:nvGraphicFramePr>
        <p:xfrm>
          <a:off x="683099" y="3429000"/>
          <a:ext cx="6959326" cy="1854200"/>
        </p:xfrm>
        <a:graphic>
          <a:graphicData uri="http://schemas.openxmlformats.org/drawingml/2006/table">
            <a:tbl>
              <a:tblPr firstRow="1" bandRow="1">
                <a:tableStyleId>{5940675A-B579-460E-94D1-54222C63F5DA}</a:tableStyleId>
              </a:tblPr>
              <a:tblGrid>
                <a:gridCol w="780959">
                  <a:extLst>
                    <a:ext uri="{9D8B030D-6E8A-4147-A177-3AD203B41FA5}">
                      <a16:colId xmlns:a16="http://schemas.microsoft.com/office/drawing/2014/main" val="733727588"/>
                    </a:ext>
                  </a:extLst>
                </a:gridCol>
                <a:gridCol w="475259">
                  <a:extLst>
                    <a:ext uri="{9D8B030D-6E8A-4147-A177-3AD203B41FA5}">
                      <a16:colId xmlns:a16="http://schemas.microsoft.com/office/drawing/2014/main" val="2602592049"/>
                    </a:ext>
                  </a:extLst>
                </a:gridCol>
                <a:gridCol w="475259">
                  <a:extLst>
                    <a:ext uri="{9D8B030D-6E8A-4147-A177-3AD203B41FA5}">
                      <a16:colId xmlns:a16="http://schemas.microsoft.com/office/drawing/2014/main" val="3575549038"/>
                    </a:ext>
                  </a:extLst>
                </a:gridCol>
                <a:gridCol w="475259">
                  <a:extLst>
                    <a:ext uri="{9D8B030D-6E8A-4147-A177-3AD203B41FA5}">
                      <a16:colId xmlns:a16="http://schemas.microsoft.com/office/drawing/2014/main" val="831617333"/>
                    </a:ext>
                  </a:extLst>
                </a:gridCol>
                <a:gridCol w="475259">
                  <a:extLst>
                    <a:ext uri="{9D8B030D-6E8A-4147-A177-3AD203B41FA5}">
                      <a16:colId xmlns:a16="http://schemas.microsoft.com/office/drawing/2014/main" val="3218967563"/>
                    </a:ext>
                  </a:extLst>
                </a:gridCol>
                <a:gridCol w="475259">
                  <a:extLst>
                    <a:ext uri="{9D8B030D-6E8A-4147-A177-3AD203B41FA5}">
                      <a16:colId xmlns:a16="http://schemas.microsoft.com/office/drawing/2014/main" val="3594834760"/>
                    </a:ext>
                  </a:extLst>
                </a:gridCol>
                <a:gridCol w="475259">
                  <a:extLst>
                    <a:ext uri="{9D8B030D-6E8A-4147-A177-3AD203B41FA5}">
                      <a16:colId xmlns:a16="http://schemas.microsoft.com/office/drawing/2014/main" val="2682597463"/>
                    </a:ext>
                  </a:extLst>
                </a:gridCol>
                <a:gridCol w="475259">
                  <a:extLst>
                    <a:ext uri="{9D8B030D-6E8A-4147-A177-3AD203B41FA5}">
                      <a16:colId xmlns:a16="http://schemas.microsoft.com/office/drawing/2014/main" val="3439388444"/>
                    </a:ext>
                  </a:extLst>
                </a:gridCol>
                <a:gridCol w="475259">
                  <a:extLst>
                    <a:ext uri="{9D8B030D-6E8A-4147-A177-3AD203B41FA5}">
                      <a16:colId xmlns:a16="http://schemas.microsoft.com/office/drawing/2014/main" val="3670994415"/>
                    </a:ext>
                  </a:extLst>
                </a:gridCol>
                <a:gridCol w="475259">
                  <a:extLst>
                    <a:ext uri="{9D8B030D-6E8A-4147-A177-3AD203B41FA5}">
                      <a16:colId xmlns:a16="http://schemas.microsoft.com/office/drawing/2014/main" val="3264987435"/>
                    </a:ext>
                  </a:extLst>
                </a:gridCol>
                <a:gridCol w="475259">
                  <a:extLst>
                    <a:ext uri="{9D8B030D-6E8A-4147-A177-3AD203B41FA5}">
                      <a16:colId xmlns:a16="http://schemas.microsoft.com/office/drawing/2014/main" val="2607637358"/>
                    </a:ext>
                  </a:extLst>
                </a:gridCol>
                <a:gridCol w="475259">
                  <a:extLst>
                    <a:ext uri="{9D8B030D-6E8A-4147-A177-3AD203B41FA5}">
                      <a16:colId xmlns:a16="http://schemas.microsoft.com/office/drawing/2014/main" val="4040844026"/>
                    </a:ext>
                  </a:extLst>
                </a:gridCol>
                <a:gridCol w="475259">
                  <a:extLst>
                    <a:ext uri="{9D8B030D-6E8A-4147-A177-3AD203B41FA5}">
                      <a16:colId xmlns:a16="http://schemas.microsoft.com/office/drawing/2014/main" val="1571313798"/>
                    </a:ext>
                  </a:extLst>
                </a:gridCol>
                <a:gridCol w="475259">
                  <a:extLst>
                    <a:ext uri="{9D8B030D-6E8A-4147-A177-3AD203B41FA5}">
                      <a16:colId xmlns:a16="http://schemas.microsoft.com/office/drawing/2014/main" val="2073744515"/>
                    </a:ext>
                  </a:extLst>
                </a:gridCol>
              </a:tblGrid>
              <a:tr h="370840">
                <a:tc>
                  <a:txBody>
                    <a:bodyPr/>
                    <a:lstStyle/>
                    <a:p>
                      <a:r>
                        <a:rPr lang="en-GB" dirty="0"/>
                        <a:t>FCFS</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x</a:t>
                      </a:r>
                      <a:endParaRPr lang="en-SE" dirty="0"/>
                    </a:p>
                  </a:txBody>
                  <a:tcPr/>
                </a:tc>
                <a:tc>
                  <a:txBody>
                    <a:bodyPr/>
                    <a:lstStyle/>
                    <a:p>
                      <a:pPr algn="ctr"/>
                      <a:r>
                        <a:rPr lang="en-GB" dirty="0"/>
                        <a:t>x</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US" dirty="0"/>
                        <a:t>2</a:t>
                      </a:r>
                      <a:endParaRPr lang="en-SE" dirty="0"/>
                    </a:p>
                  </a:txBody>
                  <a:tcPr/>
                </a:tc>
                <a:tc>
                  <a:txBody>
                    <a:bodyPr/>
                    <a:lstStyle/>
                    <a:p>
                      <a:pPr algn="ctr"/>
                      <a:r>
                        <a:rPr lang="en-US" dirty="0"/>
                        <a:t>2</a:t>
                      </a:r>
                      <a:endParaRPr lang="en-SE" dirty="0"/>
                    </a:p>
                  </a:txBody>
                  <a:tcPr/>
                </a:tc>
                <a:tc>
                  <a:txBody>
                    <a:bodyPr/>
                    <a:lstStyle/>
                    <a:p>
                      <a:pPr algn="ctr"/>
                      <a:r>
                        <a:rPr lang="en-US" dirty="0"/>
                        <a:t>2</a:t>
                      </a:r>
                      <a:endParaRPr lang="en-SE" dirty="0"/>
                    </a:p>
                  </a:txBody>
                  <a:tcPr/>
                </a:tc>
                <a:extLst>
                  <a:ext uri="{0D108BD9-81ED-4DB2-BD59-A6C34878D82A}">
                    <a16:rowId xmlns:a16="http://schemas.microsoft.com/office/drawing/2014/main" val="2765478547"/>
                  </a:ext>
                </a:extLst>
              </a:tr>
              <a:tr h="370840">
                <a:tc>
                  <a:txBody>
                    <a:bodyPr/>
                    <a:lstStyle/>
                    <a:p>
                      <a:r>
                        <a:rPr lang="en-GB" dirty="0"/>
                        <a:t>SJF</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x</a:t>
                      </a:r>
                      <a:endParaRPr lang="en-SE" dirty="0"/>
                    </a:p>
                  </a:txBody>
                  <a:tcPr/>
                </a:tc>
                <a:tc>
                  <a:txBody>
                    <a:bodyPr/>
                    <a:lstStyle/>
                    <a:p>
                      <a:pPr algn="ctr"/>
                      <a:r>
                        <a:rPr lang="en-GB" dirty="0"/>
                        <a:t>x</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US" dirty="0"/>
                        <a:t>2</a:t>
                      </a:r>
                      <a:endParaRPr lang="en-SE" dirty="0"/>
                    </a:p>
                  </a:txBody>
                  <a:tcPr/>
                </a:tc>
                <a:tc>
                  <a:txBody>
                    <a:bodyPr/>
                    <a:lstStyle/>
                    <a:p>
                      <a:pPr algn="ctr"/>
                      <a:r>
                        <a:rPr lang="en-US" dirty="0"/>
                        <a:t>2</a:t>
                      </a:r>
                      <a:endParaRPr lang="en-SE" dirty="0"/>
                    </a:p>
                  </a:txBody>
                  <a:tcPr/>
                </a:tc>
                <a:tc>
                  <a:txBody>
                    <a:bodyPr/>
                    <a:lstStyle/>
                    <a:p>
                      <a:pPr algn="ctr"/>
                      <a:r>
                        <a:rPr lang="en-US" dirty="0"/>
                        <a:t>2</a:t>
                      </a:r>
                      <a:endParaRPr lang="en-SE" dirty="0"/>
                    </a:p>
                  </a:txBody>
                  <a:tcPr/>
                </a:tc>
                <a:extLst>
                  <a:ext uri="{0D108BD9-81ED-4DB2-BD59-A6C34878D82A}">
                    <a16:rowId xmlns:a16="http://schemas.microsoft.com/office/drawing/2014/main" val="3821195699"/>
                  </a:ext>
                </a:extLst>
              </a:tr>
              <a:tr h="370840">
                <a:tc>
                  <a:txBody>
                    <a:bodyPr/>
                    <a:lstStyle/>
                    <a:p>
                      <a:r>
                        <a:rPr lang="en-GB" dirty="0"/>
                        <a:t>SRTF</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US" dirty="0"/>
                        <a:t>1</a:t>
                      </a: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695064754"/>
                  </a:ext>
                </a:extLst>
              </a:tr>
              <a:tr h="370840">
                <a:tc>
                  <a:txBody>
                    <a:bodyPr/>
                    <a:lstStyle/>
                    <a:p>
                      <a:r>
                        <a:rPr lang="en-GB" dirty="0"/>
                        <a:t>RR</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62492301"/>
                  </a:ext>
                </a:extLst>
              </a:tr>
              <a:tr h="370840">
                <a:tc>
                  <a:txBody>
                    <a:bodyPr/>
                    <a:lstStyle/>
                    <a:p>
                      <a:r>
                        <a:rPr lang="en-GB" dirty="0"/>
                        <a:t>FP</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US" dirty="0"/>
                        <a:t>1</a:t>
                      </a: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825211520"/>
                  </a:ext>
                </a:extLst>
              </a:tr>
            </a:tbl>
          </a:graphicData>
        </a:graphic>
      </p:graphicFrame>
      <p:sp>
        <p:nvSpPr>
          <p:cNvPr id="14" name="Content Placeholder 2">
            <a:extLst>
              <a:ext uri="{FF2B5EF4-FFF2-40B4-BE49-F238E27FC236}">
                <a16:creationId xmlns:a16="http://schemas.microsoft.com/office/drawing/2014/main" id="{8AA475B4-24A2-FFDB-53DA-A6534D6E7642}"/>
              </a:ext>
            </a:extLst>
          </p:cNvPr>
          <p:cNvSpPr txBox="1">
            <a:spLocks/>
          </p:cNvSpPr>
          <p:nvPr/>
        </p:nvSpPr>
        <p:spPr bwMode="auto">
          <a:xfrm>
            <a:off x="3493594" y="5615365"/>
            <a:ext cx="1676400" cy="39557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lnSpcReduction="10000"/>
          </a:bodyPr>
          <a:lstStyle>
            <a:lvl1pPr marL="285750" indent="-285750" algn="l" rtl="0" eaLnBrk="0" fontAlgn="base" hangingPunct="0">
              <a:lnSpc>
                <a:spcPct val="90000"/>
              </a:lnSpc>
              <a:spcBef>
                <a:spcPct val="30000"/>
              </a:spcBef>
              <a:spcAft>
                <a:spcPct val="0"/>
              </a:spcAft>
              <a:buSzPct val="100000"/>
              <a:buChar char="•"/>
              <a:defRPr sz="2800" b="0" i="0">
                <a:solidFill>
                  <a:schemeClr val="tx1"/>
                </a:solidFill>
                <a:latin typeface="Gill Sans" panose="020B0502020104020203"/>
                <a:ea typeface="Gill Sans" panose="020B0502020104020203"/>
                <a:cs typeface="Gill Sans" panose="020B0502020104020203"/>
              </a:defRPr>
            </a:lvl1pPr>
            <a:lvl2pPr marL="6858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2pPr>
            <a:lvl3pPr marL="11430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3pPr>
            <a:lvl4pPr marL="15430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4pPr>
            <a:lvl5pPr marL="20002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sz="2400" kern="0" dirty="0"/>
              <a:t>Gantt Chart</a:t>
            </a:r>
            <a:endParaRPr lang="en-SE" sz="2400" kern="0" dirty="0"/>
          </a:p>
        </p:txBody>
      </p:sp>
      <p:cxnSp>
        <p:nvCxnSpPr>
          <p:cNvPr id="16" name="Straight Arrow Connector 15">
            <a:extLst>
              <a:ext uri="{FF2B5EF4-FFF2-40B4-BE49-F238E27FC236}">
                <a16:creationId xmlns:a16="http://schemas.microsoft.com/office/drawing/2014/main" id="{7EF8165A-00FD-30D8-28B5-043F86788A9F}"/>
              </a:ext>
            </a:extLst>
          </p:cNvPr>
          <p:cNvCxnSpPr>
            <a:cxnSpLocks/>
          </p:cNvCxnSpPr>
          <p:nvPr/>
        </p:nvCxnSpPr>
        <p:spPr bwMode="auto">
          <a:xfrm flipV="1">
            <a:off x="1469988" y="5615365"/>
            <a:ext cx="0" cy="485455"/>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17" name="TextBox 16">
            <a:extLst>
              <a:ext uri="{FF2B5EF4-FFF2-40B4-BE49-F238E27FC236}">
                <a16:creationId xmlns:a16="http://schemas.microsoft.com/office/drawing/2014/main" id="{53F6BE98-B83D-8442-5C28-CCC08E086D8E}"/>
              </a:ext>
            </a:extLst>
          </p:cNvPr>
          <p:cNvSpPr txBox="1"/>
          <p:nvPr/>
        </p:nvSpPr>
        <p:spPr>
          <a:xfrm>
            <a:off x="932579" y="6047208"/>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P1 arrival</a:t>
            </a:r>
            <a:endParaRPr lang="en-SE" dirty="0">
              <a:solidFill>
                <a:schemeClr val="accent1">
                  <a:lumMod val="75000"/>
                </a:schemeClr>
              </a:solidFill>
              <a:latin typeface="Gill Sans Light"/>
            </a:endParaRPr>
          </a:p>
        </p:txBody>
      </p:sp>
      <p:cxnSp>
        <p:nvCxnSpPr>
          <p:cNvPr id="18" name="Straight Arrow Connector 17">
            <a:extLst>
              <a:ext uri="{FF2B5EF4-FFF2-40B4-BE49-F238E27FC236}">
                <a16:creationId xmlns:a16="http://schemas.microsoft.com/office/drawing/2014/main" id="{098BF308-8A42-99B4-F426-050286971C47}"/>
              </a:ext>
            </a:extLst>
          </p:cNvPr>
          <p:cNvCxnSpPr>
            <a:cxnSpLocks/>
          </p:cNvCxnSpPr>
          <p:nvPr/>
        </p:nvCxnSpPr>
        <p:spPr bwMode="auto">
          <a:xfrm flipV="1">
            <a:off x="2832156" y="5588000"/>
            <a:ext cx="0" cy="259272"/>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19" name="TextBox 18">
            <a:extLst>
              <a:ext uri="{FF2B5EF4-FFF2-40B4-BE49-F238E27FC236}">
                <a16:creationId xmlns:a16="http://schemas.microsoft.com/office/drawing/2014/main" id="{E3DD1287-6808-5E1A-23B7-8E605DB4CB0E}"/>
              </a:ext>
            </a:extLst>
          </p:cNvPr>
          <p:cNvSpPr txBox="1"/>
          <p:nvPr/>
        </p:nvSpPr>
        <p:spPr>
          <a:xfrm>
            <a:off x="2359499" y="5751509"/>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P2 arrival</a:t>
            </a:r>
            <a:endParaRPr lang="en-SE" dirty="0">
              <a:solidFill>
                <a:schemeClr val="accent1">
                  <a:lumMod val="75000"/>
                </a:schemeClr>
              </a:solidFill>
              <a:latin typeface="Gill Sans Light"/>
            </a:endParaRPr>
          </a:p>
        </p:txBody>
      </p:sp>
      <p:graphicFrame>
        <p:nvGraphicFramePr>
          <p:cNvPr id="3" name="表格 6">
            <a:extLst>
              <a:ext uri="{FF2B5EF4-FFF2-40B4-BE49-F238E27FC236}">
                <a16:creationId xmlns:a16="http://schemas.microsoft.com/office/drawing/2014/main" id="{ED038D80-358B-9609-DB67-010F83D1E85B}"/>
              </a:ext>
            </a:extLst>
          </p:cNvPr>
          <p:cNvGraphicFramePr>
            <a:graphicFrameLocks noGrp="1"/>
          </p:cNvGraphicFramePr>
          <p:nvPr/>
        </p:nvGraphicFramePr>
        <p:xfrm>
          <a:off x="683099" y="796668"/>
          <a:ext cx="10825802" cy="2286000"/>
        </p:xfrm>
        <a:graphic>
          <a:graphicData uri="http://schemas.openxmlformats.org/drawingml/2006/table">
            <a:tbl>
              <a:tblPr firstRow="1" bandRow="1">
                <a:tableStyleId>{5940675A-B579-460E-94D1-54222C63F5DA}</a:tableStyleId>
              </a:tblPr>
              <a:tblGrid>
                <a:gridCol w="733967">
                  <a:extLst>
                    <a:ext uri="{9D8B030D-6E8A-4147-A177-3AD203B41FA5}">
                      <a16:colId xmlns:a16="http://schemas.microsoft.com/office/drawing/2014/main" val="3897766631"/>
                    </a:ext>
                  </a:extLst>
                </a:gridCol>
                <a:gridCol w="1121315">
                  <a:extLst>
                    <a:ext uri="{9D8B030D-6E8A-4147-A177-3AD203B41FA5}">
                      <a16:colId xmlns:a16="http://schemas.microsoft.com/office/drawing/2014/main" val="3306942541"/>
                    </a:ext>
                  </a:extLst>
                </a:gridCol>
                <a:gridCol w="1121315">
                  <a:extLst>
                    <a:ext uri="{9D8B030D-6E8A-4147-A177-3AD203B41FA5}">
                      <a16:colId xmlns:a16="http://schemas.microsoft.com/office/drawing/2014/main" val="3517187588"/>
                    </a:ext>
                  </a:extLst>
                </a:gridCol>
                <a:gridCol w="1121315">
                  <a:extLst>
                    <a:ext uri="{9D8B030D-6E8A-4147-A177-3AD203B41FA5}">
                      <a16:colId xmlns:a16="http://schemas.microsoft.com/office/drawing/2014/main" val="2248621"/>
                    </a:ext>
                  </a:extLst>
                </a:gridCol>
                <a:gridCol w="1121315">
                  <a:extLst>
                    <a:ext uri="{9D8B030D-6E8A-4147-A177-3AD203B41FA5}">
                      <a16:colId xmlns:a16="http://schemas.microsoft.com/office/drawing/2014/main" val="2712044097"/>
                    </a:ext>
                  </a:extLst>
                </a:gridCol>
                <a:gridCol w="1121315">
                  <a:extLst>
                    <a:ext uri="{9D8B030D-6E8A-4147-A177-3AD203B41FA5}">
                      <a16:colId xmlns:a16="http://schemas.microsoft.com/office/drawing/2014/main" val="3323698870"/>
                    </a:ext>
                  </a:extLst>
                </a:gridCol>
                <a:gridCol w="1121315">
                  <a:extLst>
                    <a:ext uri="{9D8B030D-6E8A-4147-A177-3AD203B41FA5}">
                      <a16:colId xmlns:a16="http://schemas.microsoft.com/office/drawing/2014/main" val="3121262138"/>
                    </a:ext>
                  </a:extLst>
                </a:gridCol>
                <a:gridCol w="1121315">
                  <a:extLst>
                    <a:ext uri="{9D8B030D-6E8A-4147-A177-3AD203B41FA5}">
                      <a16:colId xmlns:a16="http://schemas.microsoft.com/office/drawing/2014/main" val="2066430354"/>
                    </a:ext>
                  </a:extLst>
                </a:gridCol>
                <a:gridCol w="1121315">
                  <a:extLst>
                    <a:ext uri="{9D8B030D-6E8A-4147-A177-3AD203B41FA5}">
                      <a16:colId xmlns:a16="http://schemas.microsoft.com/office/drawing/2014/main" val="2713544356"/>
                    </a:ext>
                  </a:extLst>
                </a:gridCol>
                <a:gridCol w="1121315">
                  <a:extLst>
                    <a:ext uri="{9D8B030D-6E8A-4147-A177-3AD203B41FA5}">
                      <a16:colId xmlns:a16="http://schemas.microsoft.com/office/drawing/2014/main" val="2313460819"/>
                    </a:ext>
                  </a:extLst>
                </a:gridCol>
              </a:tblGrid>
              <a:tr h="465770">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IO Burst</a:t>
                      </a: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FCFS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SJF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a:t>
                      </a:r>
                      <a:r>
                        <a:rPr lang="en-GB" altLang="zh-CN" b="0" dirty="0">
                          <a:solidFill>
                            <a:schemeClr val="tx1"/>
                          </a:solidFill>
                        </a:rPr>
                        <a:t>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RR </a:t>
                      </a:r>
                      <a:r>
                        <a:rPr lang="en-GB" altLang="zh-CN" b="0" dirty="0">
                          <a:solidFill>
                            <a:schemeClr val="tx1"/>
                          </a:solidFill>
                        </a:rPr>
                        <a:t>Resp.  Time</a:t>
                      </a:r>
                      <a:endParaRPr lang="en-US" b="0" dirty="0">
                        <a:solidFill>
                          <a:schemeClr val="tx1"/>
                        </a:solidFill>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FP </a:t>
                      </a:r>
                      <a:r>
                        <a:rPr lang="en-GB" altLang="zh-CN" b="0" dirty="0">
                          <a:solidFill>
                            <a:schemeClr val="tx1"/>
                          </a:solidFill>
                        </a:rPr>
                        <a:t>Resp.  Time</a:t>
                      </a:r>
                      <a:endParaRPr lang="en-US" b="0" dirty="0">
                        <a:solidFill>
                          <a:schemeClr val="tx1"/>
                        </a:solidFill>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marL="45720" marR="45720"/>
                </a:tc>
                <a:extLst>
                  <a:ext uri="{0D108BD9-81ED-4DB2-BD59-A6C34878D82A}">
                    <a16:rowId xmlns:a16="http://schemas.microsoft.com/office/drawing/2014/main" val="1005546905"/>
                  </a:ext>
                </a:extLst>
              </a:tr>
              <a:tr h="309175">
                <a:tc>
                  <a:txBody>
                    <a:bodyPr/>
                    <a:lstStyle/>
                    <a:p>
                      <a:pPr algn="r"/>
                      <a:r>
                        <a:rPr lang="en-US" dirty="0">
                          <a:solidFill>
                            <a:schemeClr val="tx1"/>
                          </a:solidFill>
                        </a:rPr>
                        <a:t>1</a:t>
                      </a:r>
                    </a:p>
                  </a:txBody>
                  <a:tcPr/>
                </a:tc>
                <a:tc>
                  <a:txBody>
                    <a:bodyPr/>
                    <a:lstStyle/>
                    <a:p>
                      <a:pPr algn="r"/>
                      <a:r>
                        <a:rPr lang="en-US" dirty="0">
                          <a:solidFill>
                            <a:schemeClr val="tx1"/>
                          </a:solidFill>
                        </a:rPr>
                        <a:t>0</a:t>
                      </a:r>
                    </a:p>
                  </a:txBody>
                  <a:tcPr/>
                </a:tc>
                <a:tc>
                  <a:txBody>
                    <a:bodyPr/>
                    <a:lstStyle/>
                    <a:p>
                      <a:pPr algn="r"/>
                      <a:r>
                        <a:rPr lang="en-US" strike="noStrike" dirty="0">
                          <a:solidFill>
                            <a:schemeClr val="tx1"/>
                          </a:solidFill>
                        </a:rPr>
                        <a:t>5</a:t>
                      </a:r>
                    </a:p>
                  </a:txBody>
                  <a:tcPr/>
                </a:tc>
                <a:tc>
                  <a:txBody>
                    <a:bodyPr/>
                    <a:lstStyle/>
                    <a:p>
                      <a:pPr algn="r"/>
                      <a:r>
                        <a:rPr lang="en-US" dirty="0">
                          <a:solidFill>
                            <a:schemeClr val="tx1"/>
                          </a:solidFill>
                        </a:rPr>
                        <a:t>3</a:t>
                      </a:r>
                    </a:p>
                  </a:txBody>
                  <a:tcPr/>
                </a:tc>
                <a:tc>
                  <a:txBody>
                    <a:bodyPr/>
                    <a:lstStyle/>
                    <a:p>
                      <a:pPr algn="r"/>
                      <a:r>
                        <a:rPr lang="en-US" strike="noStrike" dirty="0">
                          <a:solidFill>
                            <a:schemeClr val="tx1"/>
                          </a:solidFill>
                        </a:rPr>
                        <a:t>2</a:t>
                      </a:r>
                    </a:p>
                  </a:txBody>
                  <a:tcPr/>
                </a:tc>
                <a:tc>
                  <a:txBody>
                    <a:bodyPr/>
                    <a:lstStyle/>
                    <a:p>
                      <a:pPr algn="r"/>
                      <a:r>
                        <a:rPr lang="en-US" strike="noStrike" dirty="0">
                          <a:solidFill>
                            <a:schemeClr val="tx1"/>
                          </a:solidFill>
                        </a:rPr>
                        <a:t>10</a:t>
                      </a:r>
                    </a:p>
                  </a:txBody>
                  <a:tcPr/>
                </a:tc>
                <a:tc>
                  <a:txBody>
                    <a:bodyPr/>
                    <a:lstStyle/>
                    <a:p>
                      <a:pPr algn="r"/>
                      <a:r>
                        <a:rPr lang="en-US" strike="noStrike" dirty="0">
                          <a:solidFill>
                            <a:schemeClr val="tx1"/>
                          </a:solidFill>
                        </a:rPr>
                        <a:t>10</a:t>
                      </a:r>
                    </a:p>
                  </a:txBody>
                  <a:tcPr/>
                </a:tc>
                <a:tc>
                  <a:txBody>
                    <a:bodyPr/>
                    <a:lstStyle/>
                    <a:p>
                      <a:pPr algn="r"/>
                      <a:r>
                        <a:rPr lang="en-US" strike="noStrike" dirty="0">
                          <a:solidFill>
                            <a:schemeClr val="tx1"/>
                          </a:solidFill>
                        </a:rPr>
                        <a:t>11</a:t>
                      </a:r>
                    </a:p>
                  </a:txBody>
                  <a:tcPr/>
                </a:tc>
                <a:tc>
                  <a:txBody>
                    <a:bodyPr/>
                    <a:lstStyle/>
                    <a:p>
                      <a:pPr algn="r"/>
                      <a:r>
                        <a:rPr lang="en-US" strike="noStrike" dirty="0">
                          <a:solidFill>
                            <a:schemeClr val="tx1"/>
                          </a:solidFill>
                        </a:rPr>
                        <a:t>11</a:t>
                      </a:r>
                    </a:p>
                  </a:txBody>
                  <a:tcPr/>
                </a:tc>
                <a:tc>
                  <a:txBody>
                    <a:bodyPr/>
                    <a:lstStyle/>
                    <a:p>
                      <a:pPr algn="r"/>
                      <a:r>
                        <a:rPr lang="en-US" strike="noStrike" dirty="0">
                          <a:solidFill>
                            <a:schemeClr val="tx1"/>
                          </a:solidFill>
                        </a:rPr>
                        <a:t>11</a:t>
                      </a:r>
                    </a:p>
                  </a:txBody>
                  <a:tcPr/>
                </a:tc>
                <a:extLst>
                  <a:ext uri="{0D108BD9-81ED-4DB2-BD59-A6C34878D82A}">
                    <a16:rowId xmlns:a16="http://schemas.microsoft.com/office/drawing/2014/main" val="2311278232"/>
                  </a:ext>
                </a:extLst>
              </a:tr>
              <a:tr h="309175">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2</a:t>
                      </a:r>
                    </a:p>
                  </a:txBody>
                  <a:tcPr/>
                </a:tc>
                <a:tc>
                  <a:txBody>
                    <a:bodyPr/>
                    <a:lstStyle/>
                    <a:p>
                      <a:pPr algn="r"/>
                      <a:r>
                        <a:rPr lang="en-US" baseline="0" dirty="0">
                          <a:solidFill>
                            <a:schemeClr val="tx1"/>
                          </a:solidFill>
                        </a:rPr>
                        <a:t>3</a:t>
                      </a:r>
                    </a:p>
                  </a:txBody>
                  <a:tcPr/>
                </a:tc>
                <a:tc>
                  <a:txBody>
                    <a:bodyPr/>
                    <a:lstStyle/>
                    <a:p>
                      <a:pPr algn="r"/>
                      <a:r>
                        <a:rPr lang="en-US" dirty="0">
                          <a:solidFill>
                            <a:schemeClr val="tx1"/>
                          </a:solidFill>
                        </a:rPr>
                        <a:t>1</a:t>
                      </a:r>
                    </a:p>
                  </a:txBody>
                  <a:tcPr/>
                </a:tc>
                <a:tc>
                  <a:txBody>
                    <a:bodyPr/>
                    <a:lstStyle/>
                    <a:p>
                      <a:pPr algn="r"/>
                      <a:r>
                        <a:rPr lang="en-US" dirty="0">
                          <a:solidFill>
                            <a:schemeClr val="tx1"/>
                          </a:solidFill>
                        </a:rPr>
                        <a:t>2</a:t>
                      </a:r>
                    </a:p>
                  </a:txBody>
                  <a:tcPr/>
                </a:tc>
                <a:tc>
                  <a:txBody>
                    <a:bodyPr/>
                    <a:lstStyle/>
                    <a:p>
                      <a:pPr algn="r"/>
                      <a:r>
                        <a:rPr lang="en-US" dirty="0">
                          <a:solidFill>
                            <a:schemeClr val="tx1"/>
                          </a:solidFill>
                        </a:rPr>
                        <a:t>3</a:t>
                      </a:r>
                    </a:p>
                  </a:txBody>
                  <a:tcPr/>
                </a:tc>
                <a:tc>
                  <a:txBody>
                    <a:bodyPr/>
                    <a:lstStyle/>
                    <a:p>
                      <a:pPr algn="r"/>
                      <a:r>
                        <a:rPr lang="en-US" dirty="0">
                          <a:solidFill>
                            <a:schemeClr val="tx1"/>
                          </a:solidFill>
                        </a:rPr>
                        <a:t>10</a:t>
                      </a:r>
                    </a:p>
                  </a:txBody>
                  <a:tcPr/>
                </a:tc>
                <a:tc>
                  <a:txBody>
                    <a:bodyPr/>
                    <a:lstStyle/>
                    <a:p>
                      <a:pPr algn="r"/>
                      <a:r>
                        <a:rPr lang="en-US" dirty="0">
                          <a:solidFill>
                            <a:schemeClr val="tx1"/>
                          </a:solidFill>
                        </a:rPr>
                        <a:t>10</a:t>
                      </a:r>
                    </a:p>
                  </a:txBody>
                  <a:tcPr/>
                </a:tc>
                <a:tc>
                  <a:txBody>
                    <a:bodyPr/>
                    <a:lstStyle/>
                    <a:p>
                      <a:pPr algn="r"/>
                      <a:r>
                        <a:rPr lang="en-US" dirty="0">
                          <a:solidFill>
                            <a:schemeClr val="tx1"/>
                          </a:solidFill>
                        </a:rPr>
                        <a:t>6</a:t>
                      </a:r>
                    </a:p>
                  </a:txBody>
                  <a:tcPr/>
                </a:tc>
                <a:tc>
                  <a:txBody>
                    <a:bodyPr/>
                    <a:lstStyle/>
                    <a:p>
                      <a:pPr algn="r"/>
                      <a:r>
                        <a:rPr lang="en-US" dirty="0">
                          <a:solidFill>
                            <a:schemeClr val="tx1"/>
                          </a:solidFill>
                        </a:rPr>
                        <a:t>6</a:t>
                      </a:r>
                    </a:p>
                  </a:txBody>
                  <a:tcPr/>
                </a:tc>
                <a:tc>
                  <a:txBody>
                    <a:bodyPr/>
                    <a:lstStyle/>
                    <a:p>
                      <a:pPr algn="r"/>
                      <a:r>
                        <a:rPr lang="en-US" dirty="0">
                          <a:solidFill>
                            <a:schemeClr val="tx1"/>
                          </a:solidFill>
                        </a:rPr>
                        <a:t>6</a:t>
                      </a:r>
                    </a:p>
                  </a:txBody>
                  <a:tcPr/>
                </a:tc>
                <a:extLst>
                  <a:ext uri="{0D108BD9-81ED-4DB2-BD59-A6C34878D82A}">
                    <a16:rowId xmlns:a16="http://schemas.microsoft.com/office/drawing/2014/main" val="1749603488"/>
                  </a:ext>
                </a:extLst>
              </a:tr>
              <a:tr h="309175">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10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10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8.5</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8.5</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8.5</a:t>
                      </a:r>
                    </a:p>
                  </a:txBody>
                  <a:tcPr/>
                </a:tc>
                <a:extLst>
                  <a:ext uri="{0D108BD9-81ED-4DB2-BD59-A6C34878D82A}">
                    <a16:rowId xmlns:a16="http://schemas.microsoft.com/office/drawing/2014/main" val="2879113726"/>
                  </a:ext>
                </a:extLst>
              </a:tr>
            </a:tbl>
          </a:graphicData>
        </a:graphic>
      </p:graphicFrame>
      <p:graphicFrame>
        <p:nvGraphicFramePr>
          <p:cNvPr id="20" name="Table 19">
            <a:extLst>
              <a:ext uri="{FF2B5EF4-FFF2-40B4-BE49-F238E27FC236}">
                <a16:creationId xmlns:a16="http://schemas.microsoft.com/office/drawing/2014/main" id="{0B943D28-0486-3CAA-0604-2BCA4878ACBC}"/>
              </a:ext>
            </a:extLst>
          </p:cNvPr>
          <p:cNvGraphicFramePr>
            <a:graphicFrameLocks noGrp="1"/>
          </p:cNvGraphicFramePr>
          <p:nvPr>
            <p:extLst>
              <p:ext uri="{D42A27DB-BD31-4B8C-83A1-F6EECF244321}">
                <p14:modId xmlns:p14="http://schemas.microsoft.com/office/powerpoint/2010/main" val="288511153"/>
              </p:ext>
            </p:extLst>
          </p:nvPr>
        </p:nvGraphicFramePr>
        <p:xfrm>
          <a:off x="443741" y="5282494"/>
          <a:ext cx="7361294" cy="370840"/>
        </p:xfrm>
        <a:graphic>
          <a:graphicData uri="http://schemas.openxmlformats.org/drawingml/2006/table">
            <a:tbl>
              <a:tblPr firstRow="1" bandRow="1">
                <a:tableStyleId>{2D5ABB26-0587-4C30-8999-92F81FD0307C}</a:tableStyleId>
              </a:tblPr>
              <a:tblGrid>
                <a:gridCol w="785054">
                  <a:extLst>
                    <a:ext uri="{9D8B030D-6E8A-4147-A177-3AD203B41FA5}">
                      <a16:colId xmlns:a16="http://schemas.microsoft.com/office/drawing/2014/main" val="733727588"/>
                    </a:ext>
                  </a:extLst>
                </a:gridCol>
                <a:gridCol w="477751">
                  <a:extLst>
                    <a:ext uri="{9D8B030D-6E8A-4147-A177-3AD203B41FA5}">
                      <a16:colId xmlns:a16="http://schemas.microsoft.com/office/drawing/2014/main" val="2602592049"/>
                    </a:ext>
                  </a:extLst>
                </a:gridCol>
                <a:gridCol w="477751">
                  <a:extLst>
                    <a:ext uri="{9D8B030D-6E8A-4147-A177-3AD203B41FA5}">
                      <a16:colId xmlns:a16="http://schemas.microsoft.com/office/drawing/2014/main" val="3575549038"/>
                    </a:ext>
                  </a:extLst>
                </a:gridCol>
                <a:gridCol w="477751">
                  <a:extLst>
                    <a:ext uri="{9D8B030D-6E8A-4147-A177-3AD203B41FA5}">
                      <a16:colId xmlns:a16="http://schemas.microsoft.com/office/drawing/2014/main" val="831617333"/>
                    </a:ext>
                  </a:extLst>
                </a:gridCol>
                <a:gridCol w="365477">
                  <a:extLst>
                    <a:ext uri="{9D8B030D-6E8A-4147-A177-3AD203B41FA5}">
                      <a16:colId xmlns:a16="http://schemas.microsoft.com/office/drawing/2014/main" val="3218967563"/>
                    </a:ext>
                  </a:extLst>
                </a:gridCol>
                <a:gridCol w="477751">
                  <a:extLst>
                    <a:ext uri="{9D8B030D-6E8A-4147-A177-3AD203B41FA5}">
                      <a16:colId xmlns:a16="http://schemas.microsoft.com/office/drawing/2014/main" val="3594834760"/>
                    </a:ext>
                  </a:extLst>
                </a:gridCol>
                <a:gridCol w="477751">
                  <a:extLst>
                    <a:ext uri="{9D8B030D-6E8A-4147-A177-3AD203B41FA5}">
                      <a16:colId xmlns:a16="http://schemas.microsoft.com/office/drawing/2014/main" val="2682597463"/>
                    </a:ext>
                  </a:extLst>
                </a:gridCol>
                <a:gridCol w="477751">
                  <a:extLst>
                    <a:ext uri="{9D8B030D-6E8A-4147-A177-3AD203B41FA5}">
                      <a16:colId xmlns:a16="http://schemas.microsoft.com/office/drawing/2014/main" val="3439388444"/>
                    </a:ext>
                  </a:extLst>
                </a:gridCol>
                <a:gridCol w="477751">
                  <a:extLst>
                    <a:ext uri="{9D8B030D-6E8A-4147-A177-3AD203B41FA5}">
                      <a16:colId xmlns:a16="http://schemas.microsoft.com/office/drawing/2014/main" val="3670994415"/>
                    </a:ext>
                  </a:extLst>
                </a:gridCol>
                <a:gridCol w="477751">
                  <a:extLst>
                    <a:ext uri="{9D8B030D-6E8A-4147-A177-3AD203B41FA5}">
                      <a16:colId xmlns:a16="http://schemas.microsoft.com/office/drawing/2014/main" val="3264987435"/>
                    </a:ext>
                  </a:extLst>
                </a:gridCol>
                <a:gridCol w="477751">
                  <a:extLst>
                    <a:ext uri="{9D8B030D-6E8A-4147-A177-3AD203B41FA5}">
                      <a16:colId xmlns:a16="http://schemas.microsoft.com/office/drawing/2014/main" val="2607637358"/>
                    </a:ext>
                  </a:extLst>
                </a:gridCol>
                <a:gridCol w="477751">
                  <a:extLst>
                    <a:ext uri="{9D8B030D-6E8A-4147-A177-3AD203B41FA5}">
                      <a16:colId xmlns:a16="http://schemas.microsoft.com/office/drawing/2014/main" val="4040844026"/>
                    </a:ext>
                  </a:extLst>
                </a:gridCol>
                <a:gridCol w="477751">
                  <a:extLst>
                    <a:ext uri="{9D8B030D-6E8A-4147-A177-3AD203B41FA5}">
                      <a16:colId xmlns:a16="http://schemas.microsoft.com/office/drawing/2014/main" val="1571313798"/>
                    </a:ext>
                  </a:extLst>
                </a:gridCol>
                <a:gridCol w="477751">
                  <a:extLst>
                    <a:ext uri="{9D8B030D-6E8A-4147-A177-3AD203B41FA5}">
                      <a16:colId xmlns:a16="http://schemas.microsoft.com/office/drawing/2014/main" val="931111055"/>
                    </a:ext>
                  </a:extLst>
                </a:gridCol>
                <a:gridCol w="477751">
                  <a:extLst>
                    <a:ext uri="{9D8B030D-6E8A-4147-A177-3AD203B41FA5}">
                      <a16:colId xmlns:a16="http://schemas.microsoft.com/office/drawing/2014/main" val="124446868"/>
                    </a:ext>
                  </a:extLst>
                </a:gridCol>
              </a:tblGrid>
              <a:tr h="370840">
                <a:tc>
                  <a:txBody>
                    <a:bodyPr/>
                    <a:lstStyle/>
                    <a:p>
                      <a:r>
                        <a:rPr lang="en-GB" dirty="0"/>
                        <a:t>Time </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6</a:t>
                      </a:r>
                      <a:endParaRPr lang="en-SE" dirty="0"/>
                    </a:p>
                  </a:txBody>
                  <a:tcPr/>
                </a:tc>
                <a:tc>
                  <a:txBody>
                    <a:bodyPr/>
                    <a:lstStyle/>
                    <a:p>
                      <a:pPr algn="ctr"/>
                      <a:r>
                        <a:rPr lang="en-GB" dirty="0"/>
                        <a:t>7</a:t>
                      </a:r>
                      <a:endParaRPr lang="en-SE" dirty="0"/>
                    </a:p>
                  </a:txBody>
                  <a:tcPr/>
                </a:tc>
                <a:tc>
                  <a:txBody>
                    <a:bodyPr/>
                    <a:lstStyle/>
                    <a:p>
                      <a:pPr algn="ctr"/>
                      <a:r>
                        <a:rPr lang="en-GB" dirty="0"/>
                        <a:t>8</a:t>
                      </a:r>
                      <a:endParaRPr lang="en-SE" dirty="0"/>
                    </a:p>
                  </a:txBody>
                  <a:tcPr/>
                </a:tc>
                <a:tc>
                  <a:txBody>
                    <a:bodyPr/>
                    <a:lstStyle/>
                    <a:p>
                      <a:pPr algn="ctr"/>
                      <a:r>
                        <a:rPr lang="en-GB" dirty="0"/>
                        <a:t>9</a:t>
                      </a:r>
                      <a:endParaRPr lang="en-SE" dirty="0"/>
                    </a:p>
                  </a:txBody>
                  <a:tcPr/>
                </a:tc>
                <a:tc>
                  <a:txBody>
                    <a:bodyPr/>
                    <a:lstStyle/>
                    <a:p>
                      <a:pPr algn="ctr"/>
                      <a:r>
                        <a:rPr lang="en-GB" dirty="0"/>
                        <a:t>10</a:t>
                      </a:r>
                      <a:endParaRPr lang="en-SE" dirty="0"/>
                    </a:p>
                  </a:txBody>
                  <a:tcPr/>
                </a:tc>
                <a:tc>
                  <a:txBody>
                    <a:bodyPr/>
                    <a:lstStyle/>
                    <a:p>
                      <a:pPr algn="ctr"/>
                      <a:r>
                        <a:rPr lang="en-GB" dirty="0"/>
                        <a:t>11</a:t>
                      </a:r>
                      <a:endParaRPr lang="en-SE" dirty="0"/>
                    </a:p>
                  </a:txBody>
                  <a:tcPr/>
                </a:tc>
                <a:tc>
                  <a:txBody>
                    <a:bodyPr/>
                    <a:lstStyle/>
                    <a:p>
                      <a:pPr algn="ctr"/>
                      <a:r>
                        <a:rPr lang="en-GB" dirty="0"/>
                        <a:t>12</a:t>
                      </a:r>
                      <a:endParaRPr lang="en-SE" dirty="0"/>
                    </a:p>
                  </a:txBody>
                  <a:tcPr/>
                </a:tc>
                <a:tc>
                  <a:txBody>
                    <a:bodyPr/>
                    <a:lstStyle/>
                    <a:p>
                      <a:pPr algn="ctr"/>
                      <a:r>
                        <a:rPr lang="en-US" dirty="0"/>
                        <a:t>13</a:t>
                      </a:r>
                      <a:endParaRPr lang="en-SE" dirty="0"/>
                    </a:p>
                  </a:txBody>
                  <a:tcPr/>
                </a:tc>
                <a:extLst>
                  <a:ext uri="{0D108BD9-81ED-4DB2-BD59-A6C34878D82A}">
                    <a16:rowId xmlns:a16="http://schemas.microsoft.com/office/drawing/2014/main" val="1169300345"/>
                  </a:ext>
                </a:extLst>
              </a:tr>
            </a:tbl>
          </a:graphicData>
        </a:graphic>
      </p:graphicFrame>
      <p:sp>
        <p:nvSpPr>
          <p:cNvPr id="4" name="TextBox 3">
            <a:extLst>
              <a:ext uri="{FF2B5EF4-FFF2-40B4-BE49-F238E27FC236}">
                <a16:creationId xmlns:a16="http://schemas.microsoft.com/office/drawing/2014/main" id="{1E23A79A-3096-38CE-08A4-5B746271BE83}"/>
              </a:ext>
            </a:extLst>
          </p:cNvPr>
          <p:cNvSpPr txBox="1"/>
          <p:nvPr/>
        </p:nvSpPr>
        <p:spPr>
          <a:xfrm>
            <a:off x="7625107" y="3390900"/>
            <a:ext cx="4730847" cy="338554"/>
          </a:xfrm>
          <a:prstGeom prst="rect">
            <a:avLst/>
          </a:prstGeom>
          <a:noFill/>
        </p:spPr>
        <p:txBody>
          <a:bodyPr wrap="none" rtlCol="0">
            <a:spAutoFit/>
          </a:bodyPr>
          <a:lstStyle/>
          <a:p>
            <a:r>
              <a:rPr lang="en-US" sz="1600" dirty="0">
                <a:latin typeface="Gill Sans Light"/>
              </a:rPr>
              <a:t>FCFS: Time 8: Tie broken to prefer P1 with smaller index</a:t>
            </a:r>
          </a:p>
        </p:txBody>
      </p:sp>
      <p:sp>
        <p:nvSpPr>
          <p:cNvPr id="5" name="TextBox 4">
            <a:extLst>
              <a:ext uri="{FF2B5EF4-FFF2-40B4-BE49-F238E27FC236}">
                <a16:creationId xmlns:a16="http://schemas.microsoft.com/office/drawing/2014/main" id="{7DC09C7E-4CBC-7DA4-65A9-EF61F29AA416}"/>
              </a:ext>
            </a:extLst>
          </p:cNvPr>
          <p:cNvSpPr txBox="1"/>
          <p:nvPr/>
        </p:nvSpPr>
        <p:spPr>
          <a:xfrm>
            <a:off x="7625107" y="3634004"/>
            <a:ext cx="4320976" cy="584775"/>
          </a:xfrm>
          <a:prstGeom prst="rect">
            <a:avLst/>
          </a:prstGeom>
          <a:noFill/>
        </p:spPr>
        <p:txBody>
          <a:bodyPr wrap="square" rtlCol="0">
            <a:spAutoFit/>
          </a:bodyPr>
          <a:lstStyle/>
          <a:p>
            <a:r>
              <a:rPr lang="en-US" sz="1600" dirty="0">
                <a:latin typeface="Gill Sans Light"/>
              </a:rPr>
              <a:t>SJF: Time 8: P1 runs before P2 since its CPU burst of 2 is shorter than P2’s CPU burst of 3</a:t>
            </a:r>
          </a:p>
        </p:txBody>
      </p:sp>
      <p:sp>
        <p:nvSpPr>
          <p:cNvPr id="6" name="TextBox 5">
            <a:extLst>
              <a:ext uri="{FF2B5EF4-FFF2-40B4-BE49-F238E27FC236}">
                <a16:creationId xmlns:a16="http://schemas.microsoft.com/office/drawing/2014/main" id="{BD5991E3-0953-E334-7692-004F98B1D833}"/>
              </a:ext>
            </a:extLst>
          </p:cNvPr>
          <p:cNvSpPr txBox="1"/>
          <p:nvPr/>
        </p:nvSpPr>
        <p:spPr>
          <a:xfrm>
            <a:off x="7625106" y="4165861"/>
            <a:ext cx="4566893" cy="1077218"/>
          </a:xfrm>
          <a:prstGeom prst="rect">
            <a:avLst/>
          </a:prstGeom>
          <a:noFill/>
        </p:spPr>
        <p:txBody>
          <a:bodyPr wrap="square" rtlCol="0">
            <a:spAutoFit/>
          </a:bodyPr>
          <a:lstStyle/>
          <a:p>
            <a:r>
              <a:rPr lang="en-US" sz="1600" dirty="0">
                <a:latin typeface="Gill Sans Light"/>
              </a:rPr>
              <a:t>SRTF, RR, FP: at time 3, P2 preempts P1; after time 4, P1 and P2 have perfect overlap of CPU and IO bursts, so there is no CPU contention, and the 3 scheduling algorithms give the </a:t>
            </a:r>
            <a:r>
              <a:rPr lang="en-US" sz="1600">
                <a:latin typeface="Gill Sans Light"/>
              </a:rPr>
              <a:t>same trace</a:t>
            </a:r>
            <a:endParaRPr lang="en-US" sz="1600" dirty="0">
              <a:latin typeface="Gill Sans Light"/>
            </a:endParaRPr>
          </a:p>
        </p:txBody>
      </p:sp>
    </p:spTree>
    <p:extLst>
      <p:ext uri="{BB962C8B-B14F-4D97-AF65-F5344CB8AC3E}">
        <p14:creationId xmlns:p14="http://schemas.microsoft.com/office/powerpoint/2010/main" val="2674671021"/>
      </p:ext>
    </p:extLst>
  </p:cSld>
  <p:clrMapOvr>
    <a:masterClrMapping/>
  </p:clrMapOvr>
  <p:transition/>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100522</TotalTime>
  <Pages>60</Pages>
  <Words>6327</Words>
  <Application>Microsoft Office PowerPoint</Application>
  <PresentationFormat>Widescreen</PresentationFormat>
  <Paragraphs>971</Paragraphs>
  <Slides>22</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Gill Sans</vt:lpstr>
      <vt:lpstr>Gill Sans Light</vt:lpstr>
      <vt:lpstr>ＭＳ Ｐゴシック</vt:lpstr>
      <vt:lpstr>宋体</vt:lpstr>
      <vt:lpstr>Arial</vt:lpstr>
      <vt:lpstr>Comic Sans MS</vt:lpstr>
      <vt:lpstr>Courier New</vt:lpstr>
      <vt:lpstr>Helvetica</vt:lpstr>
      <vt:lpstr>Times New Roman</vt:lpstr>
      <vt:lpstr>Office</vt:lpstr>
      <vt:lpstr>Computer Operating Systems   Midterm Exam Spring 2025</vt:lpstr>
      <vt:lpstr>Q1 Multiple-choice questions: enter your answer keys here</vt:lpstr>
      <vt:lpstr>Q1. Multiple-choice. (20 pts)</vt:lpstr>
      <vt:lpstr>Q1. Multiple-choice. (20 pts)</vt:lpstr>
      <vt:lpstr>Q2 Processes and Threads (20 pts)</vt:lpstr>
      <vt:lpstr>Q2 Processes and Threads (a) ANS</vt:lpstr>
      <vt:lpstr>Q2 Processes and Threads (b) ANS</vt:lpstr>
      <vt:lpstr>Q2 Processes and Threads (c) ANS</vt:lpstr>
      <vt:lpstr>Q2 Processes and Threads (d) ANS</vt:lpstr>
      <vt:lpstr>Q2 Processes and Threads (e) ANS</vt:lpstr>
      <vt:lpstr>Q3 Synchronization (a) ANS</vt:lpstr>
      <vt:lpstr>Q3 Synchronization (b) ANS</vt:lpstr>
      <vt:lpstr>Q4 Deadlocks (20 pts)</vt:lpstr>
      <vt:lpstr>Q4 Deadlocks Con’t (20 pts)</vt:lpstr>
      <vt:lpstr>Q4 Deadlocks (a) ANS</vt:lpstr>
      <vt:lpstr>Q4 Deadlocks (b) ANS</vt:lpstr>
      <vt:lpstr>Q4 Deadlocks (c)</vt:lpstr>
      <vt:lpstr>Q4 Deadlocks (c) ANS</vt:lpstr>
      <vt:lpstr>Q4 Deadlocks (c) ANS (Thought Experiment)</vt:lpstr>
      <vt:lpstr>Q5 Scheduling (20 pts)</vt:lpstr>
      <vt:lpstr>Q5 Scheduling Cont’</vt:lpstr>
      <vt:lpstr>Q5 Scheduling ANS</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1119</cp:revision>
  <cp:lastPrinted>2025-04-04T01:48:03Z</cp:lastPrinted>
  <dcterms:created xsi:type="dcterms:W3CDTF">1995-08-12T11:37:26Z</dcterms:created>
  <dcterms:modified xsi:type="dcterms:W3CDTF">2025-11-07T01:54:41Z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